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804" r:id="rId5"/>
    <p:sldId id="865" r:id="rId6"/>
    <p:sldId id="866" r:id="rId7"/>
    <p:sldId id="3183" r:id="rId8"/>
    <p:sldId id="3190" r:id="rId9"/>
    <p:sldId id="3184" r:id="rId10"/>
    <p:sldId id="3185" r:id="rId11"/>
    <p:sldId id="3186" r:id="rId12"/>
    <p:sldId id="3187" r:id="rId13"/>
    <p:sldId id="3188" r:id="rId14"/>
    <p:sldId id="3189" r:id="rId15"/>
    <p:sldId id="838" r:id="rId16"/>
    <p:sldId id="3192" r:id="rId17"/>
    <p:sldId id="3193" r:id="rId18"/>
    <p:sldId id="849" r:id="rId19"/>
    <p:sldId id="847" r:id="rId20"/>
    <p:sldId id="850" r:id="rId21"/>
    <p:sldId id="852" r:id="rId22"/>
    <p:sldId id="854" r:id="rId23"/>
    <p:sldId id="3173" r:id="rId24"/>
    <p:sldId id="3174" r:id="rId25"/>
    <p:sldId id="387" r:id="rId26"/>
    <p:sldId id="908" r:id="rId27"/>
    <p:sldId id="3171" r:id="rId28"/>
    <p:sldId id="855" r:id="rId29"/>
    <p:sldId id="857" r:id="rId30"/>
    <p:sldId id="3179" r:id="rId31"/>
    <p:sldId id="3172" r:id="rId32"/>
  </p:sldIdLst>
  <p:sldSz cx="12192000" cy="6858000"/>
  <p:notesSz cx="6400800" cy="8686800"/>
  <p:defaultTextStyle>
    <a:defPPr>
      <a:defRPr lang="en-US"/>
    </a:defPPr>
    <a:lvl1pPr algn="l" rtl="0" fontAlgn="base">
      <a:lnSpc>
        <a:spcPct val="110000"/>
      </a:lnSpc>
      <a:spcBef>
        <a:spcPct val="0"/>
      </a:spcBef>
      <a:spcAft>
        <a:spcPct val="0"/>
      </a:spcAft>
      <a:defRPr sz="1600" kern="1200">
        <a:solidFill>
          <a:schemeClr val="tx1"/>
        </a:solidFill>
        <a:latin typeface="LindeDaxPowerPoint" pitchFamily="34" charset="0"/>
        <a:ea typeface="+mn-ea"/>
        <a:cs typeface="+mn-cs"/>
      </a:defRPr>
    </a:lvl1pPr>
    <a:lvl2pPr marL="457200" algn="l" rtl="0" fontAlgn="base">
      <a:lnSpc>
        <a:spcPct val="110000"/>
      </a:lnSpc>
      <a:spcBef>
        <a:spcPct val="0"/>
      </a:spcBef>
      <a:spcAft>
        <a:spcPct val="0"/>
      </a:spcAft>
      <a:defRPr sz="1600" kern="1200">
        <a:solidFill>
          <a:schemeClr val="tx1"/>
        </a:solidFill>
        <a:latin typeface="LindeDaxPowerPoint" pitchFamily="34" charset="0"/>
        <a:ea typeface="+mn-ea"/>
        <a:cs typeface="+mn-cs"/>
      </a:defRPr>
    </a:lvl2pPr>
    <a:lvl3pPr marL="914400" algn="l" rtl="0" fontAlgn="base">
      <a:lnSpc>
        <a:spcPct val="110000"/>
      </a:lnSpc>
      <a:spcBef>
        <a:spcPct val="0"/>
      </a:spcBef>
      <a:spcAft>
        <a:spcPct val="0"/>
      </a:spcAft>
      <a:defRPr sz="1600" kern="1200">
        <a:solidFill>
          <a:schemeClr val="tx1"/>
        </a:solidFill>
        <a:latin typeface="LindeDaxPowerPoint" pitchFamily="34" charset="0"/>
        <a:ea typeface="+mn-ea"/>
        <a:cs typeface="+mn-cs"/>
      </a:defRPr>
    </a:lvl3pPr>
    <a:lvl4pPr marL="1371600" algn="l" rtl="0" fontAlgn="base">
      <a:lnSpc>
        <a:spcPct val="110000"/>
      </a:lnSpc>
      <a:spcBef>
        <a:spcPct val="0"/>
      </a:spcBef>
      <a:spcAft>
        <a:spcPct val="0"/>
      </a:spcAft>
      <a:defRPr sz="1600" kern="1200">
        <a:solidFill>
          <a:schemeClr val="tx1"/>
        </a:solidFill>
        <a:latin typeface="LindeDaxPowerPoint" pitchFamily="34" charset="0"/>
        <a:ea typeface="+mn-ea"/>
        <a:cs typeface="+mn-cs"/>
      </a:defRPr>
    </a:lvl4pPr>
    <a:lvl5pPr marL="1828800" algn="l" rtl="0" fontAlgn="base">
      <a:lnSpc>
        <a:spcPct val="110000"/>
      </a:lnSpc>
      <a:spcBef>
        <a:spcPct val="0"/>
      </a:spcBef>
      <a:spcAft>
        <a:spcPct val="0"/>
      </a:spcAft>
      <a:defRPr sz="1600" kern="1200">
        <a:solidFill>
          <a:schemeClr val="tx1"/>
        </a:solidFill>
        <a:latin typeface="LindeDaxPowerPoint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LindeDaxPowerPoint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LindeDaxPowerPoint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LindeDaxPowerPoint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LindeDaxPowerPoin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orient="horz" pos="4020" userDrawn="1">
          <p15:clr>
            <a:srgbClr val="A4A3A4"/>
          </p15:clr>
        </p15:guide>
        <p15:guide id="5" pos="7582" userDrawn="1">
          <p15:clr>
            <a:srgbClr val="A4A3A4"/>
          </p15:clr>
        </p15:guide>
        <p15:guide id="11" pos="211">
          <p15:clr>
            <a:srgbClr val="A4A3A4"/>
          </p15:clr>
        </p15:guide>
        <p15:guide id="15" pos="3840">
          <p15:clr>
            <a:srgbClr val="A4A3A4"/>
          </p15:clr>
        </p15:guide>
        <p15:guide id="18" pos="3931">
          <p15:clr>
            <a:srgbClr val="A4A3A4"/>
          </p15:clr>
        </p15:guide>
        <p15:guide id="19" pos="37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36">
          <p15:clr>
            <a:srgbClr val="A4A3A4"/>
          </p15:clr>
        </p15:guide>
        <p15:guide id="2" pos="201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rau Mädler, Karin" initials="FMK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23E6D8-6884-4A15-B42D-20F2E26627E1}" v="1" dt="2023-08-07T23:55:30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897" autoAdjust="0"/>
  </p:normalViewPr>
  <p:slideViewPr>
    <p:cSldViewPr showGuides="1">
      <p:cViewPr varScale="1">
        <p:scale>
          <a:sx n="63" d="100"/>
          <a:sy n="63" d="100"/>
        </p:scale>
        <p:origin x="804" y="52"/>
      </p:cViewPr>
      <p:guideLst>
        <p:guide orient="horz" pos="935"/>
        <p:guide orient="horz" pos="4020"/>
        <p:guide pos="7582"/>
        <p:guide pos="211"/>
        <p:guide pos="3840"/>
        <p:guide pos="3931"/>
        <p:guide pos="3749"/>
      </p:guideLst>
    </p:cSldViewPr>
  </p:slideViewPr>
  <p:outlineViewPr>
    <p:cViewPr>
      <p:scale>
        <a:sx n="33" d="100"/>
        <a:sy n="33" d="100"/>
      </p:scale>
      <p:origin x="0" y="-3762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howGuides="1">
      <p:cViewPr varScale="1">
        <p:scale>
          <a:sx n="128" d="100"/>
          <a:sy n="128" d="100"/>
        </p:scale>
        <p:origin x="4134" y="132"/>
      </p:cViewPr>
      <p:guideLst>
        <p:guide orient="horz" pos="2736"/>
        <p:guide pos="201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773979" cy="433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542" tIns="41271" rIns="82542" bIns="41271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000"/>
            </a:lvl1pPr>
          </a:lstStyle>
          <a:p>
            <a:endParaRPr lang="de-DE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626821" y="0"/>
            <a:ext cx="2773979" cy="433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542" tIns="41271" rIns="82542" bIns="41271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000"/>
            </a:lvl1pPr>
          </a:lstStyle>
          <a:p>
            <a:endParaRPr lang="de-DE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251766"/>
            <a:ext cx="2773979" cy="435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542" tIns="41271" rIns="82542" bIns="41271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000"/>
            </a:lvl1pPr>
          </a:lstStyle>
          <a:p>
            <a:endParaRPr lang="de-DE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626821" y="8251766"/>
            <a:ext cx="2773979" cy="435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542" tIns="41271" rIns="82542" bIns="41271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000"/>
            </a:lvl1pPr>
          </a:lstStyle>
          <a:p>
            <a:fld id="{857A7E1D-5408-4D3E-A25E-60444F061665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0694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773979" cy="433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542" tIns="41271" rIns="82542" bIns="41271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000"/>
            </a:lvl1pPr>
          </a:lstStyle>
          <a:p>
            <a:endParaRPr lang="de-DE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626821" y="0"/>
            <a:ext cx="2773979" cy="433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542" tIns="41271" rIns="82542" bIns="41271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000"/>
            </a:lvl1pPr>
          </a:lstStyle>
          <a:p>
            <a:endParaRPr lang="de-DE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6388" y="652463"/>
            <a:ext cx="5788025" cy="3255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852842" y="4126578"/>
            <a:ext cx="4695117" cy="3908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251766"/>
            <a:ext cx="2773979" cy="435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542" tIns="41271" rIns="82542" bIns="41271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000"/>
            </a:lvl1pPr>
          </a:lstStyle>
          <a:p>
            <a:endParaRPr lang="de-DE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626821" y="8251766"/>
            <a:ext cx="2773979" cy="435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2542" tIns="41271" rIns="82542" bIns="41271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000"/>
            </a:lvl1pPr>
          </a:lstStyle>
          <a:p>
            <a:fld id="{534ECE63-F59B-45E1-8290-295EDE138554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354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73050" indent="-273050" algn="l" rtl="0" fontAlgn="base">
      <a:lnSpc>
        <a:spcPct val="110000"/>
      </a:lnSpc>
      <a:spcBef>
        <a:spcPct val="0"/>
      </a:spcBef>
      <a:spcAft>
        <a:spcPct val="30000"/>
      </a:spcAft>
      <a:buFont typeface="LindeDaxPowerPoint" pitchFamily="34" charset="0"/>
      <a:buChar char="—"/>
      <a:tabLst/>
      <a:defRPr sz="1600" b="0" kern="1200" baseline="0">
        <a:solidFill>
          <a:schemeClr val="tx1"/>
        </a:solidFill>
        <a:latin typeface="LindeDaxPowerPoint" pitchFamily="34" charset="0"/>
        <a:ea typeface="+mn-ea"/>
        <a:cs typeface="+mn-cs"/>
      </a:defRPr>
    </a:lvl1pPr>
    <a:lvl2pPr marL="536575" indent="-263525" algn="l" rtl="0" fontAlgn="base">
      <a:lnSpc>
        <a:spcPct val="110000"/>
      </a:lnSpc>
      <a:spcBef>
        <a:spcPct val="0"/>
      </a:spcBef>
      <a:spcAft>
        <a:spcPct val="30000"/>
      </a:spcAft>
      <a:buFont typeface="LindeDaxPowerPoint" pitchFamily="34" charset="0"/>
      <a:buChar char="—"/>
      <a:tabLst/>
      <a:defRPr sz="1600" kern="1200">
        <a:solidFill>
          <a:schemeClr val="tx1"/>
        </a:solidFill>
        <a:latin typeface="LindeDaxPowerPoint" pitchFamily="34" charset="0"/>
        <a:ea typeface="+mn-ea"/>
        <a:cs typeface="+mn-cs"/>
      </a:defRPr>
    </a:lvl2pPr>
    <a:lvl3pPr marL="809625" indent="-273050" algn="l" rtl="0" fontAlgn="base">
      <a:lnSpc>
        <a:spcPct val="110000"/>
      </a:lnSpc>
      <a:spcBef>
        <a:spcPct val="0"/>
      </a:spcBef>
      <a:spcAft>
        <a:spcPct val="30000"/>
      </a:spcAft>
      <a:buFont typeface="LindeDaxPowerPoint" pitchFamily="34" charset="0"/>
      <a:buChar char="—"/>
      <a:tabLst/>
      <a:defRPr sz="1600" kern="1200">
        <a:solidFill>
          <a:schemeClr val="tx1"/>
        </a:solidFill>
        <a:latin typeface="LindeDaxPowerPoint" pitchFamily="34" charset="0"/>
        <a:ea typeface="+mn-ea"/>
        <a:cs typeface="+mn-cs"/>
      </a:defRPr>
    </a:lvl3pPr>
    <a:lvl4pPr marL="1071563" indent="-261938" algn="l" rtl="0" fontAlgn="base">
      <a:lnSpc>
        <a:spcPct val="110000"/>
      </a:lnSpc>
      <a:spcBef>
        <a:spcPct val="0"/>
      </a:spcBef>
      <a:spcAft>
        <a:spcPct val="30000"/>
      </a:spcAft>
      <a:buFont typeface="LindeDaxPowerPoint" pitchFamily="34" charset="0"/>
      <a:buChar char="—"/>
      <a:tabLst/>
      <a:defRPr sz="1600" kern="1200">
        <a:solidFill>
          <a:schemeClr val="tx1"/>
        </a:solidFill>
        <a:latin typeface="LindeDaxPowerPoint" pitchFamily="34" charset="0"/>
        <a:ea typeface="+mn-ea"/>
        <a:cs typeface="+mn-cs"/>
      </a:defRPr>
    </a:lvl4pPr>
    <a:lvl5pPr marL="1344613" indent="-273050" algn="l" rtl="0" fontAlgn="base">
      <a:lnSpc>
        <a:spcPct val="110000"/>
      </a:lnSpc>
      <a:spcBef>
        <a:spcPct val="0"/>
      </a:spcBef>
      <a:spcAft>
        <a:spcPct val="30000"/>
      </a:spcAft>
      <a:buFont typeface="LindeDaxPowerPoint" pitchFamily="34" charset="0"/>
      <a:buChar char="—"/>
      <a:tabLst/>
      <a:defRPr sz="1600" kern="1200">
        <a:solidFill>
          <a:schemeClr val="tx1"/>
        </a:solidFill>
        <a:latin typeface="LindeDaxPowerPoint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06388" y="652463"/>
            <a:ext cx="5788025" cy="325596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ECE63-F59B-45E1-8290-295EDE138554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8292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E98226-CFD2-4E6B-B627-0F98FB2A65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8794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E98226-CFD2-4E6B-B627-0F98FB2A65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309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E98226-CFD2-4E6B-B627-0F98FB2A65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083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E98226-CFD2-4E6B-B627-0F98FB2A65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52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E98226-CFD2-4E6B-B627-0F98FB2A65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8845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E98226-CFD2-4E6B-B627-0F98FB2A65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307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98226-CFD2-4E6B-B627-0F98FB2A65A8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255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73050" marR="0" lvl="0" indent="-2730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30000"/>
              </a:spcAft>
              <a:buClrTx/>
              <a:buSzTx/>
              <a:buFont typeface="LindeDaxPowerPoint" pitchFamily="34" charset="0"/>
              <a:buChar char="—"/>
              <a:tabLst/>
              <a:defRPr/>
            </a:pPr>
            <a:r>
              <a:rPr lang="zh-CN" altLang="en-US" dirty="0"/>
              <a:t>根据情况可添加多页描述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ECE63-F59B-45E1-8290-295EDE138554}" type="slidenum">
              <a:rPr lang="de-DE" smtClean="0"/>
              <a:pPr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6304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Folienbildplatzhalter 1">
            <a:extLst>
              <a:ext uri="{FF2B5EF4-FFF2-40B4-BE49-F238E27FC236}">
                <a16:creationId xmlns:a16="http://schemas.microsoft.com/office/drawing/2014/main" id="{87F75873-E584-4DC3-B216-210CC3A27A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8" y="652463"/>
            <a:ext cx="5788025" cy="3255962"/>
          </a:xfrm>
          <a:ln/>
        </p:spPr>
      </p:sp>
      <p:sp>
        <p:nvSpPr>
          <p:cNvPr id="109571" name="Notizenplatzhalter 2">
            <a:extLst>
              <a:ext uri="{FF2B5EF4-FFF2-40B4-BE49-F238E27FC236}">
                <a16:creationId xmlns:a16="http://schemas.microsoft.com/office/drawing/2014/main" id="{5C518CE1-B66B-4E7E-9FB4-333778B43D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  <p:sp>
        <p:nvSpPr>
          <p:cNvPr id="109572" name="Foliennummernplatzhalter 3">
            <a:extLst>
              <a:ext uri="{FF2B5EF4-FFF2-40B4-BE49-F238E27FC236}">
                <a16:creationId xmlns:a16="http://schemas.microsoft.com/office/drawing/2014/main" id="{AF22F1E1-4589-40E8-9300-28BB109F5F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indeDaxPowerPoint" panose="020B0500000000020000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indeDaxPowerPoint" panose="020B0500000000020000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indeDaxPowerPoint" panose="020B0500000000020000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indeDaxPowerPoint" panose="020B0500000000020000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indeDaxPowerPoint" panose="020B0500000000020000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indeDaxPowerPoint" panose="020B0500000000020000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indeDaxPowerPoint" panose="020B0500000000020000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indeDaxPowerPoint" panose="020B0500000000020000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indeDaxPowerPoint" panose="020B0500000000020000" pitchFamily="34" charset="0"/>
              </a:defRPr>
            </a:lvl9pPr>
          </a:lstStyle>
          <a:p>
            <a:fld id="{C209D1FC-FAE3-47B7-B508-9C7BCCE6DE66}" type="slidenum">
              <a:rPr lang="de-DE" altLang="zh-CN" sz="1200"/>
              <a:pPr/>
              <a:t>28</a:t>
            </a:fld>
            <a:endParaRPr lang="de-DE" altLang="zh-CN" sz="1200"/>
          </a:p>
        </p:txBody>
      </p:sp>
    </p:spTree>
    <p:extLst>
      <p:ext uri="{BB962C8B-B14F-4D97-AF65-F5344CB8AC3E}">
        <p14:creationId xmlns:p14="http://schemas.microsoft.com/office/powerpoint/2010/main" val="1814371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9" name="Rectangle 99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34963" y="1657996"/>
            <a:ext cx="11522075" cy="182605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b" anchorCtr="0"/>
          <a:lstStyle>
            <a:lvl1pPr>
              <a:lnSpc>
                <a:spcPct val="11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5460" name="Rectangle 100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34963" y="4027871"/>
            <a:ext cx="11522075" cy="2353879"/>
          </a:xfrm>
          <a:extLst>
            <a:ext uri="{909E8E84-426E-40DD-AFC4-6F175D3DCCD1}">
              <a14:hiddenFill xmlns:a14="http://schemas.microsoft.com/office/drawing/2010/main">
                <a:solidFill>
                  <a:srgbClr val="00305C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/>
          <a:lstStyle>
            <a:lvl1pPr marL="0" indent="0">
              <a:lnSpc>
                <a:spcPct val="110000"/>
              </a:lnSpc>
              <a:spcAft>
                <a:spcPct val="0"/>
              </a:spcAft>
              <a:buNone/>
              <a:tabLst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  <p:pic>
        <p:nvPicPr>
          <p:cNvPr id="5" name="Grafik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68495" y="152635"/>
            <a:ext cx="2667930" cy="1331676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1B758EAF-8B76-4ADD-B15D-B09E98045880}"/>
              </a:ext>
            </a:extLst>
          </p:cNvPr>
          <p:cNvSpPr/>
          <p:nvPr userDrawn="1"/>
        </p:nvSpPr>
        <p:spPr>
          <a:xfrm>
            <a:off x="334963" y="237589"/>
            <a:ext cx="3636801" cy="36027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Making our world more productive</a:t>
            </a:r>
            <a:endParaRPr lang="de-DE" sz="1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Pic, Logo at 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368825 w 12192000"/>
              <a:gd name="connsiteY0" fmla="*/ 152635 h 6858000"/>
              <a:gd name="connsiteX1" fmla="*/ 9368825 w 12192000"/>
              <a:gd name="connsiteY1" fmla="*/ 1484635 h 6858000"/>
              <a:gd name="connsiteX2" fmla="*/ 12036425 w 12192000"/>
              <a:gd name="connsiteY2" fmla="*/ 1484635 h 6858000"/>
              <a:gd name="connsiteX3" fmla="*/ 12036425 w 12192000"/>
              <a:gd name="connsiteY3" fmla="*/ 15263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368825" y="152635"/>
                </a:moveTo>
                <a:lnTo>
                  <a:pt x="9368825" y="1484635"/>
                </a:lnTo>
                <a:lnTo>
                  <a:pt x="12036425" y="1484635"/>
                </a:lnTo>
                <a:lnTo>
                  <a:pt x="12036425" y="1526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5459" name="Rectangle 99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34963" y="1657997"/>
            <a:ext cx="11522075" cy="136481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b" anchorCtr="0"/>
          <a:lstStyle>
            <a:lvl1pPr>
              <a:lnSpc>
                <a:spcPct val="11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5460" name="Rectangle 100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34963" y="3569344"/>
            <a:ext cx="11522075" cy="1407828"/>
          </a:xfrm>
          <a:extLst>
            <a:ext uri="{909E8E84-426E-40DD-AFC4-6F175D3DCCD1}">
              <a14:hiddenFill xmlns:a14="http://schemas.microsoft.com/office/drawing/2010/main">
                <a:solidFill>
                  <a:srgbClr val="00305C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/>
          <a:lstStyle>
            <a:lvl1pPr marL="0" indent="0">
              <a:lnSpc>
                <a:spcPct val="110000"/>
              </a:lnSpc>
              <a:spcAft>
                <a:spcPct val="0"/>
              </a:spcAft>
              <a:buNone/>
              <a:tabLst/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6C109420-D844-4619-85D5-03052FDFF9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68495" y="152635"/>
            <a:ext cx="2667930" cy="1331676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D32D73-4EF3-44D9-9A5B-58E864B04B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37589"/>
            <a:ext cx="3600000" cy="360000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</p:spTree>
    <p:extLst>
      <p:ext uri="{BB962C8B-B14F-4D97-AF65-F5344CB8AC3E}">
        <p14:creationId xmlns:p14="http://schemas.microsoft.com/office/powerpoint/2010/main" val="1616647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half Pic, Logo at to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3429000"/>
          </a:xfrm>
          <a:custGeom>
            <a:avLst/>
            <a:gdLst>
              <a:gd name="connsiteX0" fmla="*/ 9368825 w 12192000"/>
              <a:gd name="connsiteY0" fmla="*/ 152635 h 3429000"/>
              <a:gd name="connsiteX1" fmla="*/ 9368825 w 12192000"/>
              <a:gd name="connsiteY1" fmla="*/ 1484635 h 3429000"/>
              <a:gd name="connsiteX2" fmla="*/ 12036425 w 12192000"/>
              <a:gd name="connsiteY2" fmla="*/ 1484635 h 3429000"/>
              <a:gd name="connsiteX3" fmla="*/ 12036425 w 12192000"/>
              <a:gd name="connsiteY3" fmla="*/ 152635 h 3429000"/>
              <a:gd name="connsiteX4" fmla="*/ 0 w 12192000"/>
              <a:gd name="connsiteY4" fmla="*/ 0 h 3429000"/>
              <a:gd name="connsiteX5" fmla="*/ 12192000 w 12192000"/>
              <a:gd name="connsiteY5" fmla="*/ 0 h 3429000"/>
              <a:gd name="connsiteX6" fmla="*/ 12192000 w 12192000"/>
              <a:gd name="connsiteY6" fmla="*/ 3429000 h 3429000"/>
              <a:gd name="connsiteX7" fmla="*/ 0 w 12192000"/>
              <a:gd name="connsiteY7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9000">
                <a:moveTo>
                  <a:pt x="9368825" y="152635"/>
                </a:moveTo>
                <a:lnTo>
                  <a:pt x="9368825" y="1484635"/>
                </a:lnTo>
                <a:lnTo>
                  <a:pt x="12036425" y="1484635"/>
                </a:lnTo>
                <a:lnTo>
                  <a:pt x="12036425" y="1526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5459" name="Rectangle 99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34963" y="3667884"/>
            <a:ext cx="11522075" cy="1224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t" anchorCtr="0"/>
          <a:lstStyle>
            <a:lvl1pPr>
              <a:lnSpc>
                <a:spcPct val="11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5460" name="Rectangle 100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34963" y="5228778"/>
            <a:ext cx="11522075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00305C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/>
          <a:lstStyle>
            <a:lvl1pPr marL="0" indent="0">
              <a:lnSpc>
                <a:spcPct val="110000"/>
              </a:lnSpc>
              <a:spcAft>
                <a:spcPct val="0"/>
              </a:spcAft>
              <a:buNone/>
              <a:tabLst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4CDE934B-AD46-4B76-9A63-ECC6C44205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68495" y="152635"/>
            <a:ext cx="2667930" cy="1331676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525DEC37-8BD3-49EC-AB2D-EB5DCD13D009}"/>
              </a:ext>
            </a:extLst>
          </p:cNvPr>
          <p:cNvSpPr/>
          <p:nvPr userDrawn="1"/>
        </p:nvSpPr>
        <p:spPr>
          <a:xfrm>
            <a:off x="334963" y="6345324"/>
            <a:ext cx="3636801" cy="36027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Making our world more productive</a:t>
            </a:r>
            <a:endParaRPr lang="de-D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48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Pic, Logo at bottom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368825 w 12192000"/>
              <a:gd name="connsiteY0" fmla="*/ 5373600 h 6858000"/>
              <a:gd name="connsiteX1" fmla="*/ 9368825 w 12192000"/>
              <a:gd name="connsiteY1" fmla="*/ 6705600 h 6858000"/>
              <a:gd name="connsiteX2" fmla="*/ 12036425 w 12192000"/>
              <a:gd name="connsiteY2" fmla="*/ 6705600 h 6858000"/>
              <a:gd name="connsiteX3" fmla="*/ 12036425 w 12192000"/>
              <a:gd name="connsiteY3" fmla="*/ 537360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368825" y="5373600"/>
                </a:moveTo>
                <a:lnTo>
                  <a:pt x="9368825" y="6705600"/>
                </a:lnTo>
                <a:lnTo>
                  <a:pt x="12036425" y="6705600"/>
                </a:lnTo>
                <a:lnTo>
                  <a:pt x="12036425" y="53736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15459" name="Rectangle 99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34963" y="1657996"/>
            <a:ext cx="11522075" cy="136513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b" anchorCtr="0"/>
          <a:lstStyle>
            <a:lvl1pPr>
              <a:lnSpc>
                <a:spcPct val="11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5460" name="Rectangle 100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34963" y="3569344"/>
            <a:ext cx="11522075" cy="1407600"/>
          </a:xfrm>
          <a:extLst>
            <a:ext uri="{909E8E84-426E-40DD-AFC4-6F175D3DCCD1}">
              <a14:hiddenFill xmlns:a14="http://schemas.microsoft.com/office/drawing/2010/main">
                <a:solidFill>
                  <a:srgbClr val="00305C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/>
          <a:lstStyle>
            <a:lvl1pPr marL="0" indent="0">
              <a:lnSpc>
                <a:spcPct val="110000"/>
              </a:lnSpc>
              <a:spcAft>
                <a:spcPct val="0"/>
              </a:spcAft>
              <a:buNone/>
              <a:tabLst/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  <p:pic>
        <p:nvPicPr>
          <p:cNvPr id="6" name="Grafik 7">
            <a:extLst>
              <a:ext uri="{FF2B5EF4-FFF2-40B4-BE49-F238E27FC236}">
                <a16:creationId xmlns:a16="http://schemas.microsoft.com/office/drawing/2014/main" id="{B0E88925-3D63-495C-A981-1CBC80D3D8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68495" y="5373924"/>
            <a:ext cx="2667930" cy="1331676"/>
          </a:xfrm>
          <a:prstGeom prst="rect">
            <a:avLst/>
          </a:prstGeom>
        </p:spPr>
      </p:pic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F294D011-8DC7-4609-91A9-1589928C6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37589"/>
            <a:ext cx="3600000" cy="360000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</p:spTree>
    <p:extLst>
      <p:ext uri="{BB962C8B-B14F-4D97-AF65-F5344CB8AC3E}">
        <p14:creationId xmlns:p14="http://schemas.microsoft.com/office/powerpoint/2010/main" val="74035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half Pic, Logo at bot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9" name="Rectangle 99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34963" y="3667884"/>
            <a:ext cx="11522075" cy="12240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anchor="t" anchorCtr="0"/>
          <a:lstStyle>
            <a:lvl1pPr>
              <a:lnSpc>
                <a:spcPct val="11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15460" name="Rectangle 100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34963" y="5228778"/>
            <a:ext cx="8713365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00305C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t" anchorCtr="0"/>
          <a:lstStyle>
            <a:lvl1pPr marL="0" indent="0">
              <a:lnSpc>
                <a:spcPct val="110000"/>
              </a:lnSpc>
              <a:spcAft>
                <a:spcPct val="0"/>
              </a:spcAft>
              <a:buNone/>
              <a:tabLst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25DEC37-8BD3-49EC-AB2D-EB5DCD13D009}"/>
              </a:ext>
            </a:extLst>
          </p:cNvPr>
          <p:cNvSpPr/>
          <p:nvPr userDrawn="1"/>
        </p:nvSpPr>
        <p:spPr>
          <a:xfrm>
            <a:off x="334963" y="6345324"/>
            <a:ext cx="3636801" cy="36027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Making our world more productive</a:t>
            </a:r>
            <a:endParaRPr lang="de-DE" sz="1800" dirty="0">
              <a:solidFill>
                <a:schemeClr val="tx2"/>
              </a:solidFill>
            </a:endParaRPr>
          </a:p>
        </p:txBody>
      </p:sp>
      <p:pic>
        <p:nvPicPr>
          <p:cNvPr id="9" name="Grafik 7">
            <a:extLst>
              <a:ext uri="{FF2B5EF4-FFF2-40B4-BE49-F238E27FC236}">
                <a16:creationId xmlns:a16="http://schemas.microsoft.com/office/drawing/2014/main" id="{FC327043-7AC8-4918-8870-62B26405CE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68495" y="5373924"/>
            <a:ext cx="2667930" cy="1331676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95D77B83-001F-43DA-BD9B-14E43F18DA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429000"/>
          </a:xfr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0" indent="0" algn="ctr">
              <a:buNone/>
              <a:defRPr lang="de-DE"/>
            </a:lvl1pPr>
          </a:lstStyle>
          <a:p>
            <a:pPr marL="177800" lvl="0" indent="-177800" algn="ctr"/>
            <a:r>
              <a:rPr lang="en-GB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13905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big 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9984425 w 12191999"/>
              <a:gd name="connsiteY0" fmla="*/ 152635 h 6858000"/>
              <a:gd name="connsiteX1" fmla="*/ 9984425 w 12191999"/>
              <a:gd name="connsiteY1" fmla="*/ 1175035 h 6858000"/>
              <a:gd name="connsiteX2" fmla="*/ 12036425 w 12191999"/>
              <a:gd name="connsiteY2" fmla="*/ 1175035 h 6858000"/>
              <a:gd name="connsiteX3" fmla="*/ 12036425 w 12191999"/>
              <a:gd name="connsiteY3" fmla="*/ 152635 h 6858000"/>
              <a:gd name="connsiteX4" fmla="*/ 0 w 12191999"/>
              <a:gd name="connsiteY4" fmla="*/ 0 h 6858000"/>
              <a:gd name="connsiteX5" fmla="*/ 12191999 w 12191999"/>
              <a:gd name="connsiteY5" fmla="*/ 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9984425" y="152635"/>
                </a:moveTo>
                <a:lnTo>
                  <a:pt x="9984425" y="1175035"/>
                </a:lnTo>
                <a:lnTo>
                  <a:pt x="12036425" y="1175035"/>
                </a:lnTo>
                <a:lnTo>
                  <a:pt x="12036425" y="152635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Click icon to add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5575" y="152401"/>
            <a:ext cx="9685338" cy="1008000"/>
          </a:xfrm>
          <a:solidFill>
            <a:schemeClr val="bg1"/>
          </a:solidFill>
        </p:spPr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018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small 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5575" y="152401"/>
            <a:ext cx="9685338" cy="1008062"/>
          </a:xfrm>
        </p:spPr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54AE2A9F-EA8A-492A-BB83-F82A8285CEF0}" type="datetime1">
              <a:rPr lang="en-US" noProof="0" smtClean="0"/>
              <a:t>3/12/2026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noProof="0"/>
              <a:t>Footer</a:t>
            </a:r>
          </a:p>
        </p:txBody>
      </p:sp>
      <p:sp>
        <p:nvSpPr>
          <p:cNvPr id="7" name="Bildplatzhalter 3"/>
          <p:cNvSpPr>
            <a:spLocks noGrp="1"/>
          </p:cNvSpPr>
          <p:nvPr>
            <p:ph type="pic" sz="quarter" idx="12" hasCustomPrompt="1"/>
          </p:nvPr>
        </p:nvSpPr>
        <p:spPr>
          <a:xfrm>
            <a:off x="155575" y="1341439"/>
            <a:ext cx="11880850" cy="5040312"/>
          </a:xfr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/>
            </a:lvl1pPr>
          </a:lstStyle>
          <a:p>
            <a:pPr marL="0" lvl="0" indent="0" algn="ctr">
              <a:buNone/>
            </a:pPr>
            <a:r>
              <a:rPr lang="en-GB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0682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4963" y="1484313"/>
            <a:ext cx="11522075" cy="4897437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6" name="图片 5" descr="图形用户界面&#10;&#10;描述已自动生成">
            <a:extLst>
              <a:ext uri="{FF2B5EF4-FFF2-40B4-BE49-F238E27FC236}">
                <a16:creationId xmlns:a16="http://schemas.microsoft.com/office/drawing/2014/main" id="{6ACA7786-FF2C-49CA-807C-D4021920E7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108" y="6411145"/>
            <a:ext cx="1944216" cy="38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16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4963" y="1484313"/>
            <a:ext cx="5616575" cy="4897437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2" hasCustomPrompt="1"/>
          </p:nvPr>
        </p:nvSpPr>
        <p:spPr>
          <a:xfrm>
            <a:off x="6275388" y="1484313"/>
            <a:ext cx="5581649" cy="4897437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10" name="图片 9" descr="图形用户界面&#10;&#10;描述已自动生成">
            <a:extLst>
              <a:ext uri="{FF2B5EF4-FFF2-40B4-BE49-F238E27FC236}">
                <a16:creationId xmlns:a16="http://schemas.microsoft.com/office/drawing/2014/main" id="{269A8CDE-3B69-48B3-8F0B-72379826A1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108" y="6411145"/>
            <a:ext cx="1944216" cy="38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25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4963" y="1484313"/>
            <a:ext cx="3636879" cy="4897437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2" hasCustomPrompt="1"/>
          </p:nvPr>
        </p:nvSpPr>
        <p:spPr>
          <a:xfrm>
            <a:off x="4259795" y="1484313"/>
            <a:ext cx="3672329" cy="4897437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3" hasCustomPrompt="1"/>
          </p:nvPr>
        </p:nvSpPr>
        <p:spPr>
          <a:xfrm>
            <a:off x="8220157" y="1484313"/>
            <a:ext cx="3636881" cy="4897437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11" name="图片 10" descr="图形用户界面&#10;&#10;描述已自动生成">
            <a:extLst>
              <a:ext uri="{FF2B5EF4-FFF2-40B4-BE49-F238E27FC236}">
                <a16:creationId xmlns:a16="http://schemas.microsoft.com/office/drawing/2014/main" id="{CCAFFAAB-2A20-4B2A-BEB6-9D31E3C589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108" y="6411145"/>
            <a:ext cx="1944216" cy="38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770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4964" y="1484313"/>
            <a:ext cx="5616574" cy="2356557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2" hasCustomPrompt="1"/>
          </p:nvPr>
        </p:nvSpPr>
        <p:spPr>
          <a:xfrm>
            <a:off x="6275388" y="1484313"/>
            <a:ext cx="5581649" cy="2356557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3" hasCustomPrompt="1"/>
          </p:nvPr>
        </p:nvSpPr>
        <p:spPr>
          <a:xfrm>
            <a:off x="334964" y="4041068"/>
            <a:ext cx="5616574" cy="2340682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6275388" y="4041068"/>
            <a:ext cx="5581649" cy="2340682"/>
          </a:xfr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12" name="图片 11" descr="图形用户界面&#10;&#10;描述已自动生成">
            <a:extLst>
              <a:ext uri="{FF2B5EF4-FFF2-40B4-BE49-F238E27FC236}">
                <a16:creationId xmlns:a16="http://schemas.microsoft.com/office/drawing/2014/main" id="{AFEBB58D-C9DB-4B4F-AADB-042C9BC5C7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108" y="6411145"/>
            <a:ext cx="1944216" cy="38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74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2CB95883-5916-42CA-9A7A-6C5115CBF4C3}" type="datetime1">
              <a:rPr lang="en-US" noProof="0" smtClean="0"/>
              <a:t>3/12/2026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noProof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608228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17F82B58-65A9-43C8-A565-8904B243FF92}" type="datetime1">
              <a:rPr lang="en-US" noProof="0" smtClean="0"/>
              <a:t>3/12/2026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noProof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25116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Typ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3"/>
          <p:cNvSpPr>
            <a:spLocks noGrp="1"/>
          </p:cNvSpPr>
          <p:nvPr>
            <p:ph type="pic" sz="quarter" idx="12" hasCustomPrompt="1"/>
          </p:nvPr>
        </p:nvSpPr>
        <p:spPr>
          <a:xfrm>
            <a:off x="4175786" y="1484313"/>
            <a:ext cx="7681251" cy="4897438"/>
          </a:xfr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/>
            </a:lvl1pPr>
          </a:lstStyle>
          <a:p>
            <a:pPr marL="0" lvl="0" indent="0" algn="ctr">
              <a:buNone/>
            </a:pPr>
            <a:r>
              <a:rPr lang="en-GB" noProof="0"/>
              <a:t>Click icon to add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5575" y="152401"/>
            <a:ext cx="9685338" cy="1022400"/>
          </a:xfrm>
        </p:spPr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4963" y="1484313"/>
            <a:ext cx="3648803" cy="4897437"/>
          </a:xfrm>
        </p:spPr>
        <p:txBody>
          <a:bodyPr/>
          <a:lstStyle>
            <a:lvl1pPr marL="0" indent="0">
              <a:buNone/>
              <a:tabLst/>
              <a:defRPr sz="1400"/>
            </a:lvl1pPr>
            <a:lvl2pPr marL="184150" indent="-184150">
              <a:tabLst/>
              <a:defRPr sz="1400"/>
            </a:lvl2pPr>
            <a:lvl3pPr marL="361950" indent="-171450">
              <a:tabLst/>
              <a:defRPr sz="1400"/>
            </a:lvl3pPr>
            <a:lvl4pPr marL="534988" indent="-177800">
              <a:tabLst/>
              <a:defRPr sz="1400"/>
            </a:lvl4pPr>
            <a:lvl5pPr marL="714375" indent="-177800">
              <a:tabLst/>
              <a:defRPr sz="14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4" name="图片 3" descr="图形用户界面&#10;&#10;描述已自动生成">
            <a:extLst>
              <a:ext uri="{FF2B5EF4-FFF2-40B4-BE49-F238E27FC236}">
                <a16:creationId xmlns:a16="http://schemas.microsoft.com/office/drawing/2014/main" id="{095BBC34-A211-3883-CE2C-C5DE5D0A3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108" y="6411145"/>
            <a:ext cx="1944216" cy="38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30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Typ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40463" y="1484784"/>
            <a:ext cx="5616575" cy="2376124"/>
          </a:xfr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/>
            </a:lvl1pPr>
          </a:lstStyle>
          <a:p>
            <a:pPr marL="0" lvl="0" indent="0" algn="ctr">
              <a:buNone/>
            </a:pPr>
            <a:r>
              <a:rPr lang="en-GB" noProof="0"/>
              <a:t>Click icon to add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5575" y="152401"/>
            <a:ext cx="9685339" cy="1023937"/>
          </a:xfrm>
        </p:spPr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4963" y="1484313"/>
            <a:ext cx="5616575" cy="4897437"/>
          </a:xfrm>
        </p:spPr>
        <p:txBody>
          <a:bodyPr/>
          <a:lstStyle>
            <a:lvl1pPr marL="0" indent="0">
              <a:buNone/>
              <a:tabLst/>
              <a:defRPr sz="1400"/>
            </a:lvl1pPr>
            <a:lvl2pPr marL="184150" indent="-184150">
              <a:tabLst/>
              <a:defRPr sz="1400"/>
            </a:lvl2pPr>
            <a:lvl3pPr marL="358775" indent="-177800">
              <a:tabLst/>
              <a:defRPr sz="1400"/>
            </a:lvl3pPr>
            <a:lvl4pPr marL="534988" indent="-177800">
              <a:tabLst/>
              <a:defRPr sz="1400"/>
            </a:lvl4pPr>
            <a:lvl5pPr marL="714375" indent="-177800">
              <a:tabLst/>
              <a:defRPr sz="14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EFEE7433-4517-4D00-B892-C1DAE7B8DC28}" type="datetime1">
              <a:rPr lang="en-US" noProof="0" smtClean="0"/>
              <a:t>3/12/2026</a:t>
            </a:fld>
            <a:endParaRPr lang="en-GB" noProof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noProof="0"/>
              <a:t>Footer</a:t>
            </a:r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40463" y="4004642"/>
            <a:ext cx="5616575" cy="2377108"/>
          </a:xfr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/>
            </a:lvl1pPr>
          </a:lstStyle>
          <a:p>
            <a:pPr marL="0" lvl="0" indent="0" algn="ctr">
              <a:buNone/>
            </a:pPr>
            <a:r>
              <a:rPr lang="en-GB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50573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Typ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3"/>
          <p:cNvSpPr>
            <a:spLocks noGrp="1"/>
          </p:cNvSpPr>
          <p:nvPr>
            <p:ph type="pic" sz="quarter" idx="12" hasCustomPrompt="1"/>
          </p:nvPr>
        </p:nvSpPr>
        <p:spPr>
          <a:xfrm>
            <a:off x="334963" y="3429003"/>
            <a:ext cx="11522075" cy="2952748"/>
          </a:xfr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de-DE"/>
            </a:lvl1pPr>
          </a:lstStyle>
          <a:p>
            <a:pPr marL="0" lvl="0" indent="0" algn="ctr">
              <a:buNone/>
            </a:pPr>
            <a:r>
              <a:rPr lang="en-GB" noProof="0"/>
              <a:t>Click icon to add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34963" y="1484313"/>
            <a:ext cx="5616575" cy="1728663"/>
          </a:xfrm>
        </p:spPr>
        <p:txBody>
          <a:bodyPr/>
          <a:lstStyle>
            <a:lvl1pPr marL="0" indent="0">
              <a:buNone/>
              <a:tabLst/>
              <a:defRPr sz="1400"/>
            </a:lvl1pPr>
            <a:lvl2pPr marL="184150" indent="-184150">
              <a:tabLst/>
              <a:defRPr sz="1400"/>
            </a:lvl2pPr>
            <a:lvl3pPr marL="358775" indent="-177800">
              <a:tabLst/>
              <a:defRPr sz="1400"/>
            </a:lvl3pPr>
            <a:lvl4pPr marL="534988" indent="-177800">
              <a:tabLst/>
              <a:defRPr sz="1400"/>
            </a:lvl4pPr>
            <a:lvl5pPr marL="714375" indent="-177800" defTabSz="715963">
              <a:tabLst/>
              <a:defRPr sz="14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fld id="{726257B3-1C04-4035-8323-9E2CC156B6A1}" type="datetime1">
              <a:rPr lang="en-US" noProof="0" smtClean="0"/>
              <a:t>3/12/2026</a:t>
            </a:fld>
            <a:endParaRPr lang="en-GB" noProof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noProof="0"/>
              <a:t>Footer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3" hasCustomPrompt="1"/>
          </p:nvPr>
        </p:nvSpPr>
        <p:spPr>
          <a:xfrm>
            <a:off x="6275388" y="1484313"/>
            <a:ext cx="5581650" cy="1728663"/>
          </a:xfrm>
        </p:spPr>
        <p:txBody>
          <a:bodyPr/>
          <a:lstStyle>
            <a:lvl1pPr marL="0" indent="0">
              <a:buNone/>
              <a:tabLst/>
              <a:defRPr sz="1400"/>
            </a:lvl1pPr>
            <a:lvl2pPr marL="184150" indent="-184150">
              <a:tabLst/>
              <a:defRPr sz="1400"/>
            </a:lvl2pPr>
            <a:lvl3pPr marL="358775" indent="-177800">
              <a:tabLst/>
              <a:defRPr sz="1400"/>
            </a:lvl3pPr>
            <a:lvl4pPr marL="534988" indent="-177800">
              <a:tabLst/>
              <a:defRPr sz="1400"/>
            </a:lvl4pPr>
            <a:lvl5pPr marL="714375" indent="-177800" defTabSz="806450">
              <a:tabLst/>
              <a:defRPr sz="1400"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9078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3843F-30F0-4294-A025-13493BEFD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1" y="161926"/>
            <a:ext cx="9048751" cy="10207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5C2176-611C-4F41-842C-4385522A056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31800" y="1484314"/>
            <a:ext cx="5562600" cy="46815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4221D9-799F-483C-A781-90C680832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484314"/>
            <a:ext cx="5562600" cy="46815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1BD1FE-F471-47ED-BF39-8E91811016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457951"/>
            <a:ext cx="7984067" cy="252413"/>
          </a:xfrm>
        </p:spPr>
        <p:txBody>
          <a:bodyPr/>
          <a:lstStyle>
            <a:lvl1pPr>
              <a:defRPr/>
            </a:lvl1pPr>
          </a:lstStyle>
          <a:p>
            <a:r>
              <a:rPr lang="en-GB" altLang="zh-TW"/>
              <a:t>   </a:t>
            </a:r>
            <a:endParaRPr lang="zh-TW" alt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7E80EC-3F7B-4C77-92A2-652B642BF2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79467" y="6453188"/>
            <a:ext cx="2480733" cy="252412"/>
          </a:xfrm>
        </p:spPr>
        <p:txBody>
          <a:bodyPr/>
          <a:lstStyle>
            <a:lvl1pPr>
              <a:defRPr/>
            </a:lvl1pPr>
          </a:lstStyle>
          <a:p>
            <a:fld id="{63ED0504-22D7-4E70-B190-67DB78BA4593}" type="slidenum">
              <a:rPr lang="zh-TW" altLang="en-GB"/>
              <a:pPr/>
              <a:t>‹#›</a:t>
            </a:fld>
            <a:endParaRPr lang="en-GB" altLang="zh-TW"/>
          </a:p>
        </p:txBody>
      </p:sp>
    </p:spTree>
    <p:extLst>
      <p:ext uri="{BB962C8B-B14F-4D97-AF65-F5344CB8AC3E}">
        <p14:creationId xmlns:p14="http://schemas.microsoft.com/office/powerpoint/2010/main" val="136752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 bwMode="auto">
          <a:xfrm>
            <a:off x="155576" y="152400"/>
            <a:ext cx="9685338" cy="102393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3000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LindeDaxPowerPoint" pitchFamily="34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334963" y="1484313"/>
            <a:ext cx="11522075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Textmasterformat bearbeiten</a:t>
            </a:r>
          </a:p>
          <a:p>
            <a:pPr lvl="1"/>
            <a:r>
              <a:rPr lang="en-GB" noProof="0"/>
              <a:t>Zweite Ebene</a:t>
            </a:r>
          </a:p>
          <a:p>
            <a:pPr lvl="2"/>
            <a:r>
              <a:rPr lang="en-GB" noProof="0"/>
              <a:t>Dritte Ebene</a:t>
            </a:r>
          </a:p>
          <a:p>
            <a:pPr lvl="3"/>
            <a:r>
              <a:rPr lang="en-GB" noProof="0"/>
              <a:t>Vierte Ebene</a:t>
            </a:r>
          </a:p>
          <a:p>
            <a:pPr lvl="4"/>
            <a:r>
              <a:rPr lang="en-GB" noProof="0"/>
              <a:t>Fünfte Ebene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55575" y="152401"/>
            <a:ext cx="9685339" cy="10239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72800" tIns="0" rIns="17280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 err="1"/>
              <a:t>Titelmasterformat</a:t>
            </a:r>
            <a:r>
              <a:rPr lang="en-GB" noProof="0" dirty="0"/>
              <a:t> </a:t>
            </a:r>
            <a:r>
              <a:rPr lang="en-GB" noProof="0" dirty="0" err="1"/>
              <a:t>durch</a:t>
            </a:r>
            <a:r>
              <a:rPr lang="en-GB" noProof="0" dirty="0"/>
              <a:t> </a:t>
            </a:r>
            <a:r>
              <a:rPr lang="en-GB" noProof="0" dirty="0" err="1"/>
              <a:t>Klicken</a:t>
            </a:r>
            <a:r>
              <a:rPr lang="en-GB" noProof="0" dirty="0"/>
              <a:t> </a:t>
            </a:r>
            <a:r>
              <a:rPr lang="en-GB" noProof="0" dirty="0" err="1"/>
              <a:t>bearbeiten</a:t>
            </a:r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116000" y="6453336"/>
            <a:ext cx="10308592" cy="252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sz="800"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GB" noProof="0"/>
              <a:t>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>
          <a:xfrm>
            <a:off x="334963" y="6453336"/>
            <a:ext cx="720477" cy="252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sz="800" smtClean="0"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fld id="{DEBA0B9C-0263-43F8-A5BD-7C7A56D99F30}" type="datetime1">
              <a:rPr lang="en-US" noProof="0" smtClean="0"/>
              <a:t>3/12/2026</a:t>
            </a:fld>
            <a:endParaRPr lang="en-GB" noProof="0"/>
          </a:p>
        </p:txBody>
      </p:sp>
      <p:sp>
        <p:nvSpPr>
          <p:cNvPr id="6" name="Rectangle 5"/>
          <p:cNvSpPr/>
          <p:nvPr/>
        </p:nvSpPr>
        <p:spPr bwMode="auto">
          <a:xfrm>
            <a:off x="11424592" y="6453336"/>
            <a:ext cx="432446" cy="252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/>
          <a:p>
            <a:pPr lvl="0" algn="r">
              <a:lnSpc>
                <a:spcPct val="100000"/>
              </a:lnSpc>
            </a:pPr>
            <a:fld id="{6DAC255C-81C4-45BF-A0B7-822A0D4D0A7D}" type="slidenum">
              <a:rPr lang="en-GB" sz="800" noProof="0" smtClean="0">
                <a:solidFill>
                  <a:schemeClr val="tx1"/>
                </a:solidFill>
              </a:rPr>
              <a:pPr lvl="0" algn="r">
                <a:lnSpc>
                  <a:spcPct val="100000"/>
                </a:lnSpc>
              </a:pPr>
              <a:t>‹#›</a:t>
            </a:fld>
            <a:endParaRPr lang="en-GB" sz="800" noProof="0">
              <a:solidFill>
                <a:schemeClr val="tx1"/>
              </a:solidFill>
            </a:endParaRPr>
          </a:p>
        </p:txBody>
      </p:sp>
      <p:pic>
        <p:nvPicPr>
          <p:cNvPr id="12" name="Grafik 7">
            <a:extLst>
              <a:ext uri="{FF2B5EF4-FFF2-40B4-BE49-F238E27FC236}">
                <a16:creationId xmlns:a16="http://schemas.microsoft.com/office/drawing/2014/main" id="{13134EF2-72A1-466B-AE80-25EB4E8F19E4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8110" y="152400"/>
            <a:ext cx="2048315" cy="102393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3" r:id="rId3"/>
    <p:sldLayoutId id="2147483662" r:id="rId4"/>
    <p:sldLayoutId id="2147483676" r:id="rId5"/>
    <p:sldLayoutId id="2147483656" r:id="rId6"/>
    <p:sldLayoutId id="2147483668" r:id="rId7"/>
    <p:sldLayoutId id="2147483650" r:id="rId8"/>
    <p:sldLayoutId id="2147483658" r:id="rId9"/>
    <p:sldLayoutId id="2147483670" r:id="rId10"/>
    <p:sldLayoutId id="2147483669" r:id="rId11"/>
    <p:sldLayoutId id="2147483654" r:id="rId12"/>
    <p:sldLayoutId id="2147483660" r:id="rId13"/>
    <p:sldLayoutId id="2147483671" r:id="rId14"/>
    <p:sldLayoutId id="2147483673" r:id="rId15"/>
    <p:sldLayoutId id="2147483672" r:id="rId16"/>
    <p:sldLayoutId id="2147483678" r:id="rId17"/>
  </p:sldLayoutIdLst>
  <p:hf sldNum="0" hdr="0"/>
  <p:txStyles>
    <p:titleStyle>
      <a:lvl1pPr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0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000" b="1">
          <a:solidFill>
            <a:schemeClr val="accent1"/>
          </a:solidFill>
          <a:latin typeface="LindeDaxPowerPoint" pitchFamily="34" charset="0"/>
        </a:defRPr>
      </a:lvl2pPr>
      <a:lvl3pPr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000" b="1">
          <a:solidFill>
            <a:schemeClr val="accent1"/>
          </a:solidFill>
          <a:latin typeface="LindeDaxPowerPoint" pitchFamily="34" charset="0"/>
        </a:defRPr>
      </a:lvl3pPr>
      <a:lvl4pPr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000" b="1">
          <a:solidFill>
            <a:schemeClr val="accent1"/>
          </a:solidFill>
          <a:latin typeface="LindeDaxPowerPoint" pitchFamily="34" charset="0"/>
        </a:defRPr>
      </a:lvl4pPr>
      <a:lvl5pPr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000" b="1">
          <a:solidFill>
            <a:schemeClr val="accent1"/>
          </a:solidFill>
          <a:latin typeface="LindeDaxPowerPoint" pitchFamily="34" charset="0"/>
        </a:defRPr>
      </a:lvl5pPr>
      <a:lvl6pPr marL="4572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000" b="1">
          <a:solidFill>
            <a:schemeClr val="accent1"/>
          </a:solidFill>
          <a:latin typeface="LindeDaxPowerPoint" pitchFamily="34" charset="0"/>
        </a:defRPr>
      </a:lvl6pPr>
      <a:lvl7pPr marL="9144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000" b="1">
          <a:solidFill>
            <a:schemeClr val="accent1"/>
          </a:solidFill>
          <a:latin typeface="LindeDaxPowerPoint" pitchFamily="34" charset="0"/>
        </a:defRPr>
      </a:lvl7pPr>
      <a:lvl8pPr marL="13716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000" b="1">
          <a:solidFill>
            <a:schemeClr val="accent1"/>
          </a:solidFill>
          <a:latin typeface="LindeDaxPowerPoint" pitchFamily="34" charset="0"/>
        </a:defRPr>
      </a:lvl8pPr>
      <a:lvl9pPr marL="1828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000" b="1">
          <a:solidFill>
            <a:schemeClr val="accent1"/>
          </a:solidFill>
          <a:latin typeface="LindeDaxPowerPoint" pitchFamily="34" charset="0"/>
        </a:defRPr>
      </a:lvl9pPr>
    </p:titleStyle>
    <p:bodyStyle>
      <a:lvl1pPr marL="177800" indent="-177800" algn="l" rtl="0" eaLnBrk="1" fontAlgn="base" hangingPunct="1">
        <a:lnSpc>
          <a:spcPct val="110000"/>
        </a:lnSpc>
        <a:spcBef>
          <a:spcPct val="0"/>
        </a:spcBef>
        <a:spcAft>
          <a:spcPts val="600"/>
        </a:spcAft>
        <a:buFont typeface="LindeDaxPowerPoint" pitchFamily="34" charset="0"/>
        <a:buChar char="–"/>
        <a:tabLst>
          <a:tab pos="177800" algn="l"/>
        </a:tabLst>
        <a:defRPr sz="1600" b="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4150" algn="l" rtl="0" eaLnBrk="1" fontAlgn="base" hangingPunct="1">
        <a:lnSpc>
          <a:spcPct val="110000"/>
        </a:lnSpc>
        <a:spcBef>
          <a:spcPct val="0"/>
        </a:spcBef>
        <a:spcAft>
          <a:spcPts val="600"/>
        </a:spcAft>
        <a:buFont typeface="LindeDaxPowerPoint" pitchFamily="34" charset="0"/>
        <a:buChar char="–"/>
        <a:tabLst>
          <a:tab pos="361950" algn="l"/>
        </a:tabLst>
        <a:defRPr sz="1600">
          <a:solidFill>
            <a:schemeClr val="tx1"/>
          </a:solidFill>
          <a:latin typeface="+mn-lt"/>
        </a:defRPr>
      </a:lvl2pPr>
      <a:lvl3pPr marL="539750" indent="-177800" algn="l" rtl="0" eaLnBrk="1" fontAlgn="base" hangingPunct="1">
        <a:lnSpc>
          <a:spcPct val="110000"/>
        </a:lnSpc>
        <a:spcBef>
          <a:spcPct val="0"/>
        </a:spcBef>
        <a:spcAft>
          <a:spcPts val="600"/>
        </a:spcAft>
        <a:buFont typeface="LindeDaxPowerPoint" pitchFamily="34" charset="0"/>
        <a:buChar char="–"/>
        <a:tabLst>
          <a:tab pos="539750" algn="l"/>
        </a:tabLst>
        <a:defRPr sz="1600">
          <a:solidFill>
            <a:schemeClr val="tx1"/>
          </a:solidFill>
          <a:latin typeface="+mn-lt"/>
        </a:defRPr>
      </a:lvl3pPr>
      <a:lvl4pPr marL="717550" indent="-177800" algn="l" rtl="0" eaLnBrk="1" fontAlgn="base" hangingPunct="1">
        <a:lnSpc>
          <a:spcPct val="110000"/>
        </a:lnSpc>
        <a:spcBef>
          <a:spcPct val="0"/>
        </a:spcBef>
        <a:spcAft>
          <a:spcPts val="600"/>
        </a:spcAft>
        <a:buFont typeface="LindeDaxPowerPoint" pitchFamily="34" charset="0"/>
        <a:buChar char="–"/>
        <a:tabLst>
          <a:tab pos="717550" algn="l"/>
        </a:tabLst>
        <a:defRPr sz="1600">
          <a:solidFill>
            <a:schemeClr val="tx1"/>
          </a:solidFill>
          <a:latin typeface="+mn-lt"/>
        </a:defRPr>
      </a:lvl4pPr>
      <a:lvl5pPr marL="895350" indent="-177800" algn="l" rtl="0" eaLnBrk="1" fontAlgn="base" hangingPunct="1">
        <a:lnSpc>
          <a:spcPct val="110000"/>
        </a:lnSpc>
        <a:spcBef>
          <a:spcPct val="0"/>
        </a:spcBef>
        <a:spcAft>
          <a:spcPts val="600"/>
        </a:spcAft>
        <a:buFont typeface="LindeDaxPowerPoint" pitchFamily="34" charset="0"/>
        <a:buChar char="–"/>
        <a:tabLst>
          <a:tab pos="895350" algn="l"/>
        </a:tabLst>
        <a:defRPr sz="1600">
          <a:solidFill>
            <a:schemeClr val="tx1"/>
          </a:solidFill>
          <a:latin typeface="+mn-lt"/>
        </a:defRPr>
      </a:lvl5pPr>
      <a:lvl6pPr marL="1598613" indent="-377825" algn="l" rtl="0" eaLnBrk="1" fontAlgn="base" hangingPunct="1">
        <a:lnSpc>
          <a:spcPct val="110000"/>
        </a:lnSpc>
        <a:spcBef>
          <a:spcPct val="0"/>
        </a:spcBef>
        <a:spcAft>
          <a:spcPct val="30000"/>
        </a:spcAft>
        <a:buChar char="—"/>
        <a:tabLst>
          <a:tab pos="265113" algn="l"/>
        </a:tabLst>
        <a:defRPr sz="1600">
          <a:solidFill>
            <a:schemeClr val="tx1"/>
          </a:solidFill>
          <a:latin typeface="+mn-lt"/>
        </a:defRPr>
      </a:lvl6pPr>
      <a:lvl7pPr marL="2055813" indent="-377825" algn="l" rtl="0" eaLnBrk="1" fontAlgn="base" hangingPunct="1">
        <a:lnSpc>
          <a:spcPct val="110000"/>
        </a:lnSpc>
        <a:spcBef>
          <a:spcPct val="0"/>
        </a:spcBef>
        <a:spcAft>
          <a:spcPct val="30000"/>
        </a:spcAft>
        <a:buChar char="—"/>
        <a:tabLst>
          <a:tab pos="265113" algn="l"/>
        </a:tabLst>
        <a:defRPr sz="1600">
          <a:solidFill>
            <a:schemeClr val="tx1"/>
          </a:solidFill>
          <a:latin typeface="+mn-lt"/>
        </a:defRPr>
      </a:lvl7pPr>
      <a:lvl8pPr marL="2513013" indent="-377825" algn="l" rtl="0" eaLnBrk="1" fontAlgn="base" hangingPunct="1">
        <a:lnSpc>
          <a:spcPct val="110000"/>
        </a:lnSpc>
        <a:spcBef>
          <a:spcPct val="0"/>
        </a:spcBef>
        <a:spcAft>
          <a:spcPct val="30000"/>
        </a:spcAft>
        <a:buChar char="—"/>
        <a:tabLst>
          <a:tab pos="265113" algn="l"/>
        </a:tabLst>
        <a:defRPr sz="1600">
          <a:solidFill>
            <a:schemeClr val="tx1"/>
          </a:solidFill>
          <a:latin typeface="+mn-lt"/>
        </a:defRPr>
      </a:lvl8pPr>
      <a:lvl9pPr marL="2970213" indent="-377825" algn="l" rtl="0" eaLnBrk="1" fontAlgn="base" hangingPunct="1">
        <a:lnSpc>
          <a:spcPct val="110000"/>
        </a:lnSpc>
        <a:spcBef>
          <a:spcPct val="0"/>
        </a:spcBef>
        <a:spcAft>
          <a:spcPct val="30000"/>
        </a:spcAft>
        <a:buChar char="—"/>
        <a:tabLst>
          <a:tab pos="265113" algn="l"/>
        </a:tabLst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224" userDrawn="1">
          <p15:clr>
            <a:srgbClr val="F26B43"/>
          </p15:clr>
        </p15:guide>
        <p15:guide id="5" pos="6289" userDrawn="1">
          <p15:clr>
            <a:srgbClr val="F26B43"/>
          </p15:clr>
        </p15:guide>
        <p15:guide id="6" pos="6199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845" userDrawn="1">
          <p15:clr>
            <a:srgbClr val="F26B43"/>
          </p15:clr>
        </p15:guide>
        <p15:guide id="9" pos="211" userDrawn="1">
          <p15:clr>
            <a:srgbClr val="F26B43"/>
          </p15:clr>
        </p15:guide>
        <p15:guide id="10" pos="7469" userDrawn="1">
          <p15:clr>
            <a:srgbClr val="F26B43"/>
          </p15:clr>
        </p15:guide>
        <p15:guide id="11" orient="horz" pos="40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3.emf"/><Relationship Id="rId18" Type="http://schemas.openxmlformats.org/officeDocument/2006/relationships/oleObject" Target="../embeddings/oleObject12.bin"/><Relationship Id="rId3" Type="http://schemas.openxmlformats.org/officeDocument/2006/relationships/oleObject" Target="../embeddings/oleObject4.bin"/><Relationship Id="rId21" Type="http://schemas.openxmlformats.org/officeDocument/2006/relationships/image" Target="../media/image17.emf"/><Relationship Id="rId7" Type="http://schemas.openxmlformats.org/officeDocument/2006/relationships/image" Target="../media/image10.e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5.emf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3.bin"/><Relationship Id="rId1" Type="http://schemas.openxmlformats.org/officeDocument/2006/relationships/slideLayout" Target="../slideLayouts/slideLayout8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2.emf"/><Relationship Id="rId5" Type="http://schemas.openxmlformats.org/officeDocument/2006/relationships/image" Target="../media/image9.emf"/><Relationship Id="rId15" Type="http://schemas.openxmlformats.org/officeDocument/2006/relationships/image" Target="../media/image14.emf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16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1.emf"/><Relationship Id="rId14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39.wmf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notesSlide" Target="../notesSlides/notesSlide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4.png"/><Relationship Id="rId4" Type="http://schemas.openxmlformats.org/officeDocument/2006/relationships/notesSlide" Target="../notesSlides/notesSlide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gif"/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34963" y="3667884"/>
            <a:ext cx="11522075" cy="1224000"/>
          </a:xfrm>
        </p:spPr>
        <p:txBody>
          <a:bodyPr wrap="square" anchor="t">
            <a:normAutofit/>
          </a:bodyPr>
          <a:lstStyle/>
          <a:p>
            <a:r>
              <a:rPr lang="zh-CN" altLang="en-US" noProof="0" dirty="0"/>
              <a:t>高处作业安全培训</a:t>
            </a:r>
            <a:br>
              <a:rPr lang="en-GB" altLang="zh-CN" noProof="0" dirty="0"/>
            </a:br>
            <a:endParaRPr lang="en-GB" b="0" noProof="0" dirty="0">
              <a:solidFill>
                <a:srgbClr val="00B0F0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B3505DA-0E96-4403-82C8-F019C73BC6C7}"/>
              </a:ext>
            </a:extLst>
          </p:cNvPr>
          <p:cNvGrpSpPr/>
          <p:nvPr/>
        </p:nvGrpSpPr>
        <p:grpSpPr>
          <a:xfrm>
            <a:off x="-20320" y="0"/>
            <a:ext cx="12232640" cy="3429000"/>
            <a:chOff x="-20320" y="0"/>
            <a:chExt cx="12232640" cy="3429000"/>
          </a:xfrm>
        </p:grpSpPr>
        <p:pic>
          <p:nvPicPr>
            <p:cNvPr id="6" name="Picture Placeholder 5" descr="图形用户界面, 应用程序&#10;&#10;描述已自动生成">
              <a:extLst>
                <a:ext uri="{FF2B5EF4-FFF2-40B4-BE49-F238E27FC236}">
                  <a16:creationId xmlns:a16="http://schemas.microsoft.com/office/drawing/2014/main" id="{C0C3C246-CED7-4ECD-AC65-79B8A8DB1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 bwMode="gray">
            <a:xfrm>
              <a:off x="-20320" y="0"/>
              <a:ext cx="12232640" cy="3429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itel 1">
              <a:extLst>
                <a:ext uri="{FF2B5EF4-FFF2-40B4-BE49-F238E27FC236}">
                  <a16:creationId xmlns:a16="http://schemas.microsoft.com/office/drawing/2014/main" id="{51E4BFD9-D423-4D6D-8DE2-B2B40B47E751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943872" y="476672"/>
              <a:ext cx="6804956" cy="1008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>
              <a:lvl1pPr algn="l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  <a:lvl2pPr algn="l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LindeDaxPowerPoint" pitchFamily="34" charset="0"/>
                </a:defRPr>
              </a:lvl2pPr>
              <a:lvl3pPr algn="l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LindeDaxPowerPoint" pitchFamily="34" charset="0"/>
                </a:defRPr>
              </a:lvl3pPr>
              <a:lvl4pPr algn="l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LindeDaxPowerPoint" pitchFamily="34" charset="0"/>
                </a:defRPr>
              </a:lvl4pPr>
              <a:lvl5pPr algn="l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LindeDaxPowerPoint" pitchFamily="34" charset="0"/>
                </a:defRPr>
              </a:lvl5pPr>
              <a:lvl6pPr marL="457200" algn="l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LindeDaxPowerPoint" pitchFamily="34" charset="0"/>
                </a:defRPr>
              </a:lvl6pPr>
              <a:lvl7pPr marL="914400" algn="l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LindeDaxPowerPoint" pitchFamily="34" charset="0"/>
                </a:defRPr>
              </a:lvl7pPr>
              <a:lvl8pPr marL="1371600" algn="l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LindeDaxPowerPoint" pitchFamily="34" charset="0"/>
                </a:defRPr>
              </a:lvl8pPr>
              <a:lvl9pPr marL="1828800" algn="l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LindeDaxPowerPoint" pitchFamily="34" charset="0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zh-CN" altLang="en-US" sz="5400" kern="0" dirty="0">
                  <a:solidFill>
                    <a:schemeClr val="tx1"/>
                  </a:solidFill>
                </a:rPr>
                <a:t>零事故</a:t>
              </a:r>
              <a:r>
                <a:rPr lang="zh-CN" altLang="en-US" sz="5400" b="0" kern="0" dirty="0">
                  <a:solidFill>
                    <a:schemeClr val="tx1"/>
                  </a:solidFill>
                </a:rPr>
                <a:t>，从今天开始！</a:t>
              </a:r>
              <a:endParaRPr lang="en-GB" sz="5400" b="0" kern="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608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培训期望与信息</a:t>
            </a:r>
            <a:endParaRPr lang="en-GB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450850" algn="l"/>
              </a:tabLst>
            </a:pPr>
            <a:r>
              <a:rPr lang="en-US" altLang="zh-CN" b="1" dirty="0"/>
              <a:t>ABCD</a:t>
            </a:r>
            <a:r>
              <a:rPr lang="zh-CN" altLang="en-US" b="1" dirty="0"/>
              <a:t>目标</a:t>
            </a:r>
            <a:r>
              <a:rPr lang="zh-CN" altLang="en-US" dirty="0"/>
              <a:t>：参加培训的人员能够说出高处作业的定义与范围、安全注意事项、“三宝”正确使用以及梯子使用安全（</a:t>
            </a:r>
            <a:r>
              <a:rPr lang="en-US" altLang="zh-CN" dirty="0"/>
              <a:t>10</a:t>
            </a:r>
            <a:r>
              <a:rPr lang="zh-CN" altLang="en-US" dirty="0"/>
              <a:t>），内容完整与准确程度不少于</a:t>
            </a:r>
            <a:r>
              <a:rPr lang="en-US" altLang="zh-CN" dirty="0"/>
              <a:t>90%</a:t>
            </a:r>
            <a:r>
              <a:rPr lang="zh-CN" altLang="en-US" dirty="0"/>
              <a:t>。</a:t>
            </a:r>
            <a:endParaRPr lang="en-US" altLang="zh-CN" dirty="0">
              <a:solidFill>
                <a:srgbClr val="FF0000"/>
              </a:solidFill>
            </a:endParaRPr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450850" algn="l"/>
              </a:tabLst>
            </a:pPr>
            <a:r>
              <a:rPr lang="zh-CN" altLang="en-US" b="1" dirty="0"/>
              <a:t>学习资料</a:t>
            </a:r>
            <a:r>
              <a:rPr lang="zh-CN" altLang="en-US" dirty="0"/>
              <a:t>：</a:t>
            </a:r>
            <a:endParaRPr lang="en-US" altLang="zh-CN" dirty="0"/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450850" algn="l"/>
              </a:tabLst>
            </a:pPr>
            <a:r>
              <a:rPr lang="zh-CN" altLang="en-US" b="1" dirty="0"/>
              <a:t>目标听众</a:t>
            </a:r>
            <a:r>
              <a:rPr lang="zh-CN" altLang="en-US" dirty="0"/>
              <a:t>： 工厂人员、入厂工作的承包商</a:t>
            </a:r>
            <a:endParaRPr lang="en-US" altLang="zh-CN" dirty="0"/>
          </a:p>
          <a:p>
            <a:pPr marL="355600" indent="-355600">
              <a:lnSpc>
                <a:spcPct val="150000"/>
              </a:lnSpc>
              <a:buFont typeface="Wingdings" panose="05000000000000000000" pitchFamily="2" charset="2"/>
              <a:buChar char="n"/>
              <a:tabLst>
                <a:tab pos="450850" algn="l"/>
              </a:tabLst>
            </a:pPr>
            <a:r>
              <a:rPr lang="zh-CN" altLang="en-US" b="1" dirty="0"/>
              <a:t>知识要点</a:t>
            </a:r>
            <a:endParaRPr lang="en-US" altLang="zh-CN" dirty="0"/>
          </a:p>
          <a:p>
            <a:pPr marL="882650" lvl="3" indent="-342900">
              <a:lnSpc>
                <a:spcPct val="150000"/>
              </a:lnSpc>
              <a:buFont typeface="+mj-lt"/>
              <a:buAutoNum type="arabicPeriod"/>
              <a:tabLst>
                <a:tab pos="450850" algn="l"/>
              </a:tabLst>
            </a:pPr>
            <a:r>
              <a:rPr lang="en-US" altLang="zh-CN" b="0" dirty="0"/>
              <a:t> </a:t>
            </a:r>
            <a:r>
              <a:rPr lang="zh-CN" altLang="en-US" b="0" dirty="0"/>
              <a:t>高处作业</a:t>
            </a:r>
            <a:r>
              <a:rPr lang="zh-CN" altLang="en-US" dirty="0"/>
              <a:t>定义、隐患与危害</a:t>
            </a:r>
            <a:endParaRPr lang="en-US" altLang="zh-CN" b="0" dirty="0"/>
          </a:p>
          <a:p>
            <a:pPr marL="882650" lvl="3" indent="-342900">
              <a:lnSpc>
                <a:spcPct val="150000"/>
              </a:lnSpc>
              <a:buFont typeface="+mj-lt"/>
              <a:buAutoNum type="arabicPeriod"/>
              <a:tabLst>
                <a:tab pos="450850" algn="l"/>
              </a:tabLst>
            </a:pPr>
            <a:r>
              <a:rPr lang="en-US" altLang="zh-CN" dirty="0"/>
              <a:t> </a:t>
            </a:r>
            <a:r>
              <a:rPr lang="zh-CN" altLang="en-US" dirty="0"/>
              <a:t>高处作业过程中的安全注意事项（人员行为、防护设施、作业许可）</a:t>
            </a:r>
            <a:endParaRPr lang="en-US" altLang="zh-CN" dirty="0"/>
          </a:p>
          <a:p>
            <a:pPr marL="882650" lvl="3" indent="-342900">
              <a:lnSpc>
                <a:spcPct val="150000"/>
              </a:lnSpc>
              <a:buFont typeface="+mj-lt"/>
              <a:buAutoNum type="arabicPeriod"/>
              <a:tabLst>
                <a:tab pos="450850" algn="l"/>
              </a:tabLst>
            </a:pPr>
            <a:r>
              <a:rPr lang="en-US" altLang="zh-CN" dirty="0"/>
              <a:t> </a:t>
            </a:r>
            <a:r>
              <a:rPr lang="zh-CN" altLang="en-US" dirty="0"/>
              <a:t>高处作业安全防护（“三宝”、梯子使用安全）</a:t>
            </a:r>
            <a:endParaRPr lang="en-US" altLang="zh-CN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FF1E6F66-0CF8-415D-84B2-414AD44C25D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88488" y="2132856"/>
            <a:ext cx="873248" cy="742988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91B542E7-8527-4AB5-8DF2-9895383FD5E9}"/>
              </a:ext>
            </a:extLst>
          </p:cNvPr>
          <p:cNvSpPr txBox="1"/>
          <p:nvPr/>
        </p:nvSpPr>
        <p:spPr>
          <a:xfrm>
            <a:off x="10558708" y="2389555"/>
            <a:ext cx="732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ndeDaxPowerPoint" pitchFamily="34" charset="0"/>
                <a:ea typeface="+mn-ea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ndeDaxPowerPoint" pitchFamily="34" charset="0"/>
                <a:ea typeface="+mn-ea"/>
                <a:cs typeface="+mn-cs"/>
              </a:rPr>
              <a:t>1.0hrs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ndeDaxPowerPoint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912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en-GB" noProof="0" dirty="0"/>
          </a:p>
        </p:txBody>
      </p:sp>
      <p:pic>
        <p:nvPicPr>
          <p:cNvPr id="27" name="Picture 3" descr="A~CXHBSXKD%EP`HU~T~0DS7">
            <a:extLst>
              <a:ext uri="{FF2B5EF4-FFF2-40B4-BE49-F238E27FC236}">
                <a16:creationId xmlns:a16="http://schemas.microsoft.com/office/drawing/2014/main" id="{F728070B-49DD-41DA-9630-E4FA16BDD4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28048" y="2048093"/>
            <a:ext cx="5124319" cy="2965084"/>
          </a:xfrm>
          <a:prstGeom prst="parallelogram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7A69B56E-C130-4C4B-A4D2-C1A612837BED}"/>
              </a:ext>
            </a:extLst>
          </p:cNvPr>
          <p:cNvSpPr txBox="1"/>
          <p:nvPr/>
        </p:nvSpPr>
        <p:spPr>
          <a:xfrm>
            <a:off x="551384" y="1988840"/>
            <a:ext cx="6090138" cy="30380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55600" lvl="3" indent="-355600">
              <a:lnSpc>
                <a:spcPct val="250000"/>
              </a:lnSpc>
              <a:buFont typeface="Wingdings" panose="05000000000000000000" pitchFamily="2" charset="2"/>
              <a:buChar char="n"/>
            </a:pPr>
            <a:r>
              <a:rPr lang="zh-CN" altLang="en-US" sz="2000" b="0" dirty="0"/>
              <a:t>高处作业</a:t>
            </a:r>
            <a:r>
              <a:rPr lang="zh-CN" altLang="en-US" sz="2000" dirty="0"/>
              <a:t>定义与范围、隐患与危害</a:t>
            </a:r>
            <a:endParaRPr lang="en-US" altLang="zh-CN" sz="2000" b="0" dirty="0"/>
          </a:p>
          <a:p>
            <a:pPr marL="355600" lvl="3" indent="-355600">
              <a:lnSpc>
                <a:spcPct val="25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/>
              <a:t> </a:t>
            </a:r>
            <a:r>
              <a:rPr lang="zh-CN" altLang="en-US" sz="2000" dirty="0"/>
              <a:t>高处作业过程中的安全注意事项（人员行为、防护设施、作业许可）</a:t>
            </a:r>
            <a:endParaRPr lang="en-US" altLang="zh-CN" sz="2000" dirty="0"/>
          </a:p>
          <a:p>
            <a:pPr marL="355600" lvl="3" indent="-355600">
              <a:lnSpc>
                <a:spcPct val="25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/>
              <a:t> </a:t>
            </a:r>
            <a:r>
              <a:rPr lang="zh-CN" altLang="en-US" sz="2000" dirty="0"/>
              <a:t>高处作业安全防护（“三宝”、梯子使用安全）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982827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02CDE-92A2-30DC-7F63-684C0EBDC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36E80A-80DA-D36C-52E5-7176D926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152401"/>
            <a:ext cx="9685339" cy="1023937"/>
          </a:xfrm>
        </p:spPr>
        <p:txBody>
          <a:bodyPr wrap="square" anchor="ctr">
            <a:normAutofit/>
          </a:bodyPr>
          <a:lstStyle/>
          <a:p>
            <a:r>
              <a:rPr lang="zh-CN" altLang="en-US" dirty="0"/>
              <a:t>高处作业定义、分级、风险及控制措施</a:t>
            </a:r>
            <a:endParaRPr lang="en-GB" noProof="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48C1979-957B-686D-1431-B84C03E2A7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466313"/>
              </p:ext>
            </p:extLst>
          </p:nvPr>
        </p:nvGraphicFramePr>
        <p:xfrm>
          <a:off x="2567608" y="3645024"/>
          <a:ext cx="12128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" imgW="1212887" imgH="520891" progId="Package">
                  <p:embed/>
                </p:oleObj>
              </mc:Choice>
              <mc:Fallback>
                <p:oleObj name="包装程序外壳对象" showAsIcon="1" r:id="rId2" imgW="1212887" imgH="52089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67608" y="3645024"/>
                        <a:ext cx="12128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3322EBA-D937-F267-905D-AC7396A226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469334"/>
              </p:ext>
            </p:extLst>
          </p:nvPr>
        </p:nvGraphicFramePr>
        <p:xfrm>
          <a:off x="2032000" y="719138"/>
          <a:ext cx="8128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4" imgW="0" imgH="0" progId="Package">
                  <p:embed/>
                </p:oleObj>
              </mc:Choice>
              <mc:Fallback>
                <p:oleObj name="包装程序外壳对象" showAsIcon="1" r:id="rId4" imgW="0" imgH="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/>
                    <p:spPr>
                      <a:xfrm>
                        <a:off x="2032000" y="719138"/>
                        <a:ext cx="8128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AEFACD9-2ADA-0964-1AC9-1F30C7B79A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915136"/>
              </p:ext>
            </p:extLst>
          </p:nvPr>
        </p:nvGraphicFramePr>
        <p:xfrm>
          <a:off x="6528048" y="3573016"/>
          <a:ext cx="1130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5" imgW="1130423" imgH="520891" progId="Package">
                  <p:embed/>
                </p:oleObj>
              </mc:Choice>
              <mc:Fallback>
                <p:oleObj name="包装程序外壳对象" showAsIcon="1" r:id="rId5" imgW="1130423" imgH="52089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28048" y="3573016"/>
                        <a:ext cx="11303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A699738-E059-9263-08F3-9C9FE382B4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75225"/>
              </p:ext>
            </p:extLst>
          </p:nvPr>
        </p:nvGraphicFramePr>
        <p:xfrm>
          <a:off x="2032000" y="719138"/>
          <a:ext cx="8128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4" imgW="0" imgH="0" progId="Package">
                  <p:embed/>
                </p:oleObj>
              </mc:Choice>
              <mc:Fallback>
                <p:oleObj name="包装程序外壳对象" showAsIcon="1" r:id="rId4" imgW="0" imgH="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/>
                    <p:spPr>
                      <a:xfrm>
                        <a:off x="2032000" y="719138"/>
                        <a:ext cx="8128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6746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CC435-2804-2CE1-AB44-FD9BFC7F8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1FEA7D-B398-788C-D8E1-E1981E991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152401"/>
            <a:ext cx="9685339" cy="1023937"/>
          </a:xfrm>
        </p:spPr>
        <p:txBody>
          <a:bodyPr wrap="square" anchor="ctr">
            <a:normAutofit/>
          </a:bodyPr>
          <a:lstStyle/>
          <a:p>
            <a:r>
              <a:rPr lang="en-GB" noProof="0" dirty="0"/>
              <a:t>SHEQ-1-007</a:t>
            </a:r>
            <a:r>
              <a:rPr lang="zh-CN" altLang="en-US" noProof="0" dirty="0"/>
              <a:t>及对应的检查表回顾</a:t>
            </a:r>
            <a:endParaRPr lang="en-GB" noProof="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2AECFE1-103D-7C63-768F-EBBC83F60F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2000" y="719138"/>
          <a:ext cx="8128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" imgW="0" imgH="0" progId="Package">
                  <p:embed/>
                </p:oleObj>
              </mc:Choice>
              <mc:Fallback>
                <p:oleObj name="包装程序外壳对象" showAsIcon="1" r:id="rId2" imgW="0" imgH="0" progId="Package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3322EBA-D937-F267-905D-AC7396A226BF}"/>
                          </a:ext>
                        </a:extLst>
                      </p:cNvPr>
                      <p:cNvPicPr/>
                      <p:nvPr/>
                    </p:nvPicPr>
                    <p:blipFill/>
                    <p:spPr>
                      <a:xfrm>
                        <a:off x="2032000" y="719138"/>
                        <a:ext cx="8128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4E8E5FE-DD94-7619-E209-9CF558A989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2000" y="719138"/>
          <a:ext cx="8128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3" imgW="0" imgH="0" progId="Package">
                  <p:embed/>
                </p:oleObj>
              </mc:Choice>
              <mc:Fallback>
                <p:oleObj name="包装程序外壳对象" showAsIcon="1" r:id="rId3" imgW="0" imgH="0" progId="Package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A699738-E059-9263-08F3-9C9FE382B4C3}"/>
                          </a:ext>
                        </a:extLst>
                      </p:cNvPr>
                      <p:cNvPicPr/>
                      <p:nvPr/>
                    </p:nvPicPr>
                    <p:blipFill/>
                    <p:spPr>
                      <a:xfrm>
                        <a:off x="2032000" y="719138"/>
                        <a:ext cx="8128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A3BBA6B-818C-2861-3EC5-0193E5F189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09059"/>
              </p:ext>
            </p:extLst>
          </p:nvPr>
        </p:nvGraphicFramePr>
        <p:xfrm>
          <a:off x="4439816" y="1766419"/>
          <a:ext cx="23177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4" imgW="2317664" imgH="520891" progId="Package">
                  <p:embed/>
                </p:oleObj>
              </mc:Choice>
              <mc:Fallback>
                <p:oleObj name="包装程序外壳对象" showAsIcon="1" r:id="rId4" imgW="2317664" imgH="52089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39816" y="1766419"/>
                        <a:ext cx="23177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B20B018-1F7E-0463-1672-743EC906C1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562002"/>
              </p:ext>
            </p:extLst>
          </p:nvPr>
        </p:nvGraphicFramePr>
        <p:xfrm>
          <a:off x="1127448" y="3714748"/>
          <a:ext cx="2705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6" imgW="2705125" imgH="520891" progId="Package">
                  <p:embed/>
                </p:oleObj>
              </mc:Choice>
              <mc:Fallback>
                <p:oleObj name="包装程序外壳对象" showAsIcon="1" r:id="rId6" imgW="2705125" imgH="52089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27448" y="3714748"/>
                        <a:ext cx="27051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0E81203-2EF7-90C5-9C5B-0F35593A86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015433"/>
              </p:ext>
            </p:extLst>
          </p:nvPr>
        </p:nvGraphicFramePr>
        <p:xfrm>
          <a:off x="3670588" y="3684904"/>
          <a:ext cx="2273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8" imgW="2273473" imgH="520891" progId="Package">
                  <p:embed/>
                </p:oleObj>
              </mc:Choice>
              <mc:Fallback>
                <p:oleObj name="包装程序外壳对象" showAsIcon="1" r:id="rId8" imgW="2273473" imgH="52089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70588" y="3684904"/>
                        <a:ext cx="22733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EE4F1CF-66DD-EF69-9528-A1F29C48A1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587670"/>
              </p:ext>
            </p:extLst>
          </p:nvPr>
        </p:nvGraphicFramePr>
        <p:xfrm>
          <a:off x="2032000" y="719138"/>
          <a:ext cx="8128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" imgW="0" imgH="0" progId="Package">
                  <p:embed/>
                </p:oleObj>
              </mc:Choice>
              <mc:Fallback>
                <p:oleObj name="包装程序外壳对象" showAsIcon="1" r:id="rId2" imgW="0" imgH="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/>
                    <p:spPr>
                      <a:xfrm>
                        <a:off x="2032000" y="719138"/>
                        <a:ext cx="8128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278A199-A175-99B0-ACF4-26D30D2C36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414903"/>
              </p:ext>
            </p:extLst>
          </p:nvPr>
        </p:nvGraphicFramePr>
        <p:xfrm>
          <a:off x="5951984" y="3684904"/>
          <a:ext cx="2959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10" imgW="2959223" imgH="520891" progId="Package">
                  <p:embed/>
                </p:oleObj>
              </mc:Choice>
              <mc:Fallback>
                <p:oleObj name="包装程序外壳对象" showAsIcon="1" r:id="rId10" imgW="2959223" imgH="52089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51984" y="3684904"/>
                        <a:ext cx="29591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436C6FD-3103-2608-BA44-CE5BC9D182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410417"/>
              </p:ext>
            </p:extLst>
          </p:nvPr>
        </p:nvGraphicFramePr>
        <p:xfrm>
          <a:off x="8747125" y="3684904"/>
          <a:ext cx="2705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12" imgW="2705125" imgH="520891" progId="Package">
                  <p:embed/>
                </p:oleObj>
              </mc:Choice>
              <mc:Fallback>
                <p:oleObj name="包装程序外壳对象" showAsIcon="1" r:id="rId12" imgW="2705125" imgH="52089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747125" y="3684904"/>
                        <a:ext cx="27051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125BC5E-6AF5-91FA-74AF-525EA2BE20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656567"/>
              </p:ext>
            </p:extLst>
          </p:nvPr>
        </p:nvGraphicFramePr>
        <p:xfrm>
          <a:off x="5951984" y="4543547"/>
          <a:ext cx="31305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14" imgW="3130464" imgH="520891" progId="Package">
                  <p:embed/>
                </p:oleObj>
              </mc:Choice>
              <mc:Fallback>
                <p:oleObj name="包装程序外壳对象" showAsIcon="1" r:id="rId14" imgW="3130464" imgH="52089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951984" y="4543547"/>
                        <a:ext cx="31305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8AC7C23-A866-CA30-81D9-8F42C23B25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738827"/>
              </p:ext>
            </p:extLst>
          </p:nvPr>
        </p:nvGraphicFramePr>
        <p:xfrm>
          <a:off x="8328248" y="4781077"/>
          <a:ext cx="3416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16" imgW="3416127" imgH="520891" progId="Package">
                  <p:embed/>
                </p:oleObj>
              </mc:Choice>
              <mc:Fallback>
                <p:oleObj name="包装程序外壳对象" showAsIcon="1" r:id="rId16" imgW="3416127" imgH="52089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328248" y="4781077"/>
                        <a:ext cx="34163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9071507-8352-4C88-9AD0-64FD9C01F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380781"/>
              </p:ext>
            </p:extLst>
          </p:nvPr>
        </p:nvGraphicFramePr>
        <p:xfrm>
          <a:off x="1200473" y="4831691"/>
          <a:ext cx="25590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18" imgW="2559136" imgH="520891" progId="Package">
                  <p:embed/>
                </p:oleObj>
              </mc:Choice>
              <mc:Fallback>
                <p:oleObj name="包装程序外壳对象" showAsIcon="1" r:id="rId18" imgW="2559136" imgH="52089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200473" y="4831691"/>
                        <a:ext cx="25590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31302AA-DD8D-69A9-C1F9-DF9BAD4077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251944"/>
              </p:ext>
            </p:extLst>
          </p:nvPr>
        </p:nvGraphicFramePr>
        <p:xfrm>
          <a:off x="3471974" y="4772341"/>
          <a:ext cx="3416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0" imgW="3416127" imgH="520891" progId="Package">
                  <p:embed/>
                </p:oleObj>
              </mc:Choice>
              <mc:Fallback>
                <p:oleObj name="包装程序外壳对象" showAsIcon="1" r:id="rId20" imgW="3416127" imgH="52089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471974" y="4772341"/>
                        <a:ext cx="34163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79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915A-25A6-0C6A-45BE-4E0A8A67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5F6E3A-B3B9-CB58-E066-17F4F95C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152401"/>
            <a:ext cx="9685339" cy="1023937"/>
          </a:xfrm>
        </p:spPr>
        <p:txBody>
          <a:bodyPr wrap="square" anchor="ctr">
            <a:normAutofit/>
          </a:bodyPr>
          <a:lstStyle/>
          <a:p>
            <a:r>
              <a:rPr lang="zh-CN" altLang="en-US" dirty="0"/>
              <a:t>高处坠落一般发生在什么地方？</a:t>
            </a:r>
            <a:endParaRPr lang="en-GB" noProof="0" dirty="0"/>
          </a:p>
        </p:txBody>
      </p: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6CF8F265-700A-BF21-6429-3C5E737C9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939" y="1484313"/>
            <a:ext cx="8986122" cy="4897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3122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C12F-8C00-AEEB-CB2C-B5BE842A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6E7040-05FD-81B1-09A1-6B9E1F3B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152401"/>
            <a:ext cx="9685339" cy="1023937"/>
          </a:xfrm>
        </p:spPr>
        <p:txBody>
          <a:bodyPr wrap="square" anchor="ctr">
            <a:normAutofit/>
          </a:bodyPr>
          <a:lstStyle/>
          <a:p>
            <a:r>
              <a:rPr lang="zh-CN" altLang="en-US" dirty="0"/>
              <a:t>高处坠落人的因素一般是什么？</a:t>
            </a:r>
            <a:endParaRPr lang="en-GB" noProof="0" dirty="0"/>
          </a:p>
        </p:txBody>
      </p: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C54D87D3-C9F8-FAAC-55CE-E83DEFE7E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337" y="1484313"/>
            <a:ext cx="9069327" cy="4897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4441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23D4F-22A5-FDCC-EAB5-EFDE3994C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27A30-A0B8-3C8A-85C5-541FBD3A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152401"/>
            <a:ext cx="9685339" cy="1023937"/>
          </a:xfrm>
        </p:spPr>
        <p:txBody>
          <a:bodyPr wrap="square" anchor="ctr">
            <a:normAutofit/>
          </a:bodyPr>
          <a:lstStyle/>
          <a:p>
            <a:r>
              <a:rPr lang="zh-CN" altLang="en-US" dirty="0"/>
              <a:t>高处坠落管理因素一般是什么？</a:t>
            </a:r>
            <a:endParaRPr lang="en-GB" noProof="0" dirty="0"/>
          </a:p>
        </p:txBody>
      </p:sp>
      <p:pic>
        <p:nvPicPr>
          <p:cNvPr id="4" name="图片 3" descr="图形用户界面, 文本, 应用程序&#10;&#10;描述已自动生成">
            <a:extLst>
              <a:ext uri="{FF2B5EF4-FFF2-40B4-BE49-F238E27FC236}">
                <a16:creationId xmlns:a16="http://schemas.microsoft.com/office/drawing/2014/main" id="{DC4EFCA4-9CDF-4DC5-CBF4-121E7A121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2060694"/>
            <a:ext cx="11522075" cy="37446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6103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D4B50-FB22-1DE5-75BC-5BE96024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376D28-0B6C-62BC-CF11-1F3C3E6FF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152401"/>
            <a:ext cx="9685339" cy="1023937"/>
          </a:xfrm>
        </p:spPr>
        <p:txBody>
          <a:bodyPr wrap="square" anchor="ctr">
            <a:normAutofit/>
          </a:bodyPr>
          <a:lstStyle/>
          <a:p>
            <a:r>
              <a:rPr lang="zh-CN" altLang="en-US" dirty="0"/>
              <a:t>如何避免高处坠落？</a:t>
            </a:r>
            <a:endParaRPr lang="en-GB" noProof="0" dirty="0"/>
          </a:p>
        </p:txBody>
      </p:sp>
      <p:pic>
        <p:nvPicPr>
          <p:cNvPr id="5" name="图片 4" descr="图形用户界面, 文本&#10;&#10;描述已自动生成">
            <a:extLst>
              <a:ext uri="{FF2B5EF4-FFF2-40B4-BE49-F238E27FC236}">
                <a16:creationId xmlns:a16="http://schemas.microsoft.com/office/drawing/2014/main" id="{AE06EC31-BE09-BE7F-202C-F4DE144E4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1715032"/>
            <a:ext cx="11522075" cy="44359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4840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7E74E-B7A6-70B7-52B9-039482610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CCC154-06A7-270A-DD19-289E715DB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152401"/>
            <a:ext cx="9685339" cy="1023937"/>
          </a:xfrm>
        </p:spPr>
        <p:txBody>
          <a:bodyPr wrap="square" anchor="ctr">
            <a:normAutofit/>
          </a:bodyPr>
          <a:lstStyle/>
          <a:p>
            <a:r>
              <a:rPr lang="zh-CN" altLang="en-US" dirty="0"/>
              <a:t>如何避免高处坠落？</a:t>
            </a:r>
            <a:endParaRPr lang="en-GB" noProof="0" dirty="0"/>
          </a:p>
        </p:txBody>
      </p:sp>
      <p:pic>
        <p:nvPicPr>
          <p:cNvPr id="4" name="图片 3" descr="图形用户界面, 网站&#10;&#10;描述已自动生成">
            <a:extLst>
              <a:ext uri="{FF2B5EF4-FFF2-40B4-BE49-F238E27FC236}">
                <a16:creationId xmlns:a16="http://schemas.microsoft.com/office/drawing/2014/main" id="{2C2D5289-CA27-B4E2-7CC4-9B3F1F17B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455" y="1484313"/>
            <a:ext cx="8945090" cy="4897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9202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CC603-8855-3B85-10D0-7F67CB72A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E2AC7A-374D-1B22-E198-25CA31F93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152401"/>
            <a:ext cx="9685339" cy="1023937"/>
          </a:xfrm>
        </p:spPr>
        <p:txBody>
          <a:bodyPr wrap="square" anchor="ctr">
            <a:normAutofit/>
          </a:bodyPr>
          <a:lstStyle/>
          <a:p>
            <a:r>
              <a:rPr lang="zh-CN" altLang="en-US" dirty="0"/>
              <a:t>如何避免高处坠落？</a:t>
            </a:r>
            <a:endParaRPr lang="en-GB" noProof="0" dirty="0"/>
          </a:p>
        </p:txBody>
      </p:sp>
      <p:pic>
        <p:nvPicPr>
          <p:cNvPr id="5" name="图片 4" descr="图形用户界面, 应用程序&#10;&#10;描述已自动生成">
            <a:extLst>
              <a:ext uri="{FF2B5EF4-FFF2-40B4-BE49-F238E27FC236}">
                <a16:creationId xmlns:a16="http://schemas.microsoft.com/office/drawing/2014/main" id="{BDDD8B0F-9358-6F57-C278-4FF137B4C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99" y="1484313"/>
            <a:ext cx="10646602" cy="4897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5954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高处作业安全隐患</a:t>
            </a:r>
            <a:endParaRPr lang="en-GB" noProof="0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8BCD3A09-DED2-427C-B4AE-16BEFC196CE6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71464" y="1628800"/>
            <a:ext cx="504056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BF8F1BF-9848-4802-99D5-CAB9105A0C70}"/>
              </a:ext>
            </a:extLst>
          </p:cNvPr>
          <p:cNvSpPr txBox="1"/>
          <p:nvPr/>
        </p:nvSpPr>
        <p:spPr>
          <a:xfrm>
            <a:off x="6960096" y="2248107"/>
            <a:ext cx="3816424" cy="33698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没有覆盖的地洞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欠缺围栏的楼边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欠缺围栏的电梯槽口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欠缺围栏的吊船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不稳固的梯子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欠缺围栏的工作台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不稳固的木板工作台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+mn-ea"/>
              </a:rPr>
              <a:t>没有佩戴安全带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……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44044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770D1-C193-DE75-E2E6-1157B7DC5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912F9-A5C5-24E0-C265-70DB539F1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看图找隐患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8CCA23AC-9CDB-3725-02B0-D4FF27028CBB}"/>
              </a:ext>
            </a:extLst>
          </p:cNvPr>
          <p:cNvSpPr txBox="1"/>
          <p:nvPr/>
        </p:nvSpPr>
        <p:spPr>
          <a:xfrm>
            <a:off x="10132241" y="1605166"/>
            <a:ext cx="113762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200" b="1" dirty="0">
                <a:solidFill>
                  <a:schemeClr val="bg1"/>
                </a:solidFill>
              </a:rPr>
              <a:t>屋顶入口处</a:t>
            </a:r>
            <a:endParaRPr lang="en-GB" sz="1200" b="1" dirty="0">
              <a:solidFill>
                <a:schemeClr val="bg1"/>
              </a:solidFill>
            </a:endParaRPr>
          </a:p>
        </p:txBody>
      </p:sp>
      <p:pic>
        <p:nvPicPr>
          <p:cNvPr id="6" name="图片 5" descr="男人的照片上写着字&#10;&#10;AI 生成的内容可能不正确。">
            <a:extLst>
              <a:ext uri="{FF2B5EF4-FFF2-40B4-BE49-F238E27FC236}">
                <a16:creationId xmlns:a16="http://schemas.microsoft.com/office/drawing/2014/main" id="{D5EDA754-66FB-722D-9699-EFD39952A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40" y="1484782"/>
            <a:ext cx="3816424" cy="4824537"/>
          </a:xfrm>
          <a:prstGeom prst="rect">
            <a:avLst/>
          </a:prstGeom>
        </p:spPr>
      </p:pic>
      <p:pic>
        <p:nvPicPr>
          <p:cNvPr id="8" name="图片 7" descr="图片包含 白板&#10;&#10;AI 生成的内容可能不正确。">
            <a:extLst>
              <a:ext uri="{FF2B5EF4-FFF2-40B4-BE49-F238E27FC236}">
                <a16:creationId xmlns:a16="http://schemas.microsoft.com/office/drawing/2014/main" id="{9CDB284E-B4B1-C241-E1C9-B6867D148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1484782"/>
            <a:ext cx="3816424" cy="482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7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C375E-7B51-C6A0-9DC7-1170007A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9375F1-64EC-863D-069E-599615E1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看图找隐患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FAB109CF-BFAF-49A2-5401-6AF0A44460DA}"/>
              </a:ext>
            </a:extLst>
          </p:cNvPr>
          <p:cNvSpPr txBox="1"/>
          <p:nvPr/>
        </p:nvSpPr>
        <p:spPr>
          <a:xfrm>
            <a:off x="10132241" y="1605166"/>
            <a:ext cx="113762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200" b="1" dirty="0">
                <a:solidFill>
                  <a:schemeClr val="bg1"/>
                </a:solidFill>
              </a:rPr>
              <a:t>屋顶入口处</a:t>
            </a:r>
            <a:endParaRPr lang="en-GB" sz="1200" b="1" dirty="0">
              <a:solidFill>
                <a:schemeClr val="bg1"/>
              </a:solidFill>
            </a:endParaRPr>
          </a:p>
        </p:txBody>
      </p:sp>
      <p:pic>
        <p:nvPicPr>
          <p:cNvPr id="4" name="图片 3" descr="图示, 工程绘图&#10;&#10;AI 生成的内容可能不正确。">
            <a:extLst>
              <a:ext uri="{FF2B5EF4-FFF2-40B4-BE49-F238E27FC236}">
                <a16:creationId xmlns:a16="http://schemas.microsoft.com/office/drawing/2014/main" id="{4B25C408-A39D-7C44-ABC9-E5B3F36E1A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180" y="1423432"/>
            <a:ext cx="3949728" cy="47251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2FBF953-ECCA-5917-4894-68D1536AFB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072" y="1432456"/>
            <a:ext cx="3587194" cy="47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5575" y="152401"/>
            <a:ext cx="9685339" cy="1023937"/>
          </a:xfrm>
        </p:spPr>
        <p:txBody>
          <a:bodyPr wrap="square" anchor="ctr">
            <a:normAutofit/>
          </a:bodyPr>
          <a:lstStyle/>
          <a:p>
            <a:r>
              <a:rPr lang="zh-CN" altLang="en-US" dirty="0"/>
              <a:t>高处作业安全防护</a:t>
            </a:r>
            <a:r>
              <a:rPr lang="en-US" altLang="zh-CN" dirty="0"/>
              <a:t>——</a:t>
            </a:r>
            <a:r>
              <a:rPr lang="zh-CN" altLang="en-US" dirty="0"/>
              <a:t> </a:t>
            </a:r>
            <a:r>
              <a:rPr lang="zh-CN" altLang="en-US" noProof="0" dirty="0"/>
              <a:t>安全带</a:t>
            </a:r>
            <a:br>
              <a:rPr lang="en-US" altLang="zh-CN" noProof="0" dirty="0"/>
            </a:br>
            <a:endParaRPr lang="en-GB" noProof="0" dirty="0"/>
          </a:p>
        </p:txBody>
      </p:sp>
      <p:pic>
        <p:nvPicPr>
          <p:cNvPr id="9" name="图片 8" descr="图形用户界面, 文本, 应用程序&#10;&#10;描述已自动生成">
            <a:extLst>
              <a:ext uri="{FF2B5EF4-FFF2-40B4-BE49-F238E27FC236}">
                <a16:creationId xmlns:a16="http://schemas.microsoft.com/office/drawing/2014/main" id="{8267089B-E4F2-D165-931D-2CA5CEBE3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5017"/>
          <a:stretch>
            <a:fillRect/>
          </a:stretch>
        </p:blipFill>
        <p:spPr>
          <a:xfrm>
            <a:off x="334963" y="1484313"/>
            <a:ext cx="11522075" cy="4897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35051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全身式</a:t>
            </a:r>
            <a:r>
              <a:rPr lang="zh-CN" altLang="en-US" noProof="0" dirty="0"/>
              <a:t>安全带构件</a:t>
            </a:r>
            <a:endParaRPr lang="en-GB" noProof="0" dirty="0"/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98BBD658-12F1-4C3F-A126-BE85BF1B3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1793360"/>
            <a:ext cx="5633891" cy="136991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2" name="图片 1">
            <a:extLst>
              <a:ext uri="{FF2B5EF4-FFF2-40B4-BE49-F238E27FC236}">
                <a16:creationId xmlns:a16="http://schemas.microsoft.com/office/drawing/2014/main" id="{33412F3B-8B5B-40EB-8BD3-393BF5750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75520" y="1628800"/>
            <a:ext cx="8147050" cy="440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2116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正确穿戴安全带</a:t>
            </a:r>
            <a:endParaRPr lang="en-GB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1C5BA9-21D7-53A2-D65D-3703A391B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>
              <a:lnSpc>
                <a:spcPts val="2700"/>
              </a:lnSpc>
              <a:spcBef>
                <a:spcPts val="0"/>
              </a:spcBef>
              <a:buClrTx/>
              <a:buSzPct val="100000"/>
              <a:buFontTx/>
              <a:buNone/>
            </a:pPr>
            <a:r>
              <a:rPr lang="zh-CN" altLang="en-US" sz="1600" dirty="0">
                <a:latin typeface="+mn-ea"/>
              </a:rPr>
              <a:t>步骤</a:t>
            </a:r>
            <a:r>
              <a:rPr lang="en-US" altLang="zh-CN" sz="1600" dirty="0">
                <a:latin typeface="+mn-ea"/>
              </a:rPr>
              <a:t>1</a:t>
            </a:r>
            <a:r>
              <a:rPr lang="zh-CN" altLang="en-US" sz="1600" dirty="0">
                <a:latin typeface="+mn-ea"/>
              </a:rPr>
              <a:t>：握住后部的“</a:t>
            </a:r>
            <a:r>
              <a:rPr lang="en-US" altLang="zh-CN" sz="1600" dirty="0">
                <a:latin typeface="+mn-ea"/>
              </a:rPr>
              <a:t>D”</a:t>
            </a:r>
            <a:r>
              <a:rPr lang="zh-CN" altLang="en-US" sz="1600" dirty="0">
                <a:latin typeface="+mn-ea"/>
              </a:rPr>
              <a:t>形环，抖动安全带，使所有的编织带回到原位</a:t>
            </a:r>
            <a:endParaRPr lang="en-US" altLang="zh-CN" sz="1600" dirty="0">
              <a:latin typeface="+mn-ea"/>
            </a:endParaRPr>
          </a:p>
          <a:p>
            <a:pPr marL="0">
              <a:lnSpc>
                <a:spcPts val="2700"/>
              </a:lnSpc>
              <a:spcBef>
                <a:spcPts val="0"/>
              </a:spcBef>
              <a:buClrTx/>
              <a:buSzPct val="100000"/>
              <a:buFontTx/>
              <a:buNone/>
            </a:pPr>
            <a:endParaRPr lang="en-US" altLang="zh-CN" sz="1600" dirty="0">
              <a:latin typeface="+mn-ea"/>
            </a:endParaRPr>
          </a:p>
          <a:p>
            <a:pPr marL="0">
              <a:lnSpc>
                <a:spcPts val="2700"/>
              </a:lnSpc>
              <a:spcBef>
                <a:spcPts val="0"/>
              </a:spcBef>
              <a:buClrTx/>
              <a:buSzPct val="100000"/>
              <a:buFontTx/>
              <a:buNone/>
            </a:pPr>
            <a:r>
              <a:rPr lang="zh-CN" altLang="en-US" sz="1600" dirty="0">
                <a:latin typeface="+mn-ea"/>
              </a:rPr>
              <a:t>步骤</a:t>
            </a:r>
            <a:r>
              <a:rPr lang="en-US" altLang="zh-CN" sz="1600" dirty="0">
                <a:latin typeface="+mn-ea"/>
              </a:rPr>
              <a:t>2</a:t>
            </a:r>
            <a:r>
              <a:rPr lang="zh-CN" altLang="en-US" sz="1600" dirty="0">
                <a:latin typeface="+mn-ea"/>
              </a:rPr>
              <a:t>：将胸带背在双肩 </a:t>
            </a:r>
            <a:endParaRPr lang="en-US" altLang="zh-CN" sz="1600" dirty="0">
              <a:latin typeface="+mn-ea"/>
            </a:endParaRPr>
          </a:p>
          <a:p>
            <a:pPr marL="0">
              <a:lnSpc>
                <a:spcPts val="2700"/>
              </a:lnSpc>
              <a:spcBef>
                <a:spcPts val="0"/>
              </a:spcBef>
              <a:buClrTx/>
              <a:buSzPct val="100000"/>
              <a:buFontTx/>
              <a:buNone/>
            </a:pPr>
            <a:endParaRPr lang="zh-CN" altLang="en-US" sz="1600" dirty="0">
              <a:latin typeface="+mn-ea"/>
            </a:endParaRPr>
          </a:p>
          <a:p>
            <a:pPr marL="0">
              <a:lnSpc>
                <a:spcPts val="2700"/>
              </a:lnSpc>
              <a:spcBef>
                <a:spcPts val="0"/>
              </a:spcBef>
              <a:buClrTx/>
              <a:buSzPct val="100000"/>
              <a:buFontTx/>
              <a:buNone/>
            </a:pPr>
            <a:r>
              <a:rPr lang="zh-CN" altLang="en-US" sz="1600" dirty="0">
                <a:latin typeface="+mn-ea"/>
              </a:rPr>
              <a:t>步骤</a:t>
            </a:r>
            <a:r>
              <a:rPr lang="en-US" altLang="zh-CN" sz="1600" dirty="0">
                <a:latin typeface="+mn-ea"/>
              </a:rPr>
              <a:t>3</a:t>
            </a:r>
            <a:r>
              <a:rPr lang="zh-CN" altLang="en-US" sz="1600" dirty="0">
                <a:latin typeface="+mn-ea"/>
              </a:rPr>
              <a:t>：从两腿之间穿出腿带，扣好带扣。按同样的方法扣好第二根腿带</a:t>
            </a:r>
            <a:endParaRPr lang="en-US" altLang="zh-CN" sz="1600" dirty="0">
              <a:latin typeface="+mn-ea"/>
            </a:endParaRPr>
          </a:p>
          <a:p>
            <a:pPr marL="0">
              <a:lnSpc>
                <a:spcPts val="2700"/>
              </a:lnSpc>
              <a:spcBef>
                <a:spcPts val="0"/>
              </a:spcBef>
              <a:buClrTx/>
              <a:buSzPct val="100000"/>
              <a:buFontTx/>
              <a:buNone/>
            </a:pPr>
            <a:endParaRPr lang="zh-CN" altLang="en-US" sz="1600" dirty="0">
              <a:latin typeface="+mn-ea"/>
            </a:endParaRPr>
          </a:p>
          <a:p>
            <a:pPr marL="0">
              <a:lnSpc>
                <a:spcPts val="2700"/>
              </a:lnSpc>
              <a:spcBef>
                <a:spcPts val="0"/>
              </a:spcBef>
              <a:buClrTx/>
              <a:buSzPct val="100000"/>
              <a:buFontTx/>
              <a:buNone/>
            </a:pPr>
            <a:r>
              <a:rPr lang="zh-CN" altLang="en-US" sz="1600" dirty="0">
                <a:latin typeface="+mn-ea"/>
              </a:rPr>
              <a:t>步骤</a:t>
            </a:r>
            <a:r>
              <a:rPr lang="en-US" altLang="zh-CN" sz="1600" dirty="0">
                <a:latin typeface="+mn-ea"/>
              </a:rPr>
              <a:t>4</a:t>
            </a:r>
            <a:r>
              <a:rPr lang="zh-CN" altLang="en-US" sz="1600" dirty="0">
                <a:latin typeface="+mn-ea"/>
              </a:rPr>
              <a:t>：扣好腰带和胸带</a:t>
            </a:r>
            <a:endParaRPr lang="en-US" altLang="zh-CN" sz="1600" dirty="0">
              <a:latin typeface="+mn-ea"/>
            </a:endParaRPr>
          </a:p>
          <a:p>
            <a:pPr marL="0">
              <a:lnSpc>
                <a:spcPts val="2700"/>
              </a:lnSpc>
              <a:spcBef>
                <a:spcPts val="0"/>
              </a:spcBef>
              <a:buClrTx/>
              <a:buSzPct val="100000"/>
              <a:buFontTx/>
              <a:buNone/>
            </a:pPr>
            <a:endParaRPr lang="zh-CN" altLang="en-US" sz="1600" dirty="0">
              <a:latin typeface="+mn-ea"/>
            </a:endParaRPr>
          </a:p>
          <a:p>
            <a:pPr marL="0">
              <a:lnSpc>
                <a:spcPts val="2700"/>
              </a:lnSpc>
              <a:spcBef>
                <a:spcPts val="0"/>
              </a:spcBef>
              <a:buClrTx/>
              <a:buSzPct val="100000"/>
              <a:buFontTx/>
              <a:buNone/>
            </a:pPr>
            <a:r>
              <a:rPr lang="zh-CN" altLang="en-US" sz="1600" dirty="0">
                <a:latin typeface="+mn-ea"/>
              </a:rPr>
              <a:t>步骤</a:t>
            </a:r>
            <a:r>
              <a:rPr lang="en-US" altLang="zh-CN" sz="1600" dirty="0">
                <a:latin typeface="+mn-ea"/>
              </a:rPr>
              <a:t>5</a:t>
            </a:r>
            <a:r>
              <a:rPr lang="zh-CN" altLang="en-US" sz="1600" dirty="0">
                <a:latin typeface="+mn-ea"/>
              </a:rPr>
              <a:t>：全部组件都扣好后，收紧所有带子，让安全带尽量贴紧身体，但又不会影响活动。将多余的带子穿到带      </a:t>
            </a:r>
            <a:endParaRPr lang="en-US" altLang="zh-CN" sz="1600" dirty="0">
              <a:latin typeface="+mn-ea"/>
            </a:endParaRPr>
          </a:p>
          <a:p>
            <a:pPr marL="0">
              <a:lnSpc>
                <a:spcPts val="2700"/>
              </a:lnSpc>
              <a:spcBef>
                <a:spcPts val="0"/>
              </a:spcBef>
              <a:buClrTx/>
              <a:buSzPct val="100000"/>
              <a:buFontTx/>
              <a:buNone/>
            </a:pPr>
            <a:r>
              <a:rPr lang="en-US" altLang="zh-CN" sz="1600" dirty="0">
                <a:latin typeface="+mn-ea"/>
              </a:rPr>
              <a:t>             </a:t>
            </a:r>
            <a:r>
              <a:rPr lang="zh-CN" altLang="en-US" sz="1600" dirty="0">
                <a:latin typeface="+mn-ea"/>
              </a:rPr>
              <a:t>夹中防止松脱，检查确定各吊带没有扭曲或交叉，而且后部“</a:t>
            </a:r>
            <a:r>
              <a:rPr lang="en-US" altLang="zh-CN" sz="1600" dirty="0">
                <a:latin typeface="+mn-ea"/>
              </a:rPr>
              <a:t>D”</a:t>
            </a:r>
            <a:r>
              <a:rPr lang="zh-CN" altLang="en-US" sz="1600" dirty="0">
                <a:latin typeface="+mn-ea"/>
              </a:rPr>
              <a:t>形环位于肩胛骨处。</a:t>
            </a:r>
          </a:p>
          <a:p>
            <a:endParaRPr lang="zh-CN" altLang="en-US" dirty="0">
              <a:latin typeface="+mn-ea"/>
            </a:endParaRPr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98BBD658-12F1-4C3F-A126-BE85BF1B3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1793360"/>
            <a:ext cx="5633891" cy="136991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3527A732-A1FF-4494-A663-2FDB3AE2E6C9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744072" y="1483017"/>
            <a:ext cx="1202647" cy="1369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66BBD89D-12C6-4AC9-9758-8F92F75E1931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040217" y="1988840"/>
            <a:ext cx="1296144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01A1C394-70F2-4869-81EF-22E88F511260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08368" y="2608832"/>
            <a:ext cx="1202489" cy="1468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9">
            <a:extLst>
              <a:ext uri="{FF2B5EF4-FFF2-40B4-BE49-F238E27FC236}">
                <a16:creationId xmlns:a16="http://schemas.microsoft.com/office/drawing/2014/main" id="{AAF4564E-B43B-42E3-B829-85E3587EE5FE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04512" y="3307326"/>
            <a:ext cx="1160291" cy="1345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AFF7918-54D0-B4A1-A9D5-34ED15A0EE46}"/>
              </a:ext>
            </a:extLst>
          </p:cNvPr>
          <p:cNvSpPr txBox="1"/>
          <p:nvPr/>
        </p:nvSpPr>
        <p:spPr>
          <a:xfrm>
            <a:off x="6744072" y="2420888"/>
            <a:ext cx="216024" cy="37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1</a:t>
            </a:r>
            <a:endParaRPr lang="zh-CN" altLang="en-US" sz="1800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61B808-0DB9-F944-3D50-A2FE93177D08}"/>
              </a:ext>
            </a:extLst>
          </p:cNvPr>
          <p:cNvSpPr txBox="1"/>
          <p:nvPr/>
        </p:nvSpPr>
        <p:spPr>
          <a:xfrm>
            <a:off x="8112224" y="3140968"/>
            <a:ext cx="216024" cy="37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2</a:t>
            </a:r>
            <a:endParaRPr lang="zh-CN" altLang="en-US" sz="1800" b="1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D818F6-9467-555C-27BC-6F917536FDA6}"/>
              </a:ext>
            </a:extLst>
          </p:cNvPr>
          <p:cNvSpPr txBox="1"/>
          <p:nvPr/>
        </p:nvSpPr>
        <p:spPr>
          <a:xfrm>
            <a:off x="9480376" y="3704341"/>
            <a:ext cx="216024" cy="37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3</a:t>
            </a:r>
            <a:endParaRPr lang="zh-CN" altLang="en-US" sz="1800" b="1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EB473A-357D-F293-E4D8-C173870BC543}"/>
              </a:ext>
            </a:extLst>
          </p:cNvPr>
          <p:cNvSpPr txBox="1"/>
          <p:nvPr/>
        </p:nvSpPr>
        <p:spPr>
          <a:xfrm>
            <a:off x="10704512" y="4280405"/>
            <a:ext cx="216024" cy="37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chemeClr val="bg1"/>
                </a:solidFill>
              </a:rPr>
              <a:t>4</a:t>
            </a:r>
            <a:endParaRPr lang="zh-CN" altLang="en-U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171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zh-CN" altLang="en-US" noProof="0" dirty="0"/>
              <a:t>安全网</a:t>
            </a:r>
            <a:endParaRPr lang="en-GB" noProof="0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4B176E4-EACA-F31E-EF8D-A395479BB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55600">
              <a:lnSpc>
                <a:spcPts val="2700"/>
              </a:lnSpc>
              <a:buFont typeface="Wingdings" panose="05000000000000000000" pitchFamily="2" charset="2"/>
              <a:buChar char="p"/>
              <a:tabLst>
                <a:tab pos="355600" algn="l"/>
              </a:tabLst>
            </a:pPr>
            <a:r>
              <a:rPr lang="zh-CN" altLang="en-US" sz="1600" dirty="0">
                <a:latin typeface="+mn-ea"/>
              </a:rPr>
              <a:t>安全网用来防止人、物坠落或用来避免、减轻坠落物击伤，保护高处作业人员和行人的安全以及维护作业现场整洁</a:t>
            </a:r>
            <a:endParaRPr lang="en-US" altLang="zh-CN" dirty="0">
              <a:latin typeface="+mn-ea"/>
            </a:endParaRPr>
          </a:p>
          <a:p>
            <a:pPr marL="355600" indent="-355600">
              <a:lnSpc>
                <a:spcPts val="2700"/>
              </a:lnSpc>
              <a:buFont typeface="Wingdings" panose="05000000000000000000" pitchFamily="2" charset="2"/>
              <a:buChar char="p"/>
              <a:tabLst>
                <a:tab pos="355600" algn="l"/>
              </a:tabLst>
            </a:pPr>
            <a:r>
              <a:rPr lang="zh-CN" altLang="en-US" sz="1600" dirty="0">
                <a:latin typeface="+mn-ea"/>
              </a:rPr>
              <a:t>分成平网、立网、密目式立网三类</a:t>
            </a:r>
            <a:endParaRPr lang="zh-CN" altLang="en-US" dirty="0">
              <a:latin typeface="+mn-ea"/>
            </a:endParaRPr>
          </a:p>
        </p:txBody>
      </p:sp>
      <p:pic>
        <p:nvPicPr>
          <p:cNvPr id="16" name="Picture 11">
            <a:extLst>
              <a:ext uri="{FF2B5EF4-FFF2-40B4-BE49-F238E27FC236}">
                <a16:creationId xmlns:a16="http://schemas.microsoft.com/office/drawing/2014/main" id="{DDFAA6A4-038C-4347-B256-8FCEABFD2750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84032" y="2873058"/>
            <a:ext cx="2880320" cy="2261901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F28C3D0-C746-498F-9FA2-456F6CE7D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680" y="2857148"/>
            <a:ext cx="2880320" cy="230004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140F870-4B9C-45BF-A9D1-FDD4D4B521E2}"/>
              </a:ext>
            </a:extLst>
          </p:cNvPr>
          <p:cNvSpPr txBox="1"/>
          <p:nvPr/>
        </p:nvSpPr>
        <p:spPr>
          <a:xfrm>
            <a:off x="9264352" y="2854150"/>
            <a:ext cx="2627637" cy="2284087"/>
          </a:xfrm>
          <a:prstGeom prst="rect">
            <a:avLst/>
          </a:prstGeom>
          <a:solidFill>
            <a:srgbClr val="E8E9EB"/>
          </a:solid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b="1" dirty="0"/>
              <a:t>立</a:t>
            </a:r>
            <a:r>
              <a:rPr lang="zh-CN" altLang="en-US" b="1" dirty="0"/>
              <a:t>网、密目式立网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dirty="0"/>
              <a:t>安装平面垂直于水平面，主要用于施工建筑物的外围防护，防止人员或物体坠落和刮风扬尘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sz="11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717E10-940E-44C7-AA94-B7885F995EA4}"/>
              </a:ext>
            </a:extLst>
          </p:cNvPr>
          <p:cNvSpPr txBox="1"/>
          <p:nvPr/>
        </p:nvSpPr>
        <p:spPr>
          <a:xfrm>
            <a:off x="441922" y="2873058"/>
            <a:ext cx="2773758" cy="22619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平网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安装平面平行于水平面，用来阻挡坠落的人和物，负载强度大于立网，不可用立网替代</a:t>
            </a:r>
            <a:endParaRPr lang="en-US" altLang="zh-CN" sz="1600" dirty="0"/>
          </a:p>
          <a:p>
            <a:pPr algn="ctr">
              <a:lnSpc>
                <a:spcPct val="150000"/>
              </a:lnSpc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53490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 dirty="0"/>
              <a:t>梯子使用安全</a:t>
            </a:r>
            <a:br>
              <a:rPr lang="en-US" altLang="zh-CN" noProof="0" dirty="0"/>
            </a:br>
            <a:r>
              <a:rPr lang="zh-CN" altLang="en-US" noProof="0" dirty="0">
                <a:solidFill>
                  <a:srgbClr val="00B0F0"/>
                </a:solidFill>
              </a:rPr>
              <a:t>示范</a:t>
            </a:r>
            <a:endParaRPr lang="en-GB" noProof="0" dirty="0">
              <a:solidFill>
                <a:srgbClr val="00B0F0"/>
              </a:solidFill>
            </a:endParaRPr>
          </a:p>
        </p:txBody>
      </p:sp>
      <p:pic>
        <p:nvPicPr>
          <p:cNvPr id="3" name="mmexport1636716902709">
            <a:hlinkClick r:id="" action="ppaction://media"/>
            <a:extLst>
              <a:ext uri="{FF2B5EF4-FFF2-40B4-BE49-F238E27FC236}">
                <a16:creationId xmlns:a16="http://schemas.microsoft.com/office/drawing/2014/main" id="{6F21577B-B067-F008-129E-CBC1E07F3B3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08168" y="1628800"/>
            <a:ext cx="3446584" cy="447601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A7BF99A-ACB0-B70B-FAD3-42C3FDD3C770}"/>
              </a:ext>
            </a:extLst>
          </p:cNvPr>
          <p:cNvSpPr txBox="1"/>
          <p:nvPr/>
        </p:nvSpPr>
        <p:spPr>
          <a:xfrm>
            <a:off x="2943292" y="5829417"/>
            <a:ext cx="3288385" cy="280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/>
              <a:t>错误的示范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CF0845C-9FDA-B0C1-F9A6-AB27694DF179}"/>
              </a:ext>
            </a:extLst>
          </p:cNvPr>
          <p:cNvGrpSpPr/>
          <p:nvPr/>
        </p:nvGrpSpPr>
        <p:grpSpPr>
          <a:xfrm>
            <a:off x="1487487" y="1511800"/>
            <a:ext cx="4716061" cy="4797520"/>
            <a:chOff x="3970597" y="1218713"/>
            <a:chExt cx="4922578" cy="5639287"/>
          </a:xfrm>
        </p:grpSpPr>
        <p:pic>
          <p:nvPicPr>
            <p:cNvPr id="7" name="Picture 7" descr="Picture1">
              <a:extLst>
                <a:ext uri="{FF2B5EF4-FFF2-40B4-BE49-F238E27FC236}">
                  <a16:creationId xmlns:a16="http://schemas.microsoft.com/office/drawing/2014/main" id="{F4E45177-8433-9D82-E89C-FD4E7BBF07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6513" y="1268413"/>
              <a:ext cx="3776662" cy="5589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9">
              <a:extLst>
                <a:ext uri="{FF2B5EF4-FFF2-40B4-BE49-F238E27FC236}">
                  <a16:creationId xmlns:a16="http://schemas.microsoft.com/office/drawing/2014/main" id="{303BC8EB-2CA0-58FF-19D3-E0C11685CA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974307" y="1940034"/>
              <a:ext cx="1033462" cy="960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2946508E-D7FC-2B42-B64A-25CC3AE1935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892801" y="1218713"/>
              <a:ext cx="1440562" cy="61057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82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200" b="1" dirty="0">
                  <a:ea typeface="SimSun" panose="02010600030101010101" pitchFamily="2" charset="-122"/>
                </a:rPr>
                <a:t>至少伸出1000毫米（通道用途）</a:t>
              </a:r>
            </a:p>
          </p:txBody>
        </p:sp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9AD2704A-B02B-37E5-164E-61F33372EE6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970597" y="1637578"/>
              <a:ext cx="693046" cy="2265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3600" tIns="3600" rIns="3600" bIns="36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200" b="1" dirty="0">
                  <a:ea typeface="SimSun" panose="02010600030101010101" pitchFamily="2" charset="-122"/>
                </a:rPr>
                <a:t>至少1米</a:t>
              </a:r>
            </a:p>
          </p:txBody>
        </p: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74616869-3F43-D718-38E2-5DE42549173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892801" y="1905000"/>
              <a:ext cx="1346200" cy="3717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82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200" b="1" dirty="0">
                  <a:ea typeface="SimSun" panose="02010600030101010101" pitchFamily="2" charset="-122"/>
                </a:rPr>
                <a:t>在顶部系固</a:t>
              </a:r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6252971F-78D8-799E-500A-BBA3A34E86F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334001" y="2819400"/>
              <a:ext cx="1721435" cy="61057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82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200" b="1">
                  <a:ea typeface="SimSun" panose="02010600030101010101" pitchFamily="2" charset="-122"/>
                </a:rPr>
                <a:t>在顶部时，把葫芦工具等等放在桶中</a:t>
              </a:r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EFB05E60-CF01-E527-BFEB-8438613935F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77051" y="3776107"/>
              <a:ext cx="1492836" cy="3717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82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200" b="1">
                  <a:ea typeface="SimSun" panose="02010600030101010101" pitchFamily="2" charset="-122"/>
                </a:rPr>
                <a:t>双手抓住栏杆</a:t>
              </a: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15B8BE11-ED9C-34E6-76D1-B6ACB487D3C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464845" y="4396211"/>
              <a:ext cx="1505041" cy="3717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82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200" b="1" dirty="0">
                  <a:ea typeface="SimSun" panose="02010600030101010101" pitchFamily="2" charset="-122"/>
                </a:rPr>
                <a:t>始终面向爬梯</a:t>
              </a:r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BC724655-F44A-2299-CFC4-508C7A5B606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111634" y="5077322"/>
              <a:ext cx="1943803" cy="61057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82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200" b="1" dirty="0">
                  <a:ea typeface="SimSun" panose="02010600030101010101" pitchFamily="2" charset="-122"/>
                </a:rPr>
                <a:t>在爬上之前，底部梯档上跳动，对爬梯进行测试</a:t>
              </a:r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7FAEC913-2C46-F66E-0515-EC12698F988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5101245" y="6248400"/>
              <a:ext cx="1470026" cy="3717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82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200" b="1" dirty="0">
                  <a:ea typeface="SimSun" panose="02010600030101010101" pitchFamily="2" charset="-122"/>
                </a:rPr>
                <a:t>对爬梯进行系固</a:t>
              </a:r>
            </a:p>
          </p:txBody>
        </p: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C68185A2-2316-52C2-752C-32DD2624040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8077200" y="4191000"/>
              <a:ext cx="609600" cy="3717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82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200" b="1" dirty="0">
                  <a:ea typeface="SimSun" panose="02010600030101010101" pitchFamily="2" charset="-122"/>
                </a:rPr>
                <a:t>向上4</a:t>
              </a:r>
            </a:p>
          </p:txBody>
        </p:sp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3B4D9432-5707-C0C4-0A89-F9A53E089F6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7342238" y="6280392"/>
              <a:ext cx="609600" cy="3717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82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200" b="1">
                  <a:ea typeface="SimSun" panose="02010600030101010101" pitchFamily="2" charset="-122"/>
                </a:rPr>
                <a:t>向外1</a:t>
              </a:r>
            </a:p>
          </p:txBody>
        </p: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AA4FC67B-5A5A-CF3C-50FE-16D04EF3692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7342238" y="5669819"/>
              <a:ext cx="1168299" cy="61057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82800" rIns="90000" bIns="46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200" b="1" dirty="0">
                  <a:ea typeface="SimSun" panose="02010600030101010101" pitchFamily="2" charset="-122"/>
                </a:rPr>
                <a:t>底部周围地面无障碍物</a:t>
              </a: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2AB5CA8D-0E7F-C03D-2D58-B7647040D96A}"/>
              </a:ext>
            </a:extLst>
          </p:cNvPr>
          <p:cNvSpPr txBox="1"/>
          <p:nvPr/>
        </p:nvSpPr>
        <p:spPr>
          <a:xfrm>
            <a:off x="235006" y="3673732"/>
            <a:ext cx="2265364" cy="343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踏步间距不得大于</a:t>
            </a:r>
            <a:r>
              <a:rPr lang="en-US" altLang="zh-CN" dirty="0">
                <a:solidFill>
                  <a:srgbClr val="FF0000"/>
                </a:solidFill>
              </a:rPr>
              <a:t>0.4m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59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5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B559A-44EE-9A0F-6CC1-EA294144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noProof="0" dirty="0"/>
              <a:t>事故案例分析 </a:t>
            </a:r>
            <a:r>
              <a:rPr lang="en-US" altLang="zh-CN" sz="2000" noProof="0" dirty="0"/>
              <a:t>-1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758648-AAD5-807A-40BD-01FDC8C87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4" y="1484313"/>
            <a:ext cx="9079010" cy="4897437"/>
          </a:xfrm>
        </p:spPr>
        <p:txBody>
          <a:bodyPr/>
          <a:lstStyle/>
          <a:p>
            <a:pPr marL="0" indent="0">
              <a:lnSpc>
                <a:spcPts val="2200"/>
              </a:lnSpc>
              <a:buNone/>
            </a:pPr>
            <a:r>
              <a:rPr lang="zh-CN" altLang="en-US" sz="1600" dirty="0"/>
              <a:t>承包商更换仓库屋顶，林德的维修人员去检查屋顶空间的一些电缆线。他通过仓库内部进入屋顶，没有安全措施；踩在一块塑料屋瓦上，屋瓦破裂，从</a:t>
            </a:r>
            <a:r>
              <a:rPr lang="en-US" altLang="zh-CN" sz="1600" dirty="0"/>
              <a:t>6</a:t>
            </a:r>
            <a:r>
              <a:rPr lang="zh-CN" altLang="en-US" sz="1600" dirty="0"/>
              <a:t>米高的屋顶坠落，先撞到储物架然后摔到地上</a:t>
            </a:r>
            <a:r>
              <a:rPr lang="zh-CN" altLang="en-US" dirty="0"/>
              <a:t>，</a:t>
            </a:r>
            <a:r>
              <a:rPr lang="zh-CN" altLang="en-US" sz="1600" dirty="0"/>
              <a:t>几天后离世。</a:t>
            </a:r>
            <a:endParaRPr lang="en-US" altLang="zh-CN" dirty="0"/>
          </a:p>
          <a:p>
            <a:pPr lvl="1">
              <a:lnSpc>
                <a:spcPts val="2200"/>
              </a:lnSpc>
              <a:buFont typeface="LindeDaxPowerPoint" panose="020B0500000000020000" pitchFamily="34" charset="0"/>
              <a:buChar char="•"/>
            </a:pPr>
            <a:r>
              <a:rPr lang="zh-CN" altLang="en-US" dirty="0"/>
              <a:t>林德和承包商做了风险评估，签订了维修计划。但是，</a:t>
            </a:r>
            <a:r>
              <a:rPr lang="zh-CN" altLang="en-US" b="1" dirty="0"/>
              <a:t>计划存在缺陷</a:t>
            </a:r>
            <a:r>
              <a:rPr lang="zh-CN" altLang="en-US" dirty="0"/>
              <a:t>：</a:t>
            </a:r>
            <a:r>
              <a:rPr lang="en-GB" altLang="zh-CN" dirty="0"/>
              <a:t>  </a:t>
            </a:r>
          </a:p>
          <a:p>
            <a:pPr marL="876300" lvl="3" indent="-342900">
              <a:lnSpc>
                <a:spcPts val="2200"/>
              </a:lnSpc>
              <a:buFont typeface="+mj-lt"/>
              <a:buAutoNum type="arabicPeriod"/>
            </a:pPr>
            <a:r>
              <a:rPr lang="zh-CN" altLang="en-US" dirty="0"/>
              <a:t>没有在屋顶上行走的</a:t>
            </a:r>
            <a:r>
              <a:rPr lang="zh-CN" altLang="en-US" dirty="0">
                <a:solidFill>
                  <a:srgbClr val="00B0F0"/>
                </a:solidFill>
              </a:rPr>
              <a:t>安全规程</a:t>
            </a:r>
            <a:endParaRPr lang="en-GB" altLang="zh-CN" dirty="0">
              <a:solidFill>
                <a:srgbClr val="00B0F0"/>
              </a:solidFill>
            </a:endParaRPr>
          </a:p>
          <a:p>
            <a:pPr marL="876300" lvl="3" indent="-342900">
              <a:lnSpc>
                <a:spcPts val="2200"/>
              </a:lnSpc>
              <a:buFont typeface="+mj-lt"/>
              <a:buAutoNum type="arabicPeriod"/>
            </a:pPr>
            <a:r>
              <a:rPr lang="zh-CN" altLang="en-US" dirty="0"/>
              <a:t>缺乏</a:t>
            </a:r>
            <a:r>
              <a:rPr lang="zh-CN" altLang="en-US" dirty="0">
                <a:solidFill>
                  <a:srgbClr val="00B0F0"/>
                </a:solidFill>
              </a:rPr>
              <a:t>安全措施</a:t>
            </a:r>
            <a:r>
              <a:rPr lang="zh-CN" altLang="en-US" dirty="0"/>
              <a:t>，避免在屋顶上行走</a:t>
            </a:r>
            <a:r>
              <a:rPr lang="en-US" altLang="zh-CN" dirty="0"/>
              <a:t>/</a:t>
            </a:r>
            <a:r>
              <a:rPr lang="zh-CN" altLang="en-US" dirty="0"/>
              <a:t>移除屋瓦时的坠落风险</a:t>
            </a:r>
            <a:endParaRPr lang="en-GB" altLang="zh-CN" dirty="0"/>
          </a:p>
          <a:p>
            <a:pPr marL="876300" lvl="3" indent="-342900">
              <a:lnSpc>
                <a:spcPts val="2200"/>
              </a:lnSpc>
              <a:buFont typeface="+mj-lt"/>
              <a:buAutoNum type="arabicPeriod"/>
            </a:pPr>
            <a:r>
              <a:rPr lang="zh-CN" altLang="en-US" dirty="0"/>
              <a:t>确定使用安全带</a:t>
            </a:r>
            <a:r>
              <a:rPr lang="en-US" altLang="zh-CN" dirty="0"/>
              <a:t>/</a:t>
            </a:r>
            <a:r>
              <a:rPr lang="zh-CN" altLang="en-US" dirty="0"/>
              <a:t>救生索，但没有防止坠落（仅有防坠设备）</a:t>
            </a:r>
            <a:r>
              <a:rPr lang="zh-CN" altLang="en-US" dirty="0">
                <a:solidFill>
                  <a:srgbClr val="00B0F0"/>
                </a:solidFill>
              </a:rPr>
              <a:t>的意识</a:t>
            </a:r>
            <a:r>
              <a:rPr lang="zh-CN" altLang="en-US" dirty="0"/>
              <a:t>（发生坠落将潜在的受伤降到最低</a:t>
            </a:r>
            <a:endParaRPr lang="en-GB" altLang="zh-CN" dirty="0"/>
          </a:p>
          <a:p>
            <a:pPr marL="876300" lvl="3" indent="-342900">
              <a:lnSpc>
                <a:spcPts val="2200"/>
              </a:lnSpc>
              <a:buFont typeface="+mj-lt"/>
              <a:buAutoNum type="arabicPeriod"/>
            </a:pPr>
            <a:r>
              <a:rPr lang="zh-CN" altLang="en-US" dirty="0"/>
              <a:t>没有考虑作业期间对仓库内人员的</a:t>
            </a:r>
            <a:r>
              <a:rPr lang="zh-CN" altLang="en-US" dirty="0">
                <a:solidFill>
                  <a:srgbClr val="00B0F0"/>
                </a:solidFill>
              </a:rPr>
              <a:t>防护</a:t>
            </a:r>
            <a:r>
              <a:rPr lang="zh-CN" altLang="en-US" dirty="0"/>
              <a:t>（假如瓦片掉落）</a:t>
            </a:r>
            <a:endParaRPr lang="en-US" altLang="zh-CN" dirty="0"/>
          </a:p>
          <a:p>
            <a:pPr lvl="1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控制措施不足</a:t>
            </a:r>
            <a:endParaRPr lang="en-GB" altLang="zh-CN" b="1" dirty="0"/>
          </a:p>
          <a:p>
            <a:pPr lvl="2">
              <a:lnSpc>
                <a:spcPts val="2200"/>
              </a:lnSpc>
            </a:pPr>
            <a:r>
              <a:rPr lang="zh-CN" altLang="en-US" dirty="0"/>
              <a:t>工作许可证基于每周签发，对作业的监督不足</a:t>
            </a:r>
            <a:endParaRPr lang="en-US" altLang="zh-CN" dirty="0"/>
          </a:p>
          <a:p>
            <a:pPr lvl="2">
              <a:lnSpc>
                <a:spcPts val="2200"/>
              </a:lnSpc>
            </a:pPr>
            <a:r>
              <a:rPr lang="zh-CN" altLang="en-US" dirty="0"/>
              <a:t>有验证（仅由</a:t>
            </a:r>
            <a:r>
              <a:rPr lang="en-US" altLang="zh-CN" dirty="0"/>
              <a:t>SHEQ</a:t>
            </a:r>
            <a:r>
              <a:rPr lang="zh-CN" altLang="en-US" dirty="0"/>
              <a:t>人员做两次），记录为零（不符合项）</a:t>
            </a:r>
            <a:endParaRPr lang="en-US" altLang="zh-CN" dirty="0"/>
          </a:p>
          <a:p>
            <a:pPr lvl="2">
              <a:lnSpc>
                <a:spcPts val="2200"/>
              </a:lnSpc>
            </a:pPr>
            <a:r>
              <a:rPr lang="zh-CN" alt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上月</a:t>
            </a:r>
            <a:r>
              <a:rPr lang="zh-CN" altLang="en-US" dirty="0"/>
              <a:t>发生过一起类似事故，没有报告、没有提示即刻停止作业、并在开始前对风险控制措施进行评审（</a:t>
            </a:r>
            <a:r>
              <a:rPr lang="zh-CN" altLang="en-US" sz="1400" dirty="0"/>
              <a:t>潜在重伤或死亡事故</a:t>
            </a:r>
            <a:r>
              <a:rPr lang="en-US" altLang="zh-CN" sz="1400" dirty="0"/>
              <a:t>-</a:t>
            </a:r>
            <a:r>
              <a:rPr lang="zh-CN" altLang="en-US" sz="1400" dirty="0"/>
              <a:t>一名承包商从屋顶坠落到地面，佩戴着安全带。发现时他在地上，没有受伤</a:t>
            </a:r>
            <a:r>
              <a:rPr lang="en-US" altLang="zh-CN" sz="1400" dirty="0"/>
              <a:t>)</a:t>
            </a:r>
          </a:p>
          <a:p>
            <a:pPr>
              <a:lnSpc>
                <a:spcPts val="2200"/>
              </a:lnSpc>
            </a:pPr>
            <a:endParaRPr lang="zh-CN" altLang="en-US" dirty="0"/>
          </a:p>
        </p:txBody>
      </p:sp>
      <p:pic>
        <p:nvPicPr>
          <p:cNvPr id="10" name="Picture 3" descr="C:\Users\uk04a7\AppData\Local\Temp\notes0FBC0F\20161202_145614.jpg">
            <a:extLst>
              <a:ext uri="{FF2B5EF4-FFF2-40B4-BE49-F238E27FC236}">
                <a16:creationId xmlns:a16="http://schemas.microsoft.com/office/drawing/2014/main" id="{BCA504C2-C595-5BCC-B254-FC269651F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52384" y="1556792"/>
            <a:ext cx="2303562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4EF9409E-05ED-C98C-803B-E1D34593F1D5}"/>
              </a:ext>
            </a:extLst>
          </p:cNvPr>
          <p:cNvSpPr txBox="1"/>
          <p:nvPr/>
        </p:nvSpPr>
        <p:spPr>
          <a:xfrm>
            <a:off x="10132241" y="1605166"/>
            <a:ext cx="113762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200" b="1" dirty="0">
                <a:solidFill>
                  <a:schemeClr val="bg1"/>
                </a:solidFill>
              </a:rPr>
              <a:t>屋顶入口处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12" name="Up Arrow 2">
            <a:extLst>
              <a:ext uri="{FF2B5EF4-FFF2-40B4-BE49-F238E27FC236}">
                <a16:creationId xmlns:a16="http://schemas.microsoft.com/office/drawing/2014/main" id="{49E93C8E-4381-DD35-FDFC-2ACB9F2B91A3}"/>
              </a:ext>
            </a:extLst>
          </p:cNvPr>
          <p:cNvSpPr/>
          <p:nvPr/>
        </p:nvSpPr>
        <p:spPr bwMode="auto">
          <a:xfrm>
            <a:off x="11144363" y="1713295"/>
            <a:ext cx="240165" cy="215691"/>
          </a:xfrm>
          <a:prstGeom prst="upArrow">
            <a:avLst/>
          </a:prstGeom>
          <a:solidFill>
            <a:srgbClr val="FF0000"/>
          </a:solidFill>
          <a:ln w="6350" cap="flat" cmpd="sng" algn="ctr">
            <a:solidFill>
              <a:schemeClr val="tx2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</a:bodyPr>
          <a:lstStyle/>
          <a:p>
            <a:pPr marL="266700" indent="-266700">
              <a:buFont typeface="LindeDaxPowerPoint" pitchFamily="34" charset="0"/>
              <a:buChar char="—"/>
            </a:pPr>
            <a:endParaRPr lang="en-GB" sz="1200" dirty="0" err="1"/>
          </a:p>
        </p:txBody>
      </p:sp>
    </p:spTree>
    <p:extLst>
      <p:ext uri="{BB962C8B-B14F-4D97-AF65-F5344CB8AC3E}">
        <p14:creationId xmlns:p14="http://schemas.microsoft.com/office/powerpoint/2010/main" val="528404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B559A-44EE-9A0F-6CC1-EA294144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noProof="0" dirty="0"/>
              <a:t>事故案例</a:t>
            </a:r>
            <a:r>
              <a:rPr lang="zh-CN" altLang="en-US" dirty="0"/>
              <a:t>分析 </a:t>
            </a:r>
            <a:r>
              <a:rPr lang="en-US" altLang="zh-CN" dirty="0"/>
              <a:t>-2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758648-AAD5-807A-40BD-01FDC8C87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lnSpc>
                <a:spcPts val="2700"/>
              </a:lnSpc>
              <a:spcAft>
                <a:spcPts val="0"/>
              </a:spcAft>
              <a:buNone/>
            </a:pPr>
            <a:r>
              <a:rPr lang="en-US" altLang="zh-CN" dirty="0">
                <a:latin typeface="+mn-ea"/>
                <a:ea typeface="+mn-ea"/>
              </a:rPr>
              <a:t>2012</a:t>
            </a:r>
            <a:r>
              <a:rPr lang="zh-CN" altLang="en-US" dirty="0">
                <a:latin typeface="+mn-ea"/>
                <a:ea typeface="+mn-ea"/>
              </a:rPr>
              <a:t>年</a:t>
            </a:r>
            <a:r>
              <a:rPr lang="zh-CN" altLang="en-GB" dirty="0">
                <a:latin typeface="+mn-ea"/>
                <a:ea typeface="+mn-ea"/>
              </a:rPr>
              <a:t>巴西钢瓶配送中心，</a:t>
            </a:r>
            <a:r>
              <a:rPr lang="zh-CN" altLang="en-US" dirty="0">
                <a:latin typeface="+mn-ea"/>
                <a:ea typeface="+mn-ea"/>
              </a:rPr>
              <a:t>一名电工（员工</a:t>
            </a:r>
            <a:r>
              <a:rPr lang="en-US" altLang="zh-CN" dirty="0">
                <a:latin typeface="+mn-ea"/>
                <a:ea typeface="+mn-ea"/>
              </a:rPr>
              <a:t>）</a:t>
            </a:r>
            <a:r>
              <a:rPr lang="zh-CN" altLang="en-US" dirty="0">
                <a:latin typeface="+mn-ea"/>
                <a:ea typeface="+mn-ea"/>
              </a:rPr>
              <a:t>在使用爬梯进行维修作业时坠落（</a:t>
            </a:r>
            <a:r>
              <a:rPr lang="en-US" altLang="zh-CN" dirty="0">
                <a:latin typeface="+mn-ea"/>
                <a:ea typeface="+mn-ea"/>
              </a:rPr>
              <a:t>2</a:t>
            </a:r>
            <a:r>
              <a:rPr lang="zh-CN" altLang="en-US" dirty="0">
                <a:latin typeface="+mn-ea"/>
                <a:ea typeface="+mn-ea"/>
              </a:rPr>
              <a:t>米高）。</a:t>
            </a:r>
            <a:r>
              <a:rPr lang="zh-CN" altLang="en-GB" dirty="0">
                <a:latin typeface="+mn-ea"/>
                <a:ea typeface="+mn-ea"/>
              </a:rPr>
              <a:t>前臂</a:t>
            </a:r>
            <a:r>
              <a:rPr lang="zh-TW" altLang="en-GB" dirty="0">
                <a:latin typeface="+mn-ea"/>
                <a:ea typeface="+mn-ea"/>
              </a:rPr>
              <a:t>/</a:t>
            </a:r>
            <a:r>
              <a:rPr lang="zh-CN" altLang="en-GB" dirty="0">
                <a:latin typeface="+mn-ea"/>
                <a:ea typeface="+mn-ea"/>
              </a:rPr>
              <a:t>腕部骨折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GB" dirty="0">
                <a:latin typeface="+mn-ea"/>
                <a:ea typeface="+mn-ea"/>
              </a:rPr>
              <a:t>头部（眼上方）轻伤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GB" dirty="0">
                <a:latin typeface="+mn-ea"/>
                <a:ea typeface="+mn-ea"/>
              </a:rPr>
              <a:t>75天无法工作</a:t>
            </a:r>
            <a:r>
              <a:rPr lang="zh-CN" altLang="en-US" dirty="0">
                <a:latin typeface="+mn-ea"/>
                <a:ea typeface="+mn-ea"/>
              </a:rPr>
              <a:t>。</a:t>
            </a:r>
            <a:endParaRPr lang="en-US" altLang="zh-CN" dirty="0">
              <a:latin typeface="+mn-ea"/>
              <a:ea typeface="+mn-ea"/>
            </a:endParaRPr>
          </a:p>
          <a:p>
            <a:pPr marL="0" lvl="1" indent="0">
              <a:lnSpc>
                <a:spcPts val="2700"/>
              </a:lnSpc>
              <a:spcAft>
                <a:spcPts val="0"/>
              </a:spcAft>
              <a:buNone/>
            </a:pPr>
            <a:endParaRPr lang="en-US" altLang="zh-TW" dirty="0">
              <a:latin typeface="+mn-ea"/>
              <a:ea typeface="+mn-ea"/>
            </a:endParaRPr>
          </a:p>
          <a:p>
            <a:pPr marL="0" lvl="1" indent="0">
              <a:lnSpc>
                <a:spcPts val="2700"/>
              </a:lnSpc>
              <a:spcAft>
                <a:spcPts val="0"/>
              </a:spcAft>
              <a:buNone/>
            </a:pPr>
            <a:r>
              <a:rPr lang="zh-CN" altLang="en-US" b="1" dirty="0">
                <a:latin typeface="+mn-ea"/>
                <a:ea typeface="+mn-ea"/>
              </a:rPr>
              <a:t>调查结果</a:t>
            </a:r>
            <a:endParaRPr lang="en-US" altLang="zh-TW" b="1" dirty="0">
              <a:latin typeface="+mn-ea"/>
              <a:ea typeface="+mn-ea"/>
            </a:endParaRPr>
          </a:p>
          <a:p>
            <a:pPr lvl="2">
              <a:lnSpc>
                <a:spcPct val="10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GB" dirty="0">
                <a:latin typeface="+mn-ea"/>
              </a:rPr>
              <a:t>没有正确地使用爬梯</a:t>
            </a:r>
            <a:endParaRPr lang="zh-TW" altLang="en-GB" dirty="0">
              <a:latin typeface="+mn-ea"/>
            </a:endParaRPr>
          </a:p>
          <a:p>
            <a:pPr lvl="3">
              <a:lnSpc>
                <a:spcPct val="10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TW" altLang="en-GB" dirty="0">
                <a:latin typeface="+mn-ea"/>
              </a:rPr>
              <a:t> </a:t>
            </a:r>
            <a:r>
              <a:rPr lang="zh-CN" altLang="en-GB" dirty="0">
                <a:latin typeface="+mn-ea"/>
              </a:rPr>
              <a:t>没有对爬梯顶部进行系固</a:t>
            </a:r>
            <a:endParaRPr lang="zh-TW" altLang="en-GB" dirty="0">
              <a:latin typeface="+mn-ea"/>
            </a:endParaRPr>
          </a:p>
          <a:p>
            <a:pPr lvl="3">
              <a:lnSpc>
                <a:spcPct val="10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TW" altLang="en-GB" dirty="0">
                <a:latin typeface="+mn-ea"/>
              </a:rPr>
              <a:t> </a:t>
            </a:r>
            <a:r>
              <a:rPr lang="zh-CN" altLang="en-GB" dirty="0">
                <a:latin typeface="+mn-ea"/>
              </a:rPr>
              <a:t>爬梯定位不当</a:t>
            </a:r>
            <a:endParaRPr lang="zh-TW" altLang="en-GB" dirty="0">
              <a:latin typeface="+mn-ea"/>
            </a:endParaRPr>
          </a:p>
          <a:p>
            <a:pPr lvl="2">
              <a:lnSpc>
                <a:spcPct val="10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GB" dirty="0">
                <a:latin typeface="+mn-ea"/>
              </a:rPr>
              <a:t>作业许可证系统存在缺陷</a:t>
            </a:r>
            <a:endParaRPr lang="zh-TW" altLang="en-GB" dirty="0">
              <a:latin typeface="+mn-ea"/>
            </a:endParaRPr>
          </a:p>
          <a:p>
            <a:pPr lvl="3">
              <a:lnSpc>
                <a:spcPct val="10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zh-TW" altLang="en-GB" dirty="0">
                <a:latin typeface="+mn-ea"/>
              </a:rPr>
              <a:t> </a:t>
            </a:r>
            <a:r>
              <a:rPr lang="zh-CN" altLang="en-GB" dirty="0">
                <a:latin typeface="+mn-ea"/>
              </a:rPr>
              <a:t>缺乏监督</a:t>
            </a:r>
            <a:endParaRPr lang="zh-TW" altLang="en-GB" dirty="0">
              <a:latin typeface="+mn-ea"/>
            </a:endParaRPr>
          </a:p>
          <a:p>
            <a:pPr lvl="3">
              <a:lnSpc>
                <a:spcPct val="10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GB" altLang="zh-TW" dirty="0">
                <a:latin typeface="+mn-ea"/>
              </a:rPr>
              <a:t> </a:t>
            </a:r>
            <a:r>
              <a:rPr lang="zh-CN" altLang="en-GB" dirty="0">
                <a:latin typeface="+mn-ea"/>
              </a:rPr>
              <a:t>缺乏风险评估</a:t>
            </a:r>
            <a:endParaRPr lang="en-GB" altLang="zh-TW" dirty="0">
              <a:latin typeface="+mn-ea"/>
              <a:ea typeface="+mn-ea"/>
            </a:endParaRPr>
          </a:p>
          <a:p>
            <a:pPr lvl="1">
              <a:lnSpc>
                <a:spcPts val="2200"/>
              </a:lnSpc>
              <a:buFont typeface="LindeDaxPowerPoint" panose="020B0500000000020000" pitchFamily="34" charset="0"/>
              <a:buChar char="•"/>
            </a:pPr>
            <a:endParaRPr lang="en-US" altLang="zh-CN" dirty="0"/>
          </a:p>
          <a:p>
            <a:pPr>
              <a:lnSpc>
                <a:spcPts val="2200"/>
              </a:lnSpc>
            </a:pPr>
            <a:endParaRPr lang="zh-CN" altLang="en-US" dirty="0"/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F107D75E-D229-9C81-4466-C58A49621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7824192" y="2636912"/>
            <a:ext cx="3094816" cy="3059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4952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DDBD4DFA-14B2-4B15-95F4-D7C0A90AE9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事故案例分析 </a:t>
            </a:r>
            <a:r>
              <a:rPr lang="en-US" altLang="zh-CN" dirty="0"/>
              <a:t>-3</a:t>
            </a:r>
            <a:endParaRPr lang="en-GB" altLang="zh-TW" dirty="0"/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00686370-3C41-47CB-9A83-15259D94B4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lnSpc>
                <a:spcPts val="2700"/>
              </a:lnSpc>
              <a:spcAft>
                <a:spcPts val="0"/>
              </a:spcAft>
              <a:buNone/>
            </a:pPr>
            <a:r>
              <a:rPr lang="en-US" altLang="zh-CN" dirty="0">
                <a:latin typeface="+mn-ea"/>
                <a:ea typeface="+mn-ea"/>
              </a:rPr>
              <a:t>2012</a:t>
            </a:r>
            <a:r>
              <a:rPr lang="zh-CN" altLang="en-US" dirty="0">
                <a:latin typeface="+mn-ea"/>
                <a:ea typeface="+mn-ea"/>
              </a:rPr>
              <a:t>年9月</a:t>
            </a:r>
            <a:r>
              <a:rPr lang="zh-CN" altLang="en-GB" dirty="0">
                <a:latin typeface="+mn-ea"/>
                <a:ea typeface="+mn-ea"/>
              </a:rPr>
              <a:t>一个</a:t>
            </a:r>
            <a:r>
              <a:rPr lang="zh-TW" altLang="en-GB" dirty="0">
                <a:latin typeface="+mn-ea"/>
                <a:ea typeface="+mn-ea"/>
              </a:rPr>
              <a:t>生产现场</a:t>
            </a:r>
            <a:r>
              <a:rPr lang="zh-CN" altLang="en-US" dirty="0">
                <a:latin typeface="+mn-ea"/>
                <a:ea typeface="+mn-ea"/>
              </a:rPr>
              <a:t>，</a:t>
            </a:r>
            <a:r>
              <a:rPr lang="zh-CN" altLang="en-GB" dirty="0">
                <a:latin typeface="+mn-ea"/>
                <a:ea typeface="+mn-ea"/>
              </a:rPr>
              <a:t>一名承包商使用</a:t>
            </a:r>
            <a:r>
              <a:rPr lang="en-US" altLang="zh-CN" dirty="0" err="1">
                <a:latin typeface="+mn-ea"/>
                <a:ea typeface="+mn-ea"/>
              </a:rPr>
              <a:t>爬梯</a:t>
            </a:r>
            <a:r>
              <a:rPr lang="zh-CN" altLang="en-US" dirty="0">
                <a:latin typeface="+mn-ea"/>
                <a:ea typeface="+mn-ea"/>
              </a:rPr>
              <a:t>爬到办公室屋顶上，准备安装闭路电视系统。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没有对爬梯底部或顶部进行系固爬梯。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当他从爬梯顶部下来时，爬梯向后滑动，他抱着爬梯从3米的高度上坠落，造成</a:t>
            </a:r>
            <a:r>
              <a:rPr lang="zh-CN" altLang="en-GB" dirty="0">
                <a:latin typeface="+mn-ea"/>
                <a:ea typeface="+mn-ea"/>
              </a:rPr>
              <a:t>肩部脱位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GB" dirty="0">
                <a:latin typeface="+mn-ea"/>
                <a:ea typeface="+mn-ea"/>
              </a:rPr>
              <a:t>骨盆骨折</a:t>
            </a:r>
            <a:r>
              <a:rPr lang="zh-CN" altLang="en-US" dirty="0">
                <a:latin typeface="+mn-ea"/>
                <a:ea typeface="+mn-ea"/>
              </a:rPr>
              <a:t>。</a:t>
            </a:r>
            <a:endParaRPr lang="en-US" altLang="zh-CN" dirty="0">
              <a:latin typeface="+mn-ea"/>
              <a:ea typeface="+mn-ea"/>
            </a:endParaRPr>
          </a:p>
          <a:p>
            <a:pPr marL="0" lvl="1" indent="0">
              <a:lnSpc>
                <a:spcPts val="2700"/>
              </a:lnSpc>
              <a:spcAft>
                <a:spcPts val="0"/>
              </a:spcAft>
              <a:buNone/>
            </a:pPr>
            <a:endParaRPr lang="en-US" altLang="zh-TW" dirty="0">
              <a:latin typeface="+mn-ea"/>
              <a:ea typeface="+mn-ea"/>
            </a:endParaRPr>
          </a:p>
          <a:p>
            <a:pPr marL="0" lvl="1" indent="0">
              <a:lnSpc>
                <a:spcPts val="2700"/>
              </a:lnSpc>
              <a:spcAft>
                <a:spcPts val="0"/>
              </a:spcAft>
              <a:buNone/>
            </a:pPr>
            <a:r>
              <a:rPr lang="zh-CN" altLang="en-US" b="1" dirty="0">
                <a:latin typeface="+mn-ea"/>
                <a:ea typeface="+mn-ea"/>
              </a:rPr>
              <a:t>调查结果</a:t>
            </a:r>
            <a:endParaRPr lang="en-US" altLang="zh-TW" dirty="0">
              <a:latin typeface="+mn-ea"/>
              <a:ea typeface="+mn-ea"/>
            </a:endParaRPr>
          </a:p>
          <a:p>
            <a:pPr lvl="2">
              <a:lnSpc>
                <a:spcPct val="100000"/>
              </a:lnSpc>
              <a:spcBef>
                <a:spcPct val="50000"/>
              </a:spcBef>
              <a:buNone/>
            </a:pPr>
            <a:r>
              <a:rPr lang="zh-CN" altLang="en-US" dirty="0">
                <a:latin typeface="Segoe UI Symbol" panose="020B0502040204020203" pitchFamily="34" charset="0"/>
              </a:rPr>
              <a:t>⮚</a:t>
            </a:r>
            <a:r>
              <a:rPr lang="zh-CN" altLang="en-GB" dirty="0">
                <a:latin typeface="+mn-ea"/>
              </a:rPr>
              <a:t>承包商管理</a:t>
            </a:r>
            <a:r>
              <a:rPr lang="zh-CN" altLang="en-US" dirty="0">
                <a:latin typeface="+mn-ea"/>
              </a:rPr>
              <a:t>不到位</a:t>
            </a:r>
            <a:r>
              <a:rPr lang="zh-CN" altLang="en-GB" dirty="0">
                <a:latin typeface="+mn-ea"/>
              </a:rPr>
              <a:t> </a:t>
            </a:r>
            <a:endParaRPr lang="en-US" altLang="zh-CN" dirty="0">
              <a:latin typeface="+mn-ea"/>
            </a:endParaRPr>
          </a:p>
          <a:p>
            <a:pPr lvl="3">
              <a:lnSpc>
                <a:spcPct val="10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   </a:t>
            </a:r>
            <a:r>
              <a:rPr lang="zh-CN" altLang="en-GB" dirty="0">
                <a:latin typeface="+mn-ea"/>
              </a:rPr>
              <a:t>工作人员</a:t>
            </a:r>
            <a:r>
              <a:rPr lang="zh-CN" altLang="en-US" dirty="0">
                <a:latin typeface="+mn-ea"/>
              </a:rPr>
              <a:t>使用</a:t>
            </a:r>
            <a:r>
              <a:rPr lang="zh-CN" altLang="en-GB" dirty="0">
                <a:latin typeface="+mn-ea"/>
              </a:rPr>
              <a:t>爬梯的培训</a:t>
            </a:r>
            <a:r>
              <a:rPr lang="zh-CN" altLang="en-US" dirty="0">
                <a:latin typeface="+mn-ea"/>
              </a:rPr>
              <a:t>缺失；</a:t>
            </a:r>
            <a:r>
              <a:rPr lang="zh-CN" altLang="en-GB" dirty="0">
                <a:latin typeface="+mn-ea"/>
              </a:rPr>
              <a:t>经理没有认识到高处作业风险</a:t>
            </a:r>
            <a:endParaRPr lang="zh-TW" altLang="en-GB" dirty="0">
              <a:latin typeface="+mn-ea"/>
            </a:endParaRPr>
          </a:p>
          <a:p>
            <a:pPr marL="361950" lvl="2" indent="0">
              <a:lnSpc>
                <a:spcPct val="100000"/>
              </a:lnSpc>
              <a:spcBef>
                <a:spcPct val="50000"/>
              </a:spcBef>
              <a:buNone/>
            </a:pPr>
            <a:r>
              <a:rPr lang="zh-CN" altLang="en-US" dirty="0">
                <a:latin typeface="Segoe UI Symbol" panose="020B0502040204020203" pitchFamily="34" charset="0"/>
              </a:rPr>
              <a:t>⮚</a:t>
            </a:r>
            <a:r>
              <a:rPr lang="zh-CN" altLang="en-GB" dirty="0">
                <a:latin typeface="+mn-ea"/>
              </a:rPr>
              <a:t>作业许可证</a:t>
            </a:r>
            <a:r>
              <a:rPr lang="zh-CN" altLang="en-US" dirty="0">
                <a:latin typeface="+mn-ea"/>
              </a:rPr>
              <a:t>制度执行不到位</a:t>
            </a:r>
            <a:endParaRPr lang="zh-TW" altLang="en-GB" dirty="0">
              <a:latin typeface="+mn-ea"/>
            </a:endParaRPr>
          </a:p>
          <a:p>
            <a:pPr marL="361950" lvl="2" indent="0">
              <a:lnSpc>
                <a:spcPct val="100000"/>
              </a:lnSpc>
              <a:spcBef>
                <a:spcPct val="50000"/>
              </a:spcBef>
              <a:buNone/>
            </a:pPr>
            <a:r>
              <a:rPr lang="en-GB" altLang="zh-TW" dirty="0">
                <a:latin typeface="Segoe UI Symbol" panose="020B0502040204020203" pitchFamily="34" charset="0"/>
                <a:ea typeface="Segoe UI Symbol" panose="020B0502040204020203" pitchFamily="34" charset="0"/>
              </a:rPr>
              <a:t>⮚</a:t>
            </a:r>
            <a:r>
              <a:rPr lang="zh-CN" altLang="en-GB" dirty="0">
                <a:latin typeface="+mn-ea"/>
              </a:rPr>
              <a:t>没有进行工作安全分析</a:t>
            </a:r>
            <a:endParaRPr lang="en-GB" altLang="zh-TW" dirty="0">
              <a:latin typeface="+mn-ea"/>
            </a:endParaRPr>
          </a:p>
          <a:p>
            <a:pPr marL="0" lvl="1" indent="0">
              <a:lnSpc>
                <a:spcPts val="2700"/>
              </a:lnSpc>
              <a:spcAft>
                <a:spcPts val="0"/>
              </a:spcAft>
              <a:buNone/>
            </a:pPr>
            <a:endParaRPr lang="zh-TW" altLang="en-GB" dirty="0">
              <a:latin typeface="+mn-ea"/>
              <a:ea typeface="+mn-ea"/>
            </a:endParaRPr>
          </a:p>
        </p:txBody>
      </p:sp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43D7D16A-C522-4537-ABF5-18D9096CFAB3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43663"/>
            <a:ext cx="7983538" cy="252412"/>
          </a:xfrm>
        </p:spPr>
        <p:txBody>
          <a:bodyPr/>
          <a:lstStyle/>
          <a:p>
            <a:r>
              <a:rPr lang="en-GB" altLang="zh-TW" dirty="0"/>
              <a:t>   </a:t>
            </a:r>
            <a:endParaRPr lang="zh-TW" altLang="en-GB" dirty="0"/>
          </a:p>
        </p:txBody>
      </p:sp>
      <p:grpSp>
        <p:nvGrpSpPr>
          <p:cNvPr id="204805" name="Group 5">
            <a:extLst>
              <a:ext uri="{FF2B5EF4-FFF2-40B4-BE49-F238E27FC236}">
                <a16:creationId xmlns:a16="http://schemas.microsoft.com/office/drawing/2014/main" id="{99044D3C-D4F9-482C-9C37-51C51E21EBC2}"/>
              </a:ext>
            </a:extLst>
          </p:cNvPr>
          <p:cNvGrpSpPr>
            <a:grpSpLocks/>
          </p:cNvGrpSpPr>
          <p:nvPr/>
        </p:nvGrpSpPr>
        <p:grpSpPr bwMode="auto">
          <a:xfrm>
            <a:off x="8336757" y="3034042"/>
            <a:ext cx="3008313" cy="2303462"/>
            <a:chOff x="1656" y="1093"/>
            <a:chExt cx="1486" cy="1115"/>
          </a:xfrm>
        </p:grpSpPr>
        <p:pic>
          <p:nvPicPr>
            <p:cNvPr id="204806" name="Picture 6" descr="IMG-20120918-00015">
              <a:extLst>
                <a:ext uri="{FF2B5EF4-FFF2-40B4-BE49-F238E27FC236}">
                  <a16:creationId xmlns:a16="http://schemas.microsoft.com/office/drawing/2014/main" id="{F8141B43-BDA8-4855-BA08-C3918CB57D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6" y="1093"/>
              <a:ext cx="1486" cy="111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</p:pic>
        <p:sp>
          <p:nvSpPr>
            <p:cNvPr id="204807" name="AutoShape 7">
              <a:extLst>
                <a:ext uri="{FF2B5EF4-FFF2-40B4-BE49-F238E27FC236}">
                  <a16:creationId xmlns:a16="http://schemas.microsoft.com/office/drawing/2014/main" id="{B78EBC9B-6E20-4447-9C7C-E7C478249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6" y="1958"/>
              <a:ext cx="190" cy="118"/>
            </a:xfrm>
            <a:prstGeom prst="curvedRightArrow">
              <a:avLst>
                <a:gd name="adj1" fmla="val 20000"/>
                <a:gd name="adj2" fmla="val 40000"/>
                <a:gd name="adj3" fmla="val 53672"/>
              </a:avLst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08" name="AutoShape 8">
              <a:extLst>
                <a:ext uri="{FF2B5EF4-FFF2-40B4-BE49-F238E27FC236}">
                  <a16:creationId xmlns:a16="http://schemas.microsoft.com/office/drawing/2014/main" id="{8D6AADF4-63A3-461A-B228-745B1BDF14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673352">
              <a:off x="2622" y="2035"/>
              <a:ext cx="252" cy="131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09" name="AutoShape 9">
              <a:extLst>
                <a:ext uri="{FF2B5EF4-FFF2-40B4-BE49-F238E27FC236}">
                  <a16:creationId xmlns:a16="http://schemas.microsoft.com/office/drawing/2014/main" id="{22F22D5C-C62D-4845-A93A-B2CAD0001A8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51" y="1167"/>
              <a:ext cx="249" cy="144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10" name="Text Box 10">
              <a:extLst>
                <a:ext uri="{FF2B5EF4-FFF2-40B4-BE49-F238E27FC236}">
                  <a16:creationId xmlns:a16="http://schemas.microsoft.com/office/drawing/2014/main" id="{D7461724-82D7-4EB4-9D7E-2F9A4B17F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6" y="1990"/>
              <a:ext cx="130" cy="1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1000" b="1">
                  <a:solidFill>
                    <a:schemeClr val="bg1"/>
                  </a:solidFill>
                  <a:cs typeface="Arial" panose="020B0604020202020204" pitchFamily="34" charset="0"/>
                </a:rPr>
                <a:t>1</a:t>
              </a:r>
              <a:endParaRPr lang="el-GR" altLang="zh-CN" sz="1000" b="1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04811" name="Text Box 11">
              <a:extLst>
                <a:ext uri="{FF2B5EF4-FFF2-40B4-BE49-F238E27FC236}">
                  <a16:creationId xmlns:a16="http://schemas.microsoft.com/office/drawing/2014/main" id="{52A9C6DB-9E55-4C28-8CA0-B34D1C181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2" y="2038"/>
              <a:ext cx="130" cy="1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1000" b="1">
                  <a:solidFill>
                    <a:schemeClr val="bg1"/>
                  </a:solidFill>
                  <a:cs typeface="Arial" panose="020B0604020202020204" pitchFamily="34" charset="0"/>
                </a:rPr>
                <a:t>2</a:t>
              </a:r>
              <a:endParaRPr lang="el-GR" altLang="zh-CN" sz="1000" b="1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04812" name="Text Box 12">
              <a:extLst>
                <a:ext uri="{FF2B5EF4-FFF2-40B4-BE49-F238E27FC236}">
                  <a16:creationId xmlns:a16="http://schemas.microsoft.com/office/drawing/2014/main" id="{6BE0ABF2-2762-4D05-9B37-D71AF1FCFC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0" y="1126"/>
              <a:ext cx="130" cy="1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1000" b="1">
                  <a:solidFill>
                    <a:schemeClr val="bg1"/>
                  </a:solidFill>
                  <a:cs typeface="Arial" panose="020B0604020202020204" pitchFamily="34" charset="0"/>
                </a:rPr>
                <a:t>3</a:t>
              </a:r>
              <a:endParaRPr lang="el-GR" altLang="zh-CN" sz="1000" b="1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>
            <a:extLst>
              <a:ext uri="{FF2B5EF4-FFF2-40B4-BE49-F238E27FC236}">
                <a16:creationId xmlns:a16="http://schemas.microsoft.com/office/drawing/2014/main" id="{295BE18D-6BBF-4659-B797-01A21F64A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事故案例分析 </a:t>
            </a:r>
            <a:r>
              <a:rPr lang="en-US" altLang="zh-CN" dirty="0"/>
              <a:t>-4</a:t>
            </a:r>
            <a:endParaRPr lang="en-GB" altLang="zh-TW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52452F-7B0D-828C-A3C2-A9FE9E605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700"/>
              </a:lnSpc>
              <a:spcAft>
                <a:spcPts val="0"/>
              </a:spcAft>
              <a:buNone/>
              <a:tabLst/>
            </a:pPr>
            <a:r>
              <a:rPr lang="en-US" altLang="zh-CN" dirty="0">
                <a:latin typeface="+mn-ea"/>
              </a:rPr>
              <a:t>2018</a:t>
            </a:r>
            <a:r>
              <a:rPr lang="zh-CN" altLang="en-US" dirty="0">
                <a:latin typeface="+mn-ea"/>
              </a:rPr>
              <a:t>年</a:t>
            </a:r>
            <a:r>
              <a:rPr lang="en-US" altLang="zh-CN" dirty="0">
                <a:latin typeface="+mn-ea"/>
              </a:rPr>
              <a:t>10</a:t>
            </a:r>
            <a:r>
              <a:rPr lang="zh-CN" altLang="en-US" dirty="0">
                <a:latin typeface="+mn-ea"/>
              </a:rPr>
              <a:t>月</a:t>
            </a:r>
            <a:r>
              <a:rPr lang="en-US" altLang="zh-CN" dirty="0">
                <a:latin typeface="+mn-ea"/>
              </a:rPr>
              <a:t>8</a:t>
            </a:r>
            <a:r>
              <a:rPr lang="zh-CN" altLang="en-US" dirty="0">
                <a:latin typeface="+mn-ea"/>
              </a:rPr>
              <a:t>日在一个项目现场，一名承包商工人使用移动平台安装一条离地面约</a:t>
            </a:r>
            <a:r>
              <a:rPr lang="en-US" altLang="zh-CN" dirty="0">
                <a:latin typeface="+mn-ea"/>
              </a:rPr>
              <a:t>4</a:t>
            </a:r>
            <a:r>
              <a:rPr lang="zh-CN" altLang="en-US" dirty="0">
                <a:latin typeface="+mn-ea"/>
              </a:rPr>
              <a:t>米高的水管。平台的两个轮子从门口的斜坡上滚了下来。他被困在门口的横梁和移动平台的扶手之间，胸部受到挤压。另一名工作人员用楔垫垫住轮子，阻止了平台的进一步移动并随后呼救。伤者胸骨有五处骨折。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ts val="2700"/>
              </a:lnSpc>
              <a:spcAft>
                <a:spcPts val="0"/>
              </a:spcAft>
              <a:buNone/>
              <a:tabLst/>
            </a:pPr>
            <a:endParaRPr lang="en-US" altLang="zh-TW" dirty="0">
              <a:latin typeface="+mn-ea"/>
            </a:endParaRPr>
          </a:p>
          <a:p>
            <a:pPr marL="0" indent="0">
              <a:lnSpc>
                <a:spcPts val="2700"/>
              </a:lnSpc>
              <a:spcAft>
                <a:spcPts val="0"/>
              </a:spcAft>
              <a:buNone/>
              <a:tabLst/>
            </a:pPr>
            <a:r>
              <a:rPr lang="zh-CN" altLang="en-US" b="1" dirty="0">
                <a:latin typeface="+mn-ea"/>
              </a:rPr>
              <a:t>调查结果</a:t>
            </a:r>
            <a:endParaRPr lang="en-US" altLang="zh-CN" b="1" dirty="0">
              <a:latin typeface="+mn-ea"/>
            </a:endParaRPr>
          </a:p>
          <a:p>
            <a:pPr lvl="2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ea"/>
              </a:rPr>
              <a:t>承包商安全意识不足</a:t>
            </a:r>
            <a:endParaRPr lang="en-US" altLang="zh-CN" dirty="0">
              <a:latin typeface="+mn-ea"/>
            </a:endParaRPr>
          </a:p>
          <a:p>
            <a:pPr lvl="3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在高度有限制的情况下，站着调整移动平台的位置，处在斜坡的作业平台没有固定</a:t>
            </a:r>
            <a:endParaRPr lang="en-US" altLang="zh-CN" dirty="0">
              <a:latin typeface="+mn-ea"/>
            </a:endParaRPr>
          </a:p>
          <a:p>
            <a:pPr lvl="2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GB" dirty="0">
                <a:latin typeface="+mn-ea"/>
              </a:rPr>
              <a:t>没有</a:t>
            </a:r>
            <a:r>
              <a:rPr lang="zh-CN" altLang="en-US" dirty="0">
                <a:latin typeface="+mn-ea"/>
              </a:rPr>
              <a:t>监护人员，</a:t>
            </a:r>
            <a:r>
              <a:rPr lang="zh-CN" altLang="en-GB" dirty="0">
                <a:latin typeface="+mn-ea"/>
              </a:rPr>
              <a:t>承包商</a:t>
            </a:r>
            <a:r>
              <a:rPr lang="zh-CN" altLang="en-US" dirty="0">
                <a:latin typeface="+mn-ea"/>
              </a:rPr>
              <a:t>监督不到位</a:t>
            </a:r>
            <a:endParaRPr lang="zh-TW" altLang="en-GB" dirty="0">
              <a:latin typeface="+mn-ea"/>
            </a:endParaRPr>
          </a:p>
          <a:p>
            <a:pPr lvl="2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GB" dirty="0">
                <a:latin typeface="+mn-ea"/>
              </a:rPr>
              <a:t>没有进行工作安全分析</a:t>
            </a:r>
            <a:endParaRPr lang="zh-TW" altLang="en-GB" dirty="0">
              <a:latin typeface="+mn-ea"/>
            </a:endParaRPr>
          </a:p>
          <a:p>
            <a:pPr marL="0" indent="0">
              <a:lnSpc>
                <a:spcPts val="2700"/>
              </a:lnSpc>
              <a:spcAft>
                <a:spcPts val="0"/>
              </a:spcAft>
              <a:buNone/>
              <a:tabLst/>
            </a:pPr>
            <a:endParaRPr lang="zh-TW" altLang="en-GB" b="1" dirty="0">
              <a:latin typeface="+mn-ea"/>
            </a:endParaRPr>
          </a:p>
        </p:txBody>
      </p:sp>
      <p:sp>
        <p:nvSpPr>
          <p:cNvPr id="30722" name="日期占位符 3">
            <a:extLst>
              <a:ext uri="{FF2B5EF4-FFF2-40B4-BE49-F238E27FC236}">
                <a16:creationId xmlns:a16="http://schemas.microsoft.com/office/drawing/2014/main" id="{9E4A6924-2B76-499D-84AA-C9C296DFC76D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>
          <a:xfrm>
            <a:off x="0" y="6453188"/>
            <a:ext cx="720725" cy="25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lang="de-DE" sz="800" kern="1200" smtClean="0">
                <a:solidFill>
                  <a:schemeClr val="tx1"/>
                </a:solidFill>
                <a:latin typeface="LindeDaxPowerPoint" pitchFamily="34" charset="0"/>
                <a:ea typeface="+mn-ea"/>
                <a:cs typeface="+mn-cs"/>
              </a:defRPr>
            </a:lvl1pPr>
            <a:lvl2pPr marL="457200"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indeDaxPowerPoint" pitchFamily="34" charset="0"/>
                <a:ea typeface="+mn-ea"/>
                <a:cs typeface="+mn-cs"/>
              </a:defRPr>
            </a:lvl2pPr>
            <a:lvl3pPr marL="914400"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indeDaxPowerPoint" pitchFamily="34" charset="0"/>
                <a:ea typeface="+mn-ea"/>
                <a:cs typeface="+mn-cs"/>
              </a:defRPr>
            </a:lvl3pPr>
            <a:lvl4pPr marL="1371600"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indeDaxPowerPoint" pitchFamily="34" charset="0"/>
                <a:ea typeface="+mn-ea"/>
                <a:cs typeface="+mn-cs"/>
              </a:defRPr>
            </a:lvl4pPr>
            <a:lvl5pPr marL="1828800"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LindeDaxPowerPoint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LindeDaxPowerPoint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LindeDaxPowerPoint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LindeDaxPowerPoint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LindeDaxPowerPoint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</a:pPr>
            <a:fld id="{C1B73157-D23D-4100-B210-6E29C3995687}" type="datetime1">
              <a:rPr lang="en-US" altLang="zh-CN" smtClean="0"/>
              <a:pPr>
                <a:lnSpc>
                  <a:spcPct val="100000"/>
                </a:lnSpc>
                <a:spcAft>
                  <a:spcPct val="0"/>
                </a:spcAft>
              </a:pPr>
              <a:t>3/12/2026</a:t>
            </a:fld>
            <a:endParaRPr lang="zh-TW" altLang="en-GB" sz="800" b="0"/>
          </a:p>
        </p:txBody>
      </p:sp>
      <p:pic>
        <p:nvPicPr>
          <p:cNvPr id="30730" name="Picture 7">
            <a:extLst>
              <a:ext uri="{FF2B5EF4-FFF2-40B4-BE49-F238E27FC236}">
                <a16:creationId xmlns:a16="http://schemas.microsoft.com/office/drawing/2014/main" id="{3EE73D91-09AB-471A-8D81-9BB04FADBC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688288" y="3140968"/>
            <a:ext cx="3142449" cy="28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mexport1620720330789" descr="一群人站在建筑的摆设布局&#10;&#10;低可信度描述已自动生成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67608" y="1628800"/>
            <a:ext cx="7681251" cy="43591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0F456B-0B61-407E-ADFA-97ED291E0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zh-CN" altLang="en-US" dirty="0"/>
              <a:t>事故案例</a:t>
            </a:r>
            <a:r>
              <a:rPr lang="en-US" altLang="zh-CN" dirty="0"/>
              <a:t>-5</a:t>
            </a:r>
            <a:br>
              <a:rPr lang="en-US" altLang="zh-CN" dirty="0"/>
            </a:br>
            <a:r>
              <a:rPr lang="zh-CN" altLang="en-US" dirty="0">
                <a:solidFill>
                  <a:srgbClr val="00B0F0"/>
                </a:solidFill>
              </a:rPr>
              <a:t>说说发生事故的原因，以及我们学到什么？</a:t>
            </a:r>
            <a:endParaRPr lang="en-GB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57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事故案例</a:t>
            </a:r>
            <a:r>
              <a:rPr lang="en-US" altLang="zh-CN" dirty="0"/>
              <a:t>-6</a:t>
            </a:r>
            <a:br>
              <a:rPr lang="en-US" altLang="zh-CN" dirty="0"/>
            </a:br>
            <a:r>
              <a:rPr lang="zh-CN" altLang="en-US" dirty="0">
                <a:solidFill>
                  <a:srgbClr val="00B0F0"/>
                </a:solidFill>
              </a:rPr>
              <a:t>说说发生事故的原因，以及我们学到什么？</a:t>
            </a:r>
            <a:endParaRPr lang="en-GB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168418-DC21-8C88-C680-5BF7477C2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人字梯应有坚固的铰链和限制跨度的拉链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107CFB-6F06-EF2B-4E18-5F33A368422E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EC00888B-0C01-439D-943D-115FE1D2853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335" y="1844824"/>
            <a:ext cx="5581649" cy="4140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55806155-8B9A-4238-80D4-EFCCB07E230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32104" y="1567190"/>
            <a:ext cx="4104456" cy="481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977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事故案例</a:t>
            </a:r>
            <a:r>
              <a:rPr lang="en-US" altLang="zh-CN" dirty="0"/>
              <a:t>-7</a:t>
            </a:r>
            <a:br>
              <a:rPr lang="en-US" altLang="zh-CN" dirty="0"/>
            </a:br>
            <a:r>
              <a:rPr lang="zh-CN" altLang="en-US" dirty="0">
                <a:solidFill>
                  <a:srgbClr val="00B0F0"/>
                </a:solidFill>
              </a:rPr>
              <a:t>说说发生事故的原因，以及我们学到什么？</a:t>
            </a:r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6BF8DE-09CD-4AF8-B3B0-D7EB3A4A270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4490" y="1907206"/>
            <a:ext cx="4171135" cy="366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1ACD99FD-22E0-49DB-A82C-D44A9B1EBB7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59896" y="1924004"/>
            <a:ext cx="6701830" cy="365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34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A3A5C0-953E-D2C5-A4CA-6FE5CC86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检验理解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3696F4-E21D-EE20-0C9B-6170FD107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b="1" dirty="0"/>
              <a:t>请描述如何定义“高处作业”，包括哪些内容？</a:t>
            </a:r>
            <a:r>
              <a:rPr lang="en-US" altLang="zh-CN" b="1" dirty="0"/>
              <a:t>(25)</a:t>
            </a:r>
          </a:p>
          <a:p>
            <a:pPr marL="342900" indent="-342900">
              <a:buFont typeface="+mj-lt"/>
              <a:buAutoNum type="arabicPeriod"/>
            </a:pPr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/>
              <a:t>高处作业有哪些“安全注意事项”？（</a:t>
            </a:r>
            <a:r>
              <a:rPr lang="en-US" altLang="zh-CN" b="1" dirty="0"/>
              <a:t>25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/>
              <a:t>“三宝”是什么？结合你的工作，说说最需要重视的是哪个宝？为什么？（</a:t>
            </a:r>
            <a:r>
              <a:rPr lang="en-US" altLang="zh-CN" b="1" dirty="0"/>
              <a:t>25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/>
              <a:t>描述一下如何安全的使用梯子？ （</a:t>
            </a:r>
            <a:r>
              <a:rPr lang="en-US" altLang="zh-CN" b="1" dirty="0"/>
              <a:t>25</a:t>
            </a:r>
            <a:r>
              <a:rPr lang="zh-CN" altLang="en-US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68274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0D28A9-49B9-4403-9436-FC4958349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3440" y="4518691"/>
            <a:ext cx="7985760" cy="1139728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406D"/>
                </a:solidFill>
                <a:ea typeface="宋体" panose="02010600030101010101" pitchFamily="2" charset="-122"/>
              </a:rPr>
              <a:t>Do it right at the first time &amp; every time!</a:t>
            </a:r>
            <a:br>
              <a:rPr lang="en-US" altLang="zh-CN" dirty="0">
                <a:solidFill>
                  <a:srgbClr val="00406D"/>
                </a:solidFill>
                <a:ea typeface="宋体" panose="02010600030101010101" pitchFamily="2" charset="-122"/>
              </a:rPr>
            </a:br>
            <a:r>
              <a:rPr lang="zh-CN" altLang="en-US" dirty="0">
                <a:solidFill>
                  <a:srgbClr val="00406D"/>
                </a:solidFill>
                <a:ea typeface="宋体" panose="02010600030101010101" pitchFamily="2" charset="-122"/>
              </a:rPr>
              <a:t>第一次就做对，每次都做对！</a:t>
            </a:r>
            <a:endParaRPr lang="en-GB" altLang="en-US" dirty="0">
              <a:solidFill>
                <a:srgbClr val="00406D"/>
              </a:solidFill>
            </a:endParaRPr>
          </a:p>
        </p:txBody>
      </p:sp>
      <p:pic>
        <p:nvPicPr>
          <p:cNvPr id="108547" name="Picture 3" descr="A picture containing room, scene&#10;&#10;Description generated with high confidence">
            <a:extLst>
              <a:ext uri="{FF2B5EF4-FFF2-40B4-BE49-F238E27FC236}">
                <a16:creationId xmlns:a16="http://schemas.microsoft.com/office/drawing/2014/main" id="{2C443A3A-72AF-4A68-909A-C35E65050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30764" y="1752600"/>
            <a:ext cx="2530475" cy="252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nde">
  <a:themeElements>
    <a:clrScheme name="LINDE 2017-03-02">
      <a:dk1>
        <a:srgbClr val="000000"/>
      </a:dk1>
      <a:lt1>
        <a:srgbClr val="FFFFFF"/>
      </a:lt1>
      <a:dk2>
        <a:srgbClr val="00A0E1"/>
      </a:dk2>
      <a:lt2>
        <a:srgbClr val="E8E9EB"/>
      </a:lt2>
      <a:accent1>
        <a:srgbClr val="005591"/>
      </a:accent1>
      <a:accent2>
        <a:srgbClr val="4D88B2"/>
      </a:accent2>
      <a:accent3>
        <a:srgbClr val="80AAC8"/>
      </a:accent3>
      <a:accent4>
        <a:srgbClr val="B3CCDE"/>
      </a:accent4>
      <a:accent5>
        <a:srgbClr val="00A0E1"/>
      </a:accent5>
      <a:accent6>
        <a:srgbClr val="6E7878"/>
      </a:accent6>
      <a:hlink>
        <a:srgbClr val="000000"/>
      </a:hlink>
      <a:folHlink>
        <a:srgbClr val="000000"/>
      </a:folHlink>
    </a:clrScheme>
    <a:fontScheme name="Linde-PPT-2010">
      <a:majorFont>
        <a:latin typeface="LindeDaxPowerPoint"/>
        <a:ea typeface=""/>
        <a:cs typeface=""/>
      </a:majorFont>
      <a:minorFont>
        <a:latin typeface="LindeDaxPowerPoin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82800" rIns="90000" bIns="82800" numCol="1" rtlCol="0" anchor="t" anchorCtr="0" compatLnSpc="1">
        <a:prstTxWarp prst="textNoShape">
          <a:avLst/>
        </a:prstTxWarp>
      </a:bodyPr>
      <a:lstStyle>
        <a:defPPr marL="182563" marR="0" indent="-182563" algn="l" defTabSz="914400" rtl="0" eaLnBrk="1" fontAlgn="base" latinLnBrk="0" hangingPunct="1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 typeface="LindeDaxPowerPoint" panose="020B0500000000020000" pitchFamily="34" charset="0"/>
          <a:buChar char="–"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LindeDaxPowerPoin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82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indeDaxPowerPoint" pitchFamily="34" charset="0"/>
          </a:defRPr>
        </a:defPPr>
      </a:lstStyle>
    </a:lnDef>
  </a:objectDefaults>
  <a:extraClrSchemeLst/>
  <a:custClrLst>
    <a:custClr name="Linde Blue">
      <a:srgbClr val="005591"/>
    </a:custClr>
    <a:custClr name="Linde Cyan">
      <a:srgbClr val="00A0E1"/>
    </a:custClr>
    <a:custClr name="Linde Dark Blue">
      <a:srgbClr val="002D5A"/>
    </a:custClr>
    <a:custClr name="Linde Gray 4">
      <a:srgbClr val="6E7878"/>
    </a:custClr>
    <a:custClr name="Linde Signal Red">
      <a:srgbClr val="E1000F"/>
    </a:custClr>
    <a:custClr name="Linde Signal Orange">
      <a:srgbClr val="DC7800"/>
    </a:custClr>
    <a:custClr name="Linde Signal Yellow">
      <a:srgbClr val="FFD200"/>
    </a:custClr>
    <a:custClr name="Linde Signal Turquoise">
      <a:srgbClr val="009B9B"/>
    </a:custClr>
    <a:custClr name="Linde Signal Green">
      <a:srgbClr val="009B3C"/>
    </a:custClr>
    <a:custClr name="Linde Neon Green">
      <a:srgbClr val="BECD00"/>
    </a:custClr>
    <a:custClr name="Linde Light Gray">
      <a:srgbClr val="D2E1EB"/>
    </a:custClr>
    <a:custClr name="Linde Blue Gray 1">
      <a:srgbClr val="BEC8D7"/>
    </a:custClr>
    <a:custClr name="Linde Blue Gray 2">
      <a:srgbClr val="96A5B4"/>
    </a:custClr>
    <a:custClr name="Linde Blue Gray 3">
      <a:srgbClr val="467391"/>
    </a:custClr>
    <a:custClr name="Linde Gray 1">
      <a:srgbClr val="D7E1E6"/>
    </a:custClr>
    <a:custClr name="Linde Gray 2">
      <a:srgbClr val="CDD2CD"/>
    </a:custClr>
    <a:custClr name="Linde Gray 3">
      <a:srgbClr val="B9BEB4"/>
    </a:custClr>
    <a:custClr name="Linde Brown 1">
      <a:srgbClr val="E1DCCD"/>
    </a:custClr>
    <a:custClr name="Linde Brown 2">
      <a:srgbClr val="CDC3AA"/>
    </a:custClr>
    <a:custClr name="Linde Brown 3">
      <a:srgbClr val="BEB49B"/>
    </a:custClr>
    <a:custClr name="Linde Green 1">
      <a:srgbClr val="E1EBB4"/>
    </a:custClr>
    <a:custClr name="Linde Green 2">
      <a:srgbClr val="AFB478"/>
    </a:custClr>
    <a:custClr name="Linde Green 3">
      <a:srgbClr val="787D46"/>
    </a:custClr>
  </a:custClrLst>
  <a:extLst>
    <a:ext uri="{05A4C25C-085E-4340-85A3-A5531E510DB2}">
      <thm15:themeFamily xmlns:thm15="http://schemas.microsoft.com/office/thememl/2012/main" name="Linde_plc_presentation_2018_16x9.potx" id="{A1A4AE88-F423-4087-BA1A-ACC547113B4F}" vid="{C234AFB5-6690-4EAD-A78B-3EB067FAEAE7}"/>
    </a:ext>
  </a:extLst>
</a:theme>
</file>

<file path=ppt/theme/theme2.xml><?xml version="1.0" encoding="utf-8"?>
<a:theme xmlns:a="http://schemas.openxmlformats.org/drawingml/2006/main" name="Larissa">
  <a:themeElements>
    <a:clrScheme name="LINDE 2017-03-02">
      <a:dk1>
        <a:srgbClr val="000000"/>
      </a:dk1>
      <a:lt1>
        <a:srgbClr val="FFFFFF"/>
      </a:lt1>
      <a:dk2>
        <a:srgbClr val="00A0E1"/>
      </a:dk2>
      <a:lt2>
        <a:srgbClr val="E8E9EB"/>
      </a:lt2>
      <a:accent1>
        <a:srgbClr val="005591"/>
      </a:accent1>
      <a:accent2>
        <a:srgbClr val="4D88B2"/>
      </a:accent2>
      <a:accent3>
        <a:srgbClr val="80AAC8"/>
      </a:accent3>
      <a:accent4>
        <a:srgbClr val="B3CCDE"/>
      </a:accent4>
      <a:accent5>
        <a:srgbClr val="00A0E1"/>
      </a:accent5>
      <a:accent6>
        <a:srgbClr val="6E7878"/>
      </a:accent6>
      <a:hlink>
        <a:srgbClr val="000000"/>
      </a:hlink>
      <a:folHlink>
        <a:srgbClr val="000000"/>
      </a:folHlink>
    </a:clrScheme>
    <a:fontScheme name="Linde-PPT-2010">
      <a:majorFont>
        <a:latin typeface="LindeDaxPowerPoint"/>
        <a:ea typeface=""/>
        <a:cs typeface=""/>
      </a:majorFont>
      <a:minorFont>
        <a:latin typeface="LindeDaxPowerPoin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INDE 2017-03-02">
      <a:dk1>
        <a:srgbClr val="000000"/>
      </a:dk1>
      <a:lt1>
        <a:srgbClr val="FFFFFF"/>
      </a:lt1>
      <a:dk2>
        <a:srgbClr val="00A0E1"/>
      </a:dk2>
      <a:lt2>
        <a:srgbClr val="E8E9EB"/>
      </a:lt2>
      <a:accent1>
        <a:srgbClr val="005591"/>
      </a:accent1>
      <a:accent2>
        <a:srgbClr val="4D88B2"/>
      </a:accent2>
      <a:accent3>
        <a:srgbClr val="80AAC8"/>
      </a:accent3>
      <a:accent4>
        <a:srgbClr val="B3CCDE"/>
      </a:accent4>
      <a:accent5>
        <a:srgbClr val="00A0E1"/>
      </a:accent5>
      <a:accent6>
        <a:srgbClr val="6E7878"/>
      </a:accent6>
      <a:hlink>
        <a:srgbClr val="000000"/>
      </a:hlink>
      <a:folHlink>
        <a:srgbClr val="000000"/>
      </a:folHlink>
    </a:clrScheme>
    <a:fontScheme name="Linde-PPT-2010">
      <a:majorFont>
        <a:latin typeface="LindeDaxPowerPoint"/>
        <a:ea typeface=""/>
        <a:cs typeface=""/>
      </a:majorFont>
      <a:minorFont>
        <a:latin typeface="LindeDaxPowerPoin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5400e01-15cc-4b6b-8b1a-9a7f69bf2e2d" xsi:nil="true"/>
    <lcf76f155ced4ddcb4097134ff3c332f xmlns="bcd61f17-a387-4b81-b986-4a37ccc41c6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8850C8491A25B7498760E4F318F120B1" ma:contentTypeVersion="16" ma:contentTypeDescription="新建文档。" ma:contentTypeScope="" ma:versionID="da299aadbd570767c5f523d938fb485f">
  <xsd:schema xmlns:xsd="http://www.w3.org/2001/XMLSchema" xmlns:xs="http://www.w3.org/2001/XMLSchema" xmlns:p="http://schemas.microsoft.com/office/2006/metadata/properties" xmlns:ns2="bcd61f17-a387-4b81-b986-4a37ccc41c6c" xmlns:ns3="c5400e01-15cc-4b6b-8b1a-9a7f69bf2e2d" targetNamespace="http://schemas.microsoft.com/office/2006/metadata/properties" ma:root="true" ma:fieldsID="265e98c8d95f2ac98ed9feb062891ab2" ns2:_="" ns3:_="">
    <xsd:import namespace="bcd61f17-a387-4b81-b986-4a37ccc41c6c"/>
    <xsd:import namespace="c5400e01-15cc-4b6b-8b1a-9a7f69bf2e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d61f17-a387-4b81-b986-4a37ccc41c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图像标记" ma:readOnly="false" ma:fieldId="{5cf76f15-5ced-4ddc-b409-7134ff3c332f}" ma:taxonomyMulti="true" ma:sspId="7e315aa8-bd96-4598-8e4a-1d3aeb7b64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400e01-15cc-4b6b-8b1a-9a7f69bf2e2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6782007-c3b4-4722-a701-6a9ccea8761b}" ma:internalName="TaxCatchAll" ma:showField="CatchAllData" ma:web="c5400e01-15cc-4b6b-8b1a-9a7f69bf2e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605928-5130-41E3-9434-7A6ACB77726D}">
  <ds:schemaRefs>
    <ds:schemaRef ds:uri="http://schemas.microsoft.com/office/2006/metadata/properties"/>
    <ds:schemaRef ds:uri="http://schemas.microsoft.com/office/infopath/2007/PartnerControls"/>
    <ds:schemaRef ds:uri="c5400e01-15cc-4b6b-8b1a-9a7f69bf2e2d"/>
    <ds:schemaRef ds:uri="bcd61f17-a387-4b81-b986-4a37ccc41c6c"/>
  </ds:schemaRefs>
</ds:datastoreItem>
</file>

<file path=customXml/itemProps2.xml><?xml version="1.0" encoding="utf-8"?>
<ds:datastoreItem xmlns:ds="http://schemas.openxmlformats.org/officeDocument/2006/customXml" ds:itemID="{608C7D94-772C-4BB5-9F7F-FD3D845D01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d61f17-a387-4b81-b986-4a37ccc41c6c"/>
    <ds:schemaRef ds:uri="c5400e01-15cc-4b6b-8b1a-9a7f69bf2e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3672CE-79C1-4DFA-9C46-45ABB90B84F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Linde_plc_presentation_2018_16x9_tcm1326-517377</Template>
  <TotalTime>0</TotalTime>
  <Words>1300</Words>
  <Application>Microsoft Office PowerPoint</Application>
  <PresentationFormat>宽屏</PresentationFormat>
  <Paragraphs>142</Paragraphs>
  <Slides>28</Slides>
  <Notes>10</Notes>
  <HiddenSlides>0</HiddenSlides>
  <MMClips>2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等线</vt:lpstr>
      <vt:lpstr>宋体</vt:lpstr>
      <vt:lpstr>宋体</vt:lpstr>
      <vt:lpstr>Arial</vt:lpstr>
      <vt:lpstr>LindeDaxPowerPoint</vt:lpstr>
      <vt:lpstr>Segoe UI Symbol</vt:lpstr>
      <vt:lpstr>Tahoma</vt:lpstr>
      <vt:lpstr>Wingdings</vt:lpstr>
      <vt:lpstr>Linde</vt:lpstr>
      <vt:lpstr>包装程序外壳对象</vt:lpstr>
      <vt:lpstr>高处作业安全培训 </vt:lpstr>
      <vt:lpstr>培训期望与信息</vt:lpstr>
      <vt:lpstr>目录</vt:lpstr>
      <vt:lpstr>高处作业定义、分级、风险及控制措施</vt:lpstr>
      <vt:lpstr>SHEQ-1-007及对应的检查表回顾</vt:lpstr>
      <vt:lpstr>高处坠落一般发生在什么地方？</vt:lpstr>
      <vt:lpstr>高处坠落人的因素一般是什么？</vt:lpstr>
      <vt:lpstr>高处坠落管理因素一般是什么？</vt:lpstr>
      <vt:lpstr>如何避免高处坠落？</vt:lpstr>
      <vt:lpstr>如何避免高处坠落？</vt:lpstr>
      <vt:lpstr>如何避免高处坠落？</vt:lpstr>
      <vt:lpstr>高处作业安全隐患</vt:lpstr>
      <vt:lpstr>看图找隐患1</vt:lpstr>
      <vt:lpstr>看图找隐患2</vt:lpstr>
      <vt:lpstr>高处作业安全防护—— 安全带 </vt:lpstr>
      <vt:lpstr>全身式安全带构件</vt:lpstr>
      <vt:lpstr>正确穿戴安全带</vt:lpstr>
      <vt:lpstr>3. 安全网</vt:lpstr>
      <vt:lpstr>梯子使用安全 示范</vt:lpstr>
      <vt:lpstr>事故案例分析 -1</vt:lpstr>
      <vt:lpstr>事故案例分析 -2</vt:lpstr>
      <vt:lpstr>事故案例分析 -3</vt:lpstr>
      <vt:lpstr>事故案例分析 -4</vt:lpstr>
      <vt:lpstr>事故案例-5 说说发生事故的原因，以及我们学到什么？</vt:lpstr>
      <vt:lpstr>事故案例-6 说说发生事故的原因，以及我们学到什么？</vt:lpstr>
      <vt:lpstr>事故案例-7 说说发生事故的原因，以及我们学到什么？</vt:lpstr>
      <vt:lpstr>检验理解</vt:lpstr>
      <vt:lpstr>Do it right at the first time &amp; every time! 第一次就做对，每次都做对！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Branding basics for Linde PowerPoint presentations.</dc:title>
  <dc:creator>Alley Gao</dc:creator>
  <cp:lastModifiedBy>Meng Cao</cp:lastModifiedBy>
  <cp:revision>164</cp:revision>
  <cp:lastPrinted>2012-09-30T22:01:27Z</cp:lastPrinted>
  <dcterms:created xsi:type="dcterms:W3CDTF">2022-11-14T07:59:12Z</dcterms:created>
  <dcterms:modified xsi:type="dcterms:W3CDTF">2026-03-12T03:02:36Z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0x0101008850C8491A25B7498760E4F318F120B1</vt:lpwstr>
  </property>
  <property fmtid="{D5CDD505-2E9C-101B-9397-08002B2CF9AE}" pid="3" name="MediaServiceImageTags">
    <vt:lpwstr/>
  </property>
</Properties>
</file>
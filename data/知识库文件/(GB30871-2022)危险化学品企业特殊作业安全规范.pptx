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5"/>
  </p:handoutMasterIdLst>
  <p:sldIdLst>
    <p:sldId id="6730" r:id="rId3"/>
    <p:sldId id="8853" r:id="rId5"/>
    <p:sldId id="8753" r:id="rId6"/>
    <p:sldId id="6731" r:id="rId7"/>
    <p:sldId id="8854" r:id="rId8"/>
    <p:sldId id="8855" r:id="rId9"/>
    <p:sldId id="8856" r:id="rId10"/>
    <p:sldId id="8857" r:id="rId11"/>
    <p:sldId id="8858" r:id="rId12"/>
    <p:sldId id="8859" r:id="rId13"/>
    <p:sldId id="8860" r:id="rId14"/>
    <p:sldId id="8861" r:id="rId15"/>
    <p:sldId id="8862" r:id="rId16"/>
    <p:sldId id="8863" r:id="rId17"/>
    <p:sldId id="8962" r:id="rId18"/>
    <p:sldId id="8963" r:id="rId19"/>
    <p:sldId id="8964" r:id="rId20"/>
    <p:sldId id="8965" r:id="rId21"/>
    <p:sldId id="8966" r:id="rId22"/>
    <p:sldId id="8967" r:id="rId23"/>
    <p:sldId id="8968" r:id="rId24"/>
    <p:sldId id="8969" r:id="rId25"/>
    <p:sldId id="9247" r:id="rId26"/>
    <p:sldId id="9246" r:id="rId27"/>
    <p:sldId id="8971" r:id="rId28"/>
    <p:sldId id="9248" r:id="rId29"/>
    <p:sldId id="8972" r:id="rId30"/>
    <p:sldId id="8973" r:id="rId31"/>
    <p:sldId id="8974" r:id="rId32"/>
    <p:sldId id="9337" r:id="rId33"/>
    <p:sldId id="8975" r:id="rId34"/>
    <p:sldId id="9339" r:id="rId35"/>
    <p:sldId id="8976" r:id="rId36"/>
    <p:sldId id="8977" r:id="rId37"/>
    <p:sldId id="8978" r:id="rId38"/>
    <p:sldId id="9340" r:id="rId39"/>
    <p:sldId id="8979" r:id="rId40"/>
    <p:sldId id="8980" r:id="rId41"/>
    <p:sldId id="8981" r:id="rId42"/>
    <p:sldId id="9253" r:id="rId43"/>
    <p:sldId id="8983" r:id="rId44"/>
    <p:sldId id="9425" r:id="rId45"/>
    <p:sldId id="8984" r:id="rId46"/>
    <p:sldId id="8985" r:id="rId47"/>
    <p:sldId id="8986" r:id="rId48"/>
    <p:sldId id="9341" r:id="rId49"/>
    <p:sldId id="8987" r:id="rId50"/>
    <p:sldId id="9336" r:id="rId51"/>
    <p:sldId id="8988" r:id="rId52"/>
    <p:sldId id="8989" r:id="rId53"/>
    <p:sldId id="8990" r:id="rId54"/>
    <p:sldId id="8991" r:id="rId55"/>
    <p:sldId id="9342" r:id="rId56"/>
    <p:sldId id="8992" r:id="rId57"/>
    <p:sldId id="9448" r:id="rId58"/>
    <p:sldId id="9449" r:id="rId59"/>
    <p:sldId id="9614" r:id="rId60"/>
    <p:sldId id="9620" r:id="rId61"/>
    <p:sldId id="9615" r:id="rId62"/>
    <p:sldId id="9617" r:id="rId63"/>
    <p:sldId id="9622" r:id="rId64"/>
    <p:sldId id="8993" r:id="rId65"/>
    <p:sldId id="8994" r:id="rId66"/>
    <p:sldId id="8995" r:id="rId67"/>
    <p:sldId id="8996" r:id="rId68"/>
    <p:sldId id="8997" r:id="rId69"/>
    <p:sldId id="8998" r:id="rId70"/>
    <p:sldId id="8999" r:id="rId71"/>
    <p:sldId id="9001" r:id="rId72"/>
    <p:sldId id="9000" r:id="rId73"/>
    <p:sldId id="9002" r:id="rId74"/>
    <p:sldId id="9249" r:id="rId75"/>
    <p:sldId id="9450" r:id="rId76"/>
    <p:sldId id="9451" r:id="rId77"/>
    <p:sldId id="9452" r:id="rId78"/>
    <p:sldId id="9623" r:id="rId79"/>
    <p:sldId id="9624" r:id="rId80"/>
    <p:sldId id="9625" r:id="rId81"/>
    <p:sldId id="9626" r:id="rId82"/>
    <p:sldId id="9538" r:id="rId83"/>
    <p:sldId id="9003" r:id="rId84"/>
    <p:sldId id="9004" r:id="rId85"/>
    <p:sldId id="9008" r:id="rId86"/>
    <p:sldId id="9005" r:id="rId87"/>
    <p:sldId id="9627" r:id="rId88"/>
    <p:sldId id="9628" r:id="rId89"/>
    <p:sldId id="9629" r:id="rId90"/>
    <p:sldId id="9630" r:id="rId91"/>
    <p:sldId id="9631" r:id="rId92"/>
    <p:sldId id="9632" r:id="rId93"/>
    <p:sldId id="9009" r:id="rId94"/>
    <p:sldId id="9006" r:id="rId95"/>
    <p:sldId id="9007" r:id="rId96"/>
    <p:sldId id="9010" r:id="rId97"/>
    <p:sldId id="9011" r:id="rId98"/>
    <p:sldId id="9015" r:id="rId99"/>
    <p:sldId id="9012" r:id="rId100"/>
    <p:sldId id="9013" r:id="rId101"/>
    <p:sldId id="9429" r:id="rId102"/>
    <p:sldId id="9427" r:id="rId103"/>
    <p:sldId id="9428" r:id="rId104"/>
    <p:sldId id="9633" r:id="rId105"/>
    <p:sldId id="9635" r:id="rId106"/>
    <p:sldId id="9634" r:id="rId107"/>
    <p:sldId id="9636" r:id="rId108"/>
    <p:sldId id="9016" r:id="rId109"/>
    <p:sldId id="9017" r:id="rId110"/>
    <p:sldId id="9018" r:id="rId111"/>
    <p:sldId id="9019" r:id="rId112"/>
    <p:sldId id="9020" r:id="rId113"/>
    <p:sldId id="9021" r:id="rId114"/>
    <p:sldId id="9022" r:id="rId115"/>
    <p:sldId id="9024" r:id="rId116"/>
    <p:sldId id="9025" r:id="rId117"/>
    <p:sldId id="9637" r:id="rId118"/>
    <p:sldId id="9638" r:id="rId119"/>
    <p:sldId id="9639" r:id="rId120"/>
    <p:sldId id="9640" r:id="rId121"/>
    <p:sldId id="9430" r:id="rId122"/>
    <p:sldId id="9431" r:id="rId123"/>
    <p:sldId id="9432" r:id="rId124"/>
    <p:sldId id="9433" r:id="rId125"/>
    <p:sldId id="9434" r:id="rId126"/>
    <p:sldId id="9435" r:id="rId127"/>
    <p:sldId id="9436" r:id="rId128"/>
    <p:sldId id="9437" r:id="rId129"/>
    <p:sldId id="9438" r:id="rId130"/>
    <p:sldId id="9439" r:id="rId131"/>
    <p:sldId id="9440" r:id="rId132"/>
    <p:sldId id="9441" r:id="rId133"/>
    <p:sldId id="9442" r:id="rId134"/>
    <p:sldId id="9443" r:id="rId135"/>
    <p:sldId id="9444" r:id="rId136"/>
    <p:sldId id="9445" r:id="rId137"/>
    <p:sldId id="9446" r:id="rId138"/>
    <p:sldId id="9447" r:id="rId139"/>
    <p:sldId id="9026" r:id="rId140"/>
    <p:sldId id="9125" r:id="rId141"/>
    <p:sldId id="9222" r:id="rId142"/>
    <p:sldId id="9223" r:id="rId143"/>
    <p:sldId id="9224" r:id="rId144"/>
    <p:sldId id="9225" r:id="rId145"/>
    <p:sldId id="9643" r:id="rId146"/>
    <p:sldId id="9641" r:id="rId147"/>
    <p:sldId id="9642" r:id="rId148"/>
    <p:sldId id="9644" r:id="rId149"/>
    <p:sldId id="9646" r:id="rId150"/>
    <p:sldId id="9226" r:id="rId151"/>
    <p:sldId id="9227" r:id="rId152"/>
    <p:sldId id="9343" r:id="rId153"/>
    <p:sldId id="9228" r:id="rId154"/>
    <p:sldId id="9229" r:id="rId155"/>
    <p:sldId id="9344" r:id="rId156"/>
    <p:sldId id="9230" r:id="rId157"/>
    <p:sldId id="9231" r:id="rId158"/>
    <p:sldId id="9651" r:id="rId159"/>
    <p:sldId id="9647" r:id="rId160"/>
    <p:sldId id="9648" r:id="rId161"/>
    <p:sldId id="9649" r:id="rId162"/>
    <p:sldId id="9232" r:id="rId163"/>
    <p:sldId id="9233" r:id="rId164"/>
    <p:sldId id="9345" r:id="rId165"/>
    <p:sldId id="9234" r:id="rId166"/>
    <p:sldId id="9346" r:id="rId167"/>
    <p:sldId id="9652" r:id="rId168"/>
    <p:sldId id="9653" r:id="rId169"/>
    <p:sldId id="9654" r:id="rId170"/>
    <p:sldId id="9655" r:id="rId171"/>
    <p:sldId id="9263" r:id="rId172"/>
    <p:sldId id="9264" r:id="rId173"/>
    <p:sldId id="6926" r:id="rId174"/>
  </p:sldIdLst>
  <p:sldSz cx="12192000" cy="6858000"/>
  <p:notesSz cx="9874250" cy="6797675"/>
  <p:custDataLst>
    <p:tags r:id="rId18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0" userDrawn="1">
          <p15:clr>
            <a:srgbClr val="A4A3A4"/>
          </p15:clr>
        </p15:guide>
        <p15:guide id="2" pos="37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光启" initials="光" lastIdx="1" clrIdx="0"/>
  <p:cmAuthor id="2" name="微软用户" initials="微" lastIdx="1" clrIdx="0"/>
  <p:cmAuthor id="3" name="Lenovo User"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00FF"/>
    <a:srgbClr val="FF0000"/>
    <a:srgbClr val="5307B2"/>
    <a:srgbClr val="F97E65"/>
    <a:srgbClr val="AFAFFF"/>
    <a:srgbClr val="FF9933"/>
    <a:srgbClr val="FDC3CD"/>
    <a:srgbClr val="EC5F12"/>
    <a:srgbClr val="FAA0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4615" autoAdjust="0"/>
  </p:normalViewPr>
  <p:slideViewPr>
    <p:cSldViewPr snapToGrid="0" showGuides="1">
      <p:cViewPr varScale="1">
        <p:scale>
          <a:sx n="104" d="100"/>
          <a:sy n="104" d="100"/>
        </p:scale>
        <p:origin x="816" y="114"/>
      </p:cViewPr>
      <p:guideLst>
        <p:guide orient="horz" pos="1980"/>
        <p:guide pos="378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91" d="100"/>
          <a:sy n="91" d="100"/>
        </p:scale>
        <p:origin x="-1986" y="-108"/>
      </p:cViewPr>
      <p:guideLst>
        <p:guide orient="horz" pos="1962"/>
        <p:guide pos="3063"/>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0" Type="http://schemas.openxmlformats.org/officeDocument/2006/relationships/tags" Target="tags/tag109.xml"/><Relationship Id="rId18" Type="http://schemas.openxmlformats.org/officeDocument/2006/relationships/slide" Target="slides/slide15.xml"/><Relationship Id="rId179" Type="http://schemas.openxmlformats.org/officeDocument/2006/relationships/commentAuthors" Target="commentAuthors.xml"/><Relationship Id="rId178" Type="http://schemas.openxmlformats.org/officeDocument/2006/relationships/tableStyles" Target="tableStyles.xml"/><Relationship Id="rId177" Type="http://schemas.openxmlformats.org/officeDocument/2006/relationships/viewProps" Target="viewProps.xml"/><Relationship Id="rId176" Type="http://schemas.openxmlformats.org/officeDocument/2006/relationships/presProps" Target="presProps.xml"/><Relationship Id="rId175" Type="http://schemas.openxmlformats.org/officeDocument/2006/relationships/handoutMaster" Target="handoutMasters/handoutMaster1.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842" cy="33988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593124" y="0"/>
            <a:ext cx="4278842" cy="339883"/>
          </a:xfrm>
          <a:prstGeom prst="rect">
            <a:avLst/>
          </a:prstGeom>
        </p:spPr>
        <p:txBody>
          <a:bodyPr vert="horz" lIns="91440" tIns="45720" rIns="91440" bIns="45720" rtlCol="0"/>
          <a:lstStyle>
            <a:lvl1pPr algn="r">
              <a:defRPr sz="1200"/>
            </a:lvl1pPr>
          </a:lstStyle>
          <a:p>
            <a:endParaRPr lang="zh-CN" altLang="en-US"/>
          </a:p>
        </p:txBody>
      </p:sp>
      <p:sp>
        <p:nvSpPr>
          <p:cNvPr id="4" name="页脚占位符 3"/>
          <p:cNvSpPr>
            <a:spLocks noGrp="1"/>
          </p:cNvSpPr>
          <p:nvPr>
            <p:ph type="ftr" sz="quarter" idx="2"/>
          </p:nvPr>
        </p:nvSpPr>
        <p:spPr>
          <a:xfrm>
            <a:off x="0" y="6456613"/>
            <a:ext cx="4278842" cy="33988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593124" y="6456613"/>
            <a:ext cx="4278842" cy="339883"/>
          </a:xfrm>
          <a:prstGeom prst="rect">
            <a:avLst/>
          </a:prstGeom>
        </p:spPr>
        <p:txBody>
          <a:bodyPr vert="horz" lIns="91440" tIns="45720" rIns="91440" bIns="45720" rtlCol="0" anchor="b"/>
          <a:lstStyle>
            <a:lvl1pPr algn="r">
              <a:defRPr sz="1200"/>
            </a:lvl1pPr>
          </a:lstStyle>
          <a:p>
            <a:fld id="{50912039-8259-4903-8A1A-5A9471E17AB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6160740" cy="25354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8053062" y="0"/>
            <a:ext cx="6160740" cy="25354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5592523" y="631676"/>
            <a:ext cx="3032046" cy="1705526"/>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421709" y="2431954"/>
            <a:ext cx="11373673" cy="198978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4799863"/>
            <a:ext cx="6160740" cy="25354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8053062" y="4799863"/>
            <a:ext cx="6160740" cy="25354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7F1A05-06D9-45E5-A566-DCE3388D6AC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592763" y="631825"/>
            <a:ext cx="3032125" cy="170497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DF378-11E0-436F-858E-82572CEFCE9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592763" y="631825"/>
            <a:ext cx="3032125" cy="170497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CB3FF9-4F8D-483A-B38E-9F0E02F97F7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592763" y="631825"/>
            <a:ext cx="3032125" cy="170497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CB3FF9-4F8D-483A-B38E-9F0E02F97F7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592763" y="631825"/>
            <a:ext cx="3032125" cy="170497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CB3FF9-4F8D-483A-B38E-9F0E02F97F7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nvSpPr>
        <p:spPr>
          <a:xfrm>
            <a:off x="3883025" y="8683625"/>
            <a:ext cx="2973388" cy="458788"/>
          </a:xfrm>
          <a:prstGeom prst="rect">
            <a:avLst/>
          </a:prstGeom>
          <a:noFill/>
          <a:ln w="9525">
            <a:noFill/>
          </a:ln>
        </p:spPr>
        <p:txBody>
          <a:bodyPr lIns="85006" tIns="42502" rIns="85006" bIns="42502" anchor="b" anchorCtr="0"/>
          <a:p>
            <a:pPr lvl="0" algn="r" defTabSz="840105"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36195" name="Rectangle 7"/>
          <p:cNvSpPr txBox="1">
            <a:spLocks noGrp="1"/>
          </p:cNvSpPr>
          <p:nvPr/>
        </p:nvSpPr>
        <p:spPr>
          <a:xfrm>
            <a:off x="3883025" y="8683625"/>
            <a:ext cx="2973388" cy="458788"/>
          </a:xfrm>
          <a:prstGeom prst="rect">
            <a:avLst/>
          </a:prstGeom>
          <a:noFill/>
          <a:ln w="9525">
            <a:noFill/>
          </a:ln>
        </p:spPr>
        <p:txBody>
          <a:bodyPr lIns="85006" tIns="42502" rIns="85006" bIns="42502" anchor="b" anchorCtr="0"/>
          <a:p>
            <a:pPr lvl="0" algn="r" defTabSz="840105"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36196" name="Rectangle 2"/>
          <p:cNvSpPr>
            <a:spLocks noGrp="1" noRot="1" noChangeAspect="1" noTextEdit="1"/>
          </p:cNvSpPr>
          <p:nvPr>
            <p:ph type="sldImg"/>
          </p:nvPr>
        </p:nvSpPr>
        <p:spPr/>
      </p:sp>
      <p:sp>
        <p:nvSpPr>
          <p:cNvPr id="136197" name="Rectangle 3"/>
          <p:cNvSpPr>
            <a:spLocks noGrp="1"/>
          </p:cNvSpPr>
          <p:nvPr>
            <p:ph type="body" idx="1"/>
          </p:nvPr>
        </p:nvSpPr>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
        <p:nvSpPr>
          <p:cNvPr id="73734" name="灯片编号占位符 5"/>
          <p:cNvSpPr txBox="1">
            <a:spLocks noGrp="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73735" name="日期占位符 7"/>
          <p:cNvSpPr txBox="1">
            <a:spLocks noGrp="1"/>
          </p:cNvSpPr>
          <p:nvPr/>
        </p:nvSpPr>
        <p:spPr bwMode="auto">
          <a:xfrm>
            <a:off x="3884613" y="0"/>
            <a:ext cx="2971800" cy="457200"/>
          </a:xfrm>
          <a:prstGeom prst="rect">
            <a:avLst/>
          </a:prstGeom>
          <a:noFill/>
          <a:ln>
            <a:miter lim="800000"/>
          </a:ln>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AEF6A41-93C4-4E4C-B74B-A31C8CA7F36A}" type="datetime1">
              <a:rPr kumimoji="0" lang="en-US" altLang="zh-CN" sz="1200" b="0" i="0" u="none" strike="noStrike" kern="1200" cap="none" spc="0" normalizeH="0" baseline="0" noProof="0">
                <a:ln>
                  <a:noFill/>
                </a:ln>
                <a:solidFill>
                  <a:schemeClr val="tx1"/>
                </a:solidFill>
                <a:effectLst/>
                <a:uLnTx/>
                <a:uFillTx/>
                <a:latin typeface="+mn-lt"/>
                <a:ea typeface="+mn-ea"/>
                <a:cs typeface="+mn-cs"/>
              </a:rPr>
            </a:fld>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3721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37220" name="Rectangle 2"/>
          <p:cNvSpPr>
            <a:spLocks noGrp="1" noRot="1" noChangeAspect="1" noTextEdit="1"/>
          </p:cNvSpPr>
          <p:nvPr>
            <p:ph type="sldImg"/>
          </p:nvPr>
        </p:nvSpPr>
        <p:spPr/>
      </p:sp>
      <p:sp>
        <p:nvSpPr>
          <p:cNvPr id="137221"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3824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38244" name="Rectangle 2"/>
          <p:cNvSpPr>
            <a:spLocks noGrp="1" noRot="1" noChangeAspect="1" noTextEdit="1"/>
          </p:cNvSpPr>
          <p:nvPr>
            <p:ph type="sldImg"/>
          </p:nvPr>
        </p:nvSpPr>
        <p:spPr/>
      </p:sp>
      <p:sp>
        <p:nvSpPr>
          <p:cNvPr id="138245"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39267"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39268" name="Rectangle 2"/>
          <p:cNvSpPr>
            <a:spLocks noGrp="1" noRot="1" noChangeAspect="1" noTextEdit="1"/>
          </p:cNvSpPr>
          <p:nvPr>
            <p:ph type="sldImg"/>
          </p:nvPr>
        </p:nvSpPr>
        <p:spPr/>
      </p:sp>
      <p:sp>
        <p:nvSpPr>
          <p:cNvPr id="139269"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0291"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0292" name="Rectangle 2"/>
          <p:cNvSpPr>
            <a:spLocks noGrp="1" noRot="1" noChangeAspect="1" noTextEdit="1"/>
          </p:cNvSpPr>
          <p:nvPr>
            <p:ph type="sldImg"/>
          </p:nvPr>
        </p:nvSpPr>
        <p:spPr/>
      </p:sp>
      <p:sp>
        <p:nvSpPr>
          <p:cNvPr id="140293"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131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1316" name="Rectangle 2"/>
          <p:cNvSpPr>
            <a:spLocks noGrp="1" noRot="1" noChangeAspect="1" noTextEdit="1"/>
          </p:cNvSpPr>
          <p:nvPr>
            <p:ph type="sldImg"/>
          </p:nvPr>
        </p:nvSpPr>
        <p:spPr/>
      </p:sp>
      <p:sp>
        <p:nvSpPr>
          <p:cNvPr id="141317"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233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2340" name="Rectangle 2"/>
          <p:cNvSpPr>
            <a:spLocks noGrp="1" noRot="1" noChangeAspect="1" noTextEdit="1"/>
          </p:cNvSpPr>
          <p:nvPr>
            <p:ph type="sldImg"/>
          </p:nvPr>
        </p:nvSpPr>
        <p:spPr/>
      </p:sp>
      <p:sp>
        <p:nvSpPr>
          <p:cNvPr id="142341"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336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3364" name="Rectangle 2"/>
          <p:cNvSpPr>
            <a:spLocks noGrp="1" noRot="1" noChangeAspect="1" noTextEdit="1"/>
          </p:cNvSpPr>
          <p:nvPr>
            <p:ph type="sldImg"/>
          </p:nvPr>
        </p:nvSpPr>
        <p:spPr/>
      </p:sp>
      <p:sp>
        <p:nvSpPr>
          <p:cNvPr id="143365"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4387"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4388" name="Rectangle 2"/>
          <p:cNvSpPr>
            <a:spLocks noGrp="1" noRot="1" noChangeAspect="1" noTextEdit="1"/>
          </p:cNvSpPr>
          <p:nvPr>
            <p:ph type="sldImg"/>
          </p:nvPr>
        </p:nvSpPr>
        <p:spPr/>
      </p:sp>
      <p:sp>
        <p:nvSpPr>
          <p:cNvPr id="144389"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5411"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5412" name="Rectangle 2"/>
          <p:cNvSpPr>
            <a:spLocks noGrp="1" noRot="1" noChangeAspect="1" noTextEdit="1"/>
          </p:cNvSpPr>
          <p:nvPr>
            <p:ph type="sldImg"/>
          </p:nvPr>
        </p:nvSpPr>
        <p:spPr/>
      </p:sp>
      <p:sp>
        <p:nvSpPr>
          <p:cNvPr id="145413"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noChangeArrowheads="1"/>
          </p:cNvSpPr>
          <p:nvPr/>
        </p:nvSpPr>
        <p:spPr bwMode="auto">
          <a:xfrm>
            <a:off x="3884613" y="8685213"/>
            <a:ext cx="2971800" cy="457200"/>
          </a:xfrm>
          <a:prstGeom prst="rect">
            <a:avLst/>
          </a:prstGeom>
          <a:noFill/>
          <a:ln>
            <a:miter lim="800000"/>
          </a:ln>
        </p:spPr>
        <p:txBody>
          <a:bodyPr anchor="b"/>
          <a:p>
            <a:pPr lvl="0" algn="r" eaLnBrk="1" hangingPunct="1">
              <a:buNone/>
            </a:pPr>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
        <p:nvSpPr>
          <p:cNvPr id="14643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Calibri" panose="020F0502020204030204" pitchFamily="34" charset="0"/>
                <a:ea typeface="仿宋_GB2312"/>
              </a:rPr>
            </a:fld>
            <a:endParaRPr lang="en-US" altLang="zh-CN" sz="1200" dirty="0">
              <a:latin typeface="Calibri" panose="020F0502020204030204" pitchFamily="34" charset="0"/>
              <a:ea typeface="仿宋_GB2312"/>
            </a:endParaRPr>
          </a:p>
        </p:txBody>
      </p:sp>
      <p:sp>
        <p:nvSpPr>
          <p:cNvPr id="146436" name="Rectangle 2"/>
          <p:cNvSpPr>
            <a:spLocks noGrp="1" noRot="1" noChangeAspect="1" noTextEdit="1"/>
          </p:cNvSpPr>
          <p:nvPr>
            <p:ph type="sldImg"/>
          </p:nvPr>
        </p:nvSpPr>
        <p:spPr/>
      </p:sp>
      <p:sp>
        <p:nvSpPr>
          <p:cNvPr id="146437"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9556775" y="434954"/>
            <a:ext cx="2072639" cy="55268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Group 16"/>
          <p:cNvGrpSpPr/>
          <p:nvPr userDrawn="1"/>
        </p:nvGrpSpPr>
        <p:grpSpPr>
          <a:xfrm>
            <a:off x="-43" y="0"/>
            <a:ext cx="1142965" cy="952483"/>
            <a:chOff x="1120775" y="1730534"/>
            <a:chExt cx="1085850" cy="1280160"/>
          </a:xfrm>
          <a:scene3d>
            <a:camera prst="orthographicFront">
              <a:rot lat="0" lon="0" rev="0"/>
            </a:camera>
            <a:lightRig rig="balanced" dir="t">
              <a:rot lat="0" lon="0" rev="8700000"/>
            </a:lightRig>
          </a:scene3d>
        </p:grpSpPr>
        <p:cxnSp>
          <p:nvCxnSpPr>
            <p:cNvPr id="4" name="Straight Connector 17"/>
            <p:cNvCxnSpPr/>
            <p:nvPr/>
          </p:nvCxnSpPr>
          <p:spPr>
            <a:xfrm rot="5400000">
              <a:off x="701040" y="2369820"/>
              <a:ext cx="1280160" cy="1588"/>
            </a:xfrm>
            <a:prstGeom prst="line">
              <a:avLst/>
            </a:prstGeom>
            <a:ln>
              <a:noFill/>
            </a:ln>
            <a:effectLst>
              <a:outerShdw blurRad="44450" dist="27940" dir="5400000" algn="ctr">
                <a:srgbClr val="000000">
                  <a:alpha val="32000"/>
                </a:srgbClr>
              </a:outerShdw>
            </a:effectLst>
            <a:sp3d>
              <a:bevelT w="190500" h="38100"/>
            </a:sp3d>
          </p:spPr>
          <p:style>
            <a:lnRef idx="1">
              <a:schemeClr val="accent1"/>
            </a:lnRef>
            <a:fillRef idx="0">
              <a:schemeClr val="accent1"/>
            </a:fillRef>
            <a:effectRef idx="0">
              <a:schemeClr val="accent1"/>
            </a:effectRef>
            <a:fontRef idx="minor">
              <a:schemeClr val="tx1"/>
            </a:fontRef>
          </p:style>
        </p:cxnSp>
        <p:grpSp>
          <p:nvGrpSpPr>
            <p:cNvPr id="3" name="Group 18"/>
            <p:cNvGrpSpPr/>
            <p:nvPr/>
          </p:nvGrpSpPr>
          <p:grpSpPr>
            <a:xfrm>
              <a:off x="1120775" y="1838325"/>
              <a:ext cx="1085850" cy="1077920"/>
              <a:chOff x="3810000" y="1948650"/>
              <a:chExt cx="1085850" cy="1077920"/>
            </a:xfrm>
          </p:grpSpPr>
          <p:sp>
            <p:nvSpPr>
              <p:cNvPr id="6" name="Trapezoid 19"/>
              <p:cNvSpPr/>
              <p:nvPr/>
            </p:nvSpPr>
            <p:spPr>
              <a:xfrm rot="5400000" flipH="1">
                <a:off x="3665141" y="2318934"/>
                <a:ext cx="892968" cy="152400"/>
              </a:xfrm>
              <a:prstGeom prst="trapezoid">
                <a:avLst>
                  <a:gd name="adj" fmla="val 62501"/>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7" name="Parallelogram 20"/>
              <p:cNvSpPr/>
              <p:nvPr/>
            </p:nvSpPr>
            <p:spPr>
              <a:xfrm rot="16200000" flipV="1">
                <a:off x="3508373" y="2343942"/>
                <a:ext cx="984254" cy="381000"/>
              </a:xfrm>
              <a:prstGeom prst="parallelogram">
                <a:avLst>
                  <a:gd name="adj" fmla="val 63243"/>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8" name="Freeform 21"/>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grpSp>
      </p:grpSp>
      <p:sp>
        <p:nvSpPr>
          <p:cNvPr id="10" name="Freeform 66"/>
          <p:cNvSpPr>
            <a:spLocks noEditPoints="1"/>
          </p:cNvSpPr>
          <p:nvPr userDrawn="1"/>
        </p:nvSpPr>
        <p:spPr bwMode="auto">
          <a:xfrm>
            <a:off x="380960" y="476229"/>
            <a:ext cx="381003" cy="28575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cxnSp>
        <p:nvCxnSpPr>
          <p:cNvPr id="12" name="直接连接符 11"/>
          <p:cNvCxnSpPr/>
          <p:nvPr userDrawn="1"/>
        </p:nvCxnSpPr>
        <p:spPr>
          <a:xfrm>
            <a:off x="857214" y="857232"/>
            <a:ext cx="2063786" cy="19068"/>
          </a:xfrm>
          <a:prstGeom prst="line">
            <a:avLst/>
          </a:prstGeom>
          <a:ln w="1524">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03265" y="3746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一、伤亡分类</a:t>
            </a:r>
            <a:endParaRPr lang="en-US" altLang="zh-CN"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二、检查分类</a:t>
            </a:r>
            <a:endPar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p:grpSpPr>
        <p:cxnSp>
          <p:nvCxnSpPr>
            <p:cNvPr id="17" name="Straight Connector 29"/>
            <p:cNvCxnSpPr/>
            <p:nvPr/>
          </p:nvCxnSpPr>
          <p:spPr>
            <a:xfrm rot="5400000">
              <a:off x="701040" y="2369820"/>
              <a:ext cx="1280160" cy="1588"/>
            </a:xfrm>
            <a:prstGeom prst="line">
              <a:avLst/>
            </a:pr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p:grpSpPr>
          <p:sp>
            <p:nvSpPr>
              <p:cNvPr id="25" name="Trapezoid 31"/>
              <p:cNvSpPr/>
              <p:nvPr/>
            </p:nvSpPr>
            <p:spPr>
              <a:xfrm rot="5400000" flipH="1">
                <a:off x="3665141" y="2318934"/>
                <a:ext cx="892968" cy="152400"/>
              </a:xfrm>
              <a:prstGeom prst="trapezoid">
                <a:avLst>
                  <a:gd name="adj" fmla="val 62501"/>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2152686" cy="19068"/>
          </a:xfrm>
          <a:prstGeom prst="line">
            <a:avLst/>
          </a:prstGeom>
          <a:ln w="1524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79465" y="3492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三、检查内容</a:t>
            </a:r>
            <a:endPar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15"/>
          <p:cNvGrpSpPr/>
          <p:nvPr userDrawn="1"/>
        </p:nvGrpSpPr>
        <p:grpSpPr>
          <a:xfrm>
            <a:off x="0" y="0"/>
            <a:ext cx="1142400" cy="952483"/>
            <a:chOff x="1120775" y="1730534"/>
            <a:chExt cx="1085850" cy="1280160"/>
          </a:xfrm>
        </p:grpSpPr>
        <p:cxnSp>
          <p:nvCxnSpPr>
            <p:cNvPr id="16" name="Straight Connector 14"/>
            <p:cNvCxnSpPr/>
            <p:nvPr/>
          </p:nvCxnSpPr>
          <p:spPr>
            <a:xfrm rot="5400000">
              <a:off x="701040" y="2369820"/>
              <a:ext cx="1280160" cy="1588"/>
            </a:xfrm>
            <a:prstGeom prst="line">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cxnSp>
        <p:grpSp>
          <p:nvGrpSpPr>
            <p:cNvPr id="3" name="Group 11"/>
            <p:cNvGrpSpPr/>
            <p:nvPr/>
          </p:nvGrpSpPr>
          <p:grpSpPr>
            <a:xfrm>
              <a:off x="1120775" y="1838325"/>
              <a:ext cx="1085850" cy="1077920"/>
              <a:chOff x="3810000" y="1948650"/>
              <a:chExt cx="1085850" cy="1077920"/>
            </a:xfrm>
          </p:grpSpPr>
          <p:sp>
            <p:nvSpPr>
              <p:cNvPr id="18" name="Trapezoid 7"/>
              <p:cNvSpPr/>
              <p:nvPr/>
            </p:nvSpPr>
            <p:spPr>
              <a:xfrm rot="5400000" flipH="1">
                <a:off x="3665141" y="2318934"/>
                <a:ext cx="892968" cy="152400"/>
              </a:xfrm>
              <a:prstGeom prst="trapezoid">
                <a:avLst>
                  <a:gd name="adj" fmla="val 62501"/>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19" name="Parallelogram 9"/>
              <p:cNvSpPr/>
              <p:nvPr/>
            </p:nvSpPr>
            <p:spPr>
              <a:xfrm rot="16200000" flipV="1">
                <a:off x="3508373" y="2343942"/>
                <a:ext cx="984254" cy="381000"/>
              </a:xfrm>
              <a:prstGeom prst="parallelogram">
                <a:avLst>
                  <a:gd name="adj" fmla="val 63243"/>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20" name="Freeform 10"/>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grpSp>
      </p:grpSp>
      <p:sp>
        <p:nvSpPr>
          <p:cNvPr id="21" name="Freeform 116"/>
          <p:cNvSpPr>
            <a:spLocks noEditPoints="1"/>
          </p:cNvSpPr>
          <p:nvPr userDrawn="1"/>
        </p:nvSpPr>
        <p:spPr bwMode="auto">
          <a:xfrm>
            <a:off x="285709" y="476229"/>
            <a:ext cx="468891" cy="30439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Group 16"/>
          <p:cNvGrpSpPr/>
          <p:nvPr userDrawn="1"/>
        </p:nvGrpSpPr>
        <p:grpSpPr>
          <a:xfrm>
            <a:off x="-43" y="0"/>
            <a:ext cx="1142965" cy="952483"/>
            <a:chOff x="1120775" y="1730534"/>
            <a:chExt cx="1085850" cy="1280160"/>
          </a:xfrm>
          <a:scene3d>
            <a:camera prst="orthographicFront">
              <a:rot lat="0" lon="0" rev="0"/>
            </a:camera>
            <a:lightRig rig="balanced" dir="t">
              <a:rot lat="0" lon="0" rev="8700000"/>
            </a:lightRig>
          </a:scene3d>
        </p:grpSpPr>
        <p:cxnSp>
          <p:nvCxnSpPr>
            <p:cNvPr id="4" name="Straight Connector 17"/>
            <p:cNvCxnSpPr/>
            <p:nvPr/>
          </p:nvCxnSpPr>
          <p:spPr>
            <a:xfrm rot="5400000">
              <a:off x="701040" y="2369820"/>
              <a:ext cx="1280160" cy="1588"/>
            </a:xfrm>
            <a:prstGeom prst="line">
              <a:avLst/>
            </a:prstGeom>
            <a:ln>
              <a:noFill/>
            </a:ln>
            <a:effectLst>
              <a:outerShdw blurRad="44450" dist="27940" dir="5400000" algn="ctr">
                <a:srgbClr val="000000">
                  <a:alpha val="32000"/>
                </a:srgbClr>
              </a:outerShdw>
            </a:effectLst>
            <a:sp3d>
              <a:bevelT w="190500" h="38100"/>
            </a:sp3d>
          </p:spPr>
          <p:style>
            <a:lnRef idx="1">
              <a:schemeClr val="accent1"/>
            </a:lnRef>
            <a:fillRef idx="0">
              <a:schemeClr val="accent1"/>
            </a:fillRef>
            <a:effectRef idx="0">
              <a:schemeClr val="accent1"/>
            </a:effectRef>
            <a:fontRef idx="minor">
              <a:schemeClr val="tx1"/>
            </a:fontRef>
          </p:style>
        </p:cxnSp>
        <p:grpSp>
          <p:nvGrpSpPr>
            <p:cNvPr id="3" name="Group 18"/>
            <p:cNvGrpSpPr/>
            <p:nvPr/>
          </p:nvGrpSpPr>
          <p:grpSpPr>
            <a:xfrm>
              <a:off x="1120775" y="1838325"/>
              <a:ext cx="1085850" cy="1077920"/>
              <a:chOff x="3810000" y="1948650"/>
              <a:chExt cx="1085850" cy="1077920"/>
            </a:xfrm>
          </p:grpSpPr>
          <p:sp>
            <p:nvSpPr>
              <p:cNvPr id="6" name="Trapezoid 19"/>
              <p:cNvSpPr/>
              <p:nvPr/>
            </p:nvSpPr>
            <p:spPr>
              <a:xfrm rot="5400000" flipH="1">
                <a:off x="3665141" y="2318934"/>
                <a:ext cx="892968" cy="152400"/>
              </a:xfrm>
              <a:prstGeom prst="trapezoid">
                <a:avLst>
                  <a:gd name="adj" fmla="val 62501"/>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7" name="Parallelogram 20"/>
              <p:cNvSpPr/>
              <p:nvPr/>
            </p:nvSpPr>
            <p:spPr>
              <a:xfrm rot="16200000" flipV="1">
                <a:off x="3508373" y="2343942"/>
                <a:ext cx="984254" cy="381000"/>
              </a:xfrm>
              <a:prstGeom prst="parallelogram">
                <a:avLst>
                  <a:gd name="adj" fmla="val 63243"/>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8" name="Freeform 21"/>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grpSp>
      </p:grpSp>
      <p:sp>
        <p:nvSpPr>
          <p:cNvPr id="10" name="Freeform 66"/>
          <p:cNvSpPr>
            <a:spLocks noEditPoints="1"/>
          </p:cNvSpPr>
          <p:nvPr userDrawn="1"/>
        </p:nvSpPr>
        <p:spPr bwMode="auto">
          <a:xfrm>
            <a:off x="380960" y="476229"/>
            <a:ext cx="381003" cy="28575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cxnSp>
        <p:nvCxnSpPr>
          <p:cNvPr id="12" name="直接连接符 11"/>
          <p:cNvCxnSpPr/>
          <p:nvPr userDrawn="1"/>
        </p:nvCxnSpPr>
        <p:spPr>
          <a:xfrm>
            <a:off x="857214" y="857232"/>
            <a:ext cx="2063786" cy="19068"/>
          </a:xfrm>
          <a:prstGeom prst="line">
            <a:avLst/>
          </a:prstGeom>
          <a:ln w="1524">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03265" y="3746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一、基本要求</a:t>
            </a:r>
            <a:endParaRPr lang="en-US" altLang="zh-CN"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2152686" cy="19068"/>
          </a:xfrm>
          <a:prstGeom prst="line">
            <a:avLst/>
          </a:prstGeom>
          <a:ln w="1524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79465" y="3492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二、检查要点</a:t>
            </a:r>
            <a:endPar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15"/>
          <p:cNvGrpSpPr/>
          <p:nvPr userDrawn="1"/>
        </p:nvGrpSpPr>
        <p:grpSpPr>
          <a:xfrm>
            <a:off x="0" y="0"/>
            <a:ext cx="1142400" cy="952483"/>
            <a:chOff x="1120775" y="1730534"/>
            <a:chExt cx="1085850" cy="1280160"/>
          </a:xfrm>
        </p:grpSpPr>
        <p:cxnSp>
          <p:nvCxnSpPr>
            <p:cNvPr id="16" name="Straight Connector 14"/>
            <p:cNvCxnSpPr/>
            <p:nvPr/>
          </p:nvCxnSpPr>
          <p:spPr>
            <a:xfrm rot="5400000">
              <a:off x="701040" y="2369820"/>
              <a:ext cx="1280160" cy="1588"/>
            </a:xfrm>
            <a:prstGeom prst="line">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cxnSp>
        <p:grpSp>
          <p:nvGrpSpPr>
            <p:cNvPr id="3" name="Group 11"/>
            <p:cNvGrpSpPr/>
            <p:nvPr/>
          </p:nvGrpSpPr>
          <p:grpSpPr>
            <a:xfrm>
              <a:off x="1120775" y="1838325"/>
              <a:ext cx="1085850" cy="1077920"/>
              <a:chOff x="3810000" y="1948650"/>
              <a:chExt cx="1085850" cy="1077920"/>
            </a:xfrm>
          </p:grpSpPr>
          <p:sp>
            <p:nvSpPr>
              <p:cNvPr id="18" name="Trapezoid 7"/>
              <p:cNvSpPr/>
              <p:nvPr/>
            </p:nvSpPr>
            <p:spPr>
              <a:xfrm rot="5400000" flipH="1">
                <a:off x="3665141" y="2318934"/>
                <a:ext cx="892968" cy="152400"/>
              </a:xfrm>
              <a:prstGeom prst="trapezoid">
                <a:avLst>
                  <a:gd name="adj" fmla="val 62501"/>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19" name="Parallelogram 9"/>
              <p:cNvSpPr/>
              <p:nvPr/>
            </p:nvSpPr>
            <p:spPr>
              <a:xfrm rot="16200000" flipV="1">
                <a:off x="3508373" y="2343942"/>
                <a:ext cx="984254" cy="381000"/>
              </a:xfrm>
              <a:prstGeom prst="parallelogram">
                <a:avLst>
                  <a:gd name="adj" fmla="val 63243"/>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20" name="Freeform 10"/>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grpSp>
      </p:grpSp>
      <p:sp>
        <p:nvSpPr>
          <p:cNvPr id="21" name="Freeform 116"/>
          <p:cNvSpPr>
            <a:spLocks noEditPoints="1"/>
          </p:cNvSpPr>
          <p:nvPr userDrawn="1"/>
        </p:nvSpPr>
        <p:spPr bwMode="auto">
          <a:xfrm>
            <a:off x="285709" y="476229"/>
            <a:ext cx="468891" cy="30439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2152686" cy="19068"/>
          </a:xfrm>
          <a:prstGeom prst="line">
            <a:avLst/>
          </a:prstGeom>
          <a:ln w="1524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79465" y="3492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二、检查要求</a:t>
            </a:r>
            <a:endPar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15"/>
          <p:cNvGrpSpPr/>
          <p:nvPr userDrawn="1"/>
        </p:nvGrpSpPr>
        <p:grpSpPr>
          <a:xfrm>
            <a:off x="0" y="0"/>
            <a:ext cx="1142400" cy="952483"/>
            <a:chOff x="1120775" y="1730534"/>
            <a:chExt cx="1085850" cy="1280160"/>
          </a:xfrm>
        </p:grpSpPr>
        <p:cxnSp>
          <p:nvCxnSpPr>
            <p:cNvPr id="16" name="Straight Connector 14"/>
            <p:cNvCxnSpPr/>
            <p:nvPr/>
          </p:nvCxnSpPr>
          <p:spPr>
            <a:xfrm rot="5400000">
              <a:off x="701040" y="2369820"/>
              <a:ext cx="1280160" cy="1588"/>
            </a:xfrm>
            <a:prstGeom prst="line">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cxnSp>
        <p:grpSp>
          <p:nvGrpSpPr>
            <p:cNvPr id="3" name="Group 11"/>
            <p:cNvGrpSpPr/>
            <p:nvPr/>
          </p:nvGrpSpPr>
          <p:grpSpPr>
            <a:xfrm>
              <a:off x="1120775" y="1838325"/>
              <a:ext cx="1085850" cy="1077920"/>
              <a:chOff x="3810000" y="1948650"/>
              <a:chExt cx="1085850" cy="1077920"/>
            </a:xfrm>
          </p:grpSpPr>
          <p:sp>
            <p:nvSpPr>
              <p:cNvPr id="18" name="Trapezoid 7"/>
              <p:cNvSpPr/>
              <p:nvPr/>
            </p:nvSpPr>
            <p:spPr>
              <a:xfrm rot="5400000" flipH="1">
                <a:off x="3665141" y="2318934"/>
                <a:ext cx="892968" cy="152400"/>
              </a:xfrm>
              <a:prstGeom prst="trapezoid">
                <a:avLst>
                  <a:gd name="adj" fmla="val 62501"/>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19" name="Parallelogram 9"/>
              <p:cNvSpPr/>
              <p:nvPr/>
            </p:nvSpPr>
            <p:spPr>
              <a:xfrm rot="16200000" flipV="1">
                <a:off x="3508373" y="2343942"/>
                <a:ext cx="984254" cy="381000"/>
              </a:xfrm>
              <a:prstGeom prst="parallelogram">
                <a:avLst>
                  <a:gd name="adj" fmla="val 63243"/>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20" name="Freeform 10"/>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grpSp>
      </p:grpSp>
      <p:sp>
        <p:nvSpPr>
          <p:cNvPr id="21" name="Freeform 116"/>
          <p:cNvSpPr>
            <a:spLocks noEditPoints="1"/>
          </p:cNvSpPr>
          <p:nvPr userDrawn="1"/>
        </p:nvSpPr>
        <p:spPr bwMode="auto">
          <a:xfrm>
            <a:off x="285709" y="476229"/>
            <a:ext cx="468891" cy="30439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三、检查要点</a:t>
            </a:r>
            <a:endPar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p:grpSpPr>
        <p:cxnSp>
          <p:nvCxnSpPr>
            <p:cNvPr id="17" name="Straight Connector 29"/>
            <p:cNvCxnSpPr/>
            <p:nvPr/>
          </p:nvCxnSpPr>
          <p:spPr>
            <a:xfrm rot="5400000">
              <a:off x="701040" y="2369820"/>
              <a:ext cx="1280160" cy="1588"/>
            </a:xfrm>
            <a:prstGeom prst="line">
              <a:avLst/>
            </a:pr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p:grpSpPr>
          <p:sp>
            <p:nvSpPr>
              <p:cNvPr id="25" name="Trapezoid 31"/>
              <p:cNvSpPr/>
              <p:nvPr/>
            </p:nvSpPr>
            <p:spPr>
              <a:xfrm rot="5400000" flipH="1">
                <a:off x="3665141" y="2318934"/>
                <a:ext cx="892968" cy="152400"/>
              </a:xfrm>
              <a:prstGeom prst="trapezoid">
                <a:avLst>
                  <a:gd name="adj" fmla="val 62501"/>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7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71370" cy="48958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三、典型案例</a:t>
            </a:r>
            <a:endPar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p:grpSpPr>
        <p:cxnSp>
          <p:nvCxnSpPr>
            <p:cNvPr id="17" name="Straight Connector 29"/>
            <p:cNvCxnSpPr/>
            <p:nvPr/>
          </p:nvCxnSpPr>
          <p:spPr>
            <a:xfrm rot="5400000">
              <a:off x="701040" y="2369820"/>
              <a:ext cx="1280160" cy="1588"/>
            </a:xfrm>
            <a:prstGeom prst="line">
              <a:avLst/>
            </a:pr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p:grpSpPr>
          <p:sp>
            <p:nvSpPr>
              <p:cNvPr id="25" name="Trapezoid 31"/>
              <p:cNvSpPr/>
              <p:nvPr/>
            </p:nvSpPr>
            <p:spPr>
              <a:xfrm rot="5400000" flipH="1">
                <a:off x="3665141" y="2318934"/>
                <a:ext cx="892968" cy="152400"/>
              </a:xfrm>
              <a:prstGeom prst="trapezoid">
                <a:avLst>
                  <a:gd name="adj" fmla="val 62501"/>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8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71370" cy="48958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四、事故报送</a:t>
            </a:r>
            <a:endPar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a:solidFill>
            <a:srgbClr val="00B050"/>
          </a:solidFill>
        </p:grpSpPr>
        <p:cxnSp>
          <p:nvCxnSpPr>
            <p:cNvPr id="17" name="Straight Connector 29"/>
            <p:cNvCxnSpPr/>
            <p:nvPr/>
          </p:nvCxnSpPr>
          <p:spPr>
            <a:xfrm rot="5400000">
              <a:off x="701040" y="2369820"/>
              <a:ext cx="1280160" cy="1588"/>
            </a:xfrm>
            <a:prstGeom prst="line">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a:grpFill/>
          </p:grpSpPr>
          <p:sp>
            <p:nvSpPr>
              <p:cNvPr id="25" name="Trapezoid 31"/>
              <p:cNvSpPr/>
              <p:nvPr/>
            </p:nvSpPr>
            <p:spPr>
              <a:xfrm rot="5400000" flipH="1">
                <a:off x="3665141" y="2318934"/>
                <a:ext cx="892968" cy="152400"/>
              </a:xfrm>
              <a:prstGeom prst="trapezoid">
                <a:avLst>
                  <a:gd name="adj" fmla="val 62501"/>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Group 16"/>
          <p:cNvGrpSpPr/>
          <p:nvPr userDrawn="1"/>
        </p:nvGrpSpPr>
        <p:grpSpPr>
          <a:xfrm>
            <a:off x="-43" y="0"/>
            <a:ext cx="1142965" cy="952483"/>
            <a:chOff x="1120775" y="1730534"/>
            <a:chExt cx="1085850" cy="1280160"/>
          </a:xfrm>
          <a:scene3d>
            <a:camera prst="orthographicFront">
              <a:rot lat="0" lon="0" rev="0"/>
            </a:camera>
            <a:lightRig rig="balanced" dir="t">
              <a:rot lat="0" lon="0" rev="8700000"/>
            </a:lightRig>
          </a:scene3d>
        </p:grpSpPr>
        <p:cxnSp>
          <p:nvCxnSpPr>
            <p:cNvPr id="4" name="Straight Connector 17"/>
            <p:cNvCxnSpPr/>
            <p:nvPr/>
          </p:nvCxnSpPr>
          <p:spPr>
            <a:xfrm rot="5400000">
              <a:off x="701040" y="2369820"/>
              <a:ext cx="1280160" cy="1588"/>
            </a:xfrm>
            <a:prstGeom prst="line">
              <a:avLst/>
            </a:prstGeom>
            <a:ln>
              <a:noFill/>
            </a:ln>
            <a:effectLst>
              <a:outerShdw blurRad="44450" dist="27940" dir="5400000" algn="ctr">
                <a:srgbClr val="000000">
                  <a:alpha val="32000"/>
                </a:srgbClr>
              </a:outerShdw>
            </a:effectLst>
            <a:sp3d>
              <a:bevelT w="190500" h="38100"/>
            </a:sp3d>
          </p:spPr>
          <p:style>
            <a:lnRef idx="1">
              <a:schemeClr val="accent1"/>
            </a:lnRef>
            <a:fillRef idx="0">
              <a:schemeClr val="accent1"/>
            </a:fillRef>
            <a:effectRef idx="0">
              <a:schemeClr val="accent1"/>
            </a:effectRef>
            <a:fontRef idx="minor">
              <a:schemeClr val="tx1"/>
            </a:fontRef>
          </p:style>
        </p:cxnSp>
        <p:grpSp>
          <p:nvGrpSpPr>
            <p:cNvPr id="3" name="Group 18"/>
            <p:cNvGrpSpPr/>
            <p:nvPr/>
          </p:nvGrpSpPr>
          <p:grpSpPr>
            <a:xfrm>
              <a:off x="1120775" y="1838325"/>
              <a:ext cx="1085850" cy="1077920"/>
              <a:chOff x="3810000" y="1948650"/>
              <a:chExt cx="1085850" cy="1077920"/>
            </a:xfrm>
          </p:grpSpPr>
          <p:sp>
            <p:nvSpPr>
              <p:cNvPr id="6" name="Trapezoid 19"/>
              <p:cNvSpPr/>
              <p:nvPr/>
            </p:nvSpPr>
            <p:spPr>
              <a:xfrm rot="5400000" flipH="1">
                <a:off x="3665141" y="2318934"/>
                <a:ext cx="892968" cy="152400"/>
              </a:xfrm>
              <a:prstGeom prst="trapezoid">
                <a:avLst>
                  <a:gd name="adj" fmla="val 62501"/>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7" name="Parallelogram 20"/>
              <p:cNvSpPr/>
              <p:nvPr/>
            </p:nvSpPr>
            <p:spPr>
              <a:xfrm rot="16200000" flipV="1">
                <a:off x="3508373" y="2343942"/>
                <a:ext cx="984254" cy="381000"/>
              </a:xfrm>
              <a:prstGeom prst="parallelogram">
                <a:avLst>
                  <a:gd name="adj" fmla="val 63243"/>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8" name="Freeform 21"/>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grpSp>
      </p:grpSp>
      <p:sp>
        <p:nvSpPr>
          <p:cNvPr id="10" name="Freeform 66"/>
          <p:cNvSpPr>
            <a:spLocks noEditPoints="1"/>
          </p:cNvSpPr>
          <p:nvPr userDrawn="1"/>
        </p:nvSpPr>
        <p:spPr bwMode="auto">
          <a:xfrm>
            <a:off x="380960" y="476229"/>
            <a:ext cx="381003" cy="28575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cxnSp>
        <p:nvCxnSpPr>
          <p:cNvPr id="12" name="直接连接符 11"/>
          <p:cNvCxnSpPr/>
          <p:nvPr userDrawn="1"/>
        </p:nvCxnSpPr>
        <p:spPr>
          <a:xfrm>
            <a:off x="857214" y="857232"/>
            <a:ext cx="2063786" cy="19068"/>
          </a:xfrm>
          <a:prstGeom prst="line">
            <a:avLst/>
          </a:prstGeom>
          <a:ln w="1524">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03265" y="3746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一、巡查要点</a:t>
            </a:r>
            <a:endParaRPr lang="en-US" altLang="zh-CN"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2152686" cy="19068"/>
          </a:xfrm>
          <a:prstGeom prst="line">
            <a:avLst/>
          </a:prstGeom>
          <a:ln w="1524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79465" y="3492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二、检查要点</a:t>
            </a:r>
            <a:endPar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15"/>
          <p:cNvGrpSpPr/>
          <p:nvPr userDrawn="1"/>
        </p:nvGrpSpPr>
        <p:grpSpPr>
          <a:xfrm>
            <a:off x="0" y="0"/>
            <a:ext cx="1142400" cy="952483"/>
            <a:chOff x="1120775" y="1730534"/>
            <a:chExt cx="1085850" cy="1280160"/>
          </a:xfrm>
        </p:grpSpPr>
        <p:cxnSp>
          <p:nvCxnSpPr>
            <p:cNvPr id="16" name="Straight Connector 14"/>
            <p:cNvCxnSpPr/>
            <p:nvPr/>
          </p:nvCxnSpPr>
          <p:spPr>
            <a:xfrm rot="5400000">
              <a:off x="701040" y="2369820"/>
              <a:ext cx="1280160" cy="1588"/>
            </a:xfrm>
            <a:prstGeom prst="line">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cxnSp>
        <p:grpSp>
          <p:nvGrpSpPr>
            <p:cNvPr id="3" name="Group 11"/>
            <p:cNvGrpSpPr/>
            <p:nvPr/>
          </p:nvGrpSpPr>
          <p:grpSpPr>
            <a:xfrm>
              <a:off x="1120775" y="1838325"/>
              <a:ext cx="1085850" cy="1077920"/>
              <a:chOff x="3810000" y="1948650"/>
              <a:chExt cx="1085850" cy="1077920"/>
            </a:xfrm>
          </p:grpSpPr>
          <p:sp>
            <p:nvSpPr>
              <p:cNvPr id="18" name="Trapezoid 7"/>
              <p:cNvSpPr/>
              <p:nvPr/>
            </p:nvSpPr>
            <p:spPr>
              <a:xfrm rot="5400000" flipH="1">
                <a:off x="3665141" y="2318934"/>
                <a:ext cx="892968" cy="152400"/>
              </a:xfrm>
              <a:prstGeom prst="trapezoid">
                <a:avLst>
                  <a:gd name="adj" fmla="val 62501"/>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19" name="Parallelogram 9"/>
              <p:cNvSpPr/>
              <p:nvPr/>
            </p:nvSpPr>
            <p:spPr>
              <a:xfrm rot="16200000" flipV="1">
                <a:off x="3508373" y="2343942"/>
                <a:ext cx="984254" cy="381000"/>
              </a:xfrm>
              <a:prstGeom prst="parallelogram">
                <a:avLst>
                  <a:gd name="adj" fmla="val 63243"/>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20" name="Freeform 10"/>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grpSp>
      </p:grpSp>
      <p:sp>
        <p:nvSpPr>
          <p:cNvPr id="21" name="Freeform 116"/>
          <p:cNvSpPr>
            <a:spLocks noEditPoints="1"/>
          </p:cNvSpPr>
          <p:nvPr userDrawn="1"/>
        </p:nvSpPr>
        <p:spPr bwMode="auto">
          <a:xfrm>
            <a:off x="285709" y="476229"/>
            <a:ext cx="468891" cy="30439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三、高后果区</a:t>
            </a:r>
            <a:endPar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a:solidFill>
            <a:srgbClr val="00B050"/>
          </a:solidFill>
        </p:grpSpPr>
        <p:cxnSp>
          <p:nvCxnSpPr>
            <p:cNvPr id="17" name="Straight Connector 29"/>
            <p:cNvCxnSpPr/>
            <p:nvPr/>
          </p:nvCxnSpPr>
          <p:spPr>
            <a:xfrm rot="5400000">
              <a:off x="701040" y="2369820"/>
              <a:ext cx="1280160" cy="1588"/>
            </a:xfrm>
            <a:prstGeom prst="line">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a:grpFill/>
          </p:grpSpPr>
          <p:sp>
            <p:nvSpPr>
              <p:cNvPr id="25" name="Trapezoid 31"/>
              <p:cNvSpPr/>
              <p:nvPr/>
            </p:nvSpPr>
            <p:spPr>
              <a:xfrm rot="5400000" flipH="1">
                <a:off x="3665141" y="2318934"/>
                <a:ext cx="892968" cy="152400"/>
              </a:xfrm>
              <a:prstGeom prst="trapezoid">
                <a:avLst>
                  <a:gd name="adj" fmla="val 62501"/>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Group 16"/>
          <p:cNvGrpSpPr/>
          <p:nvPr userDrawn="1"/>
        </p:nvGrpSpPr>
        <p:grpSpPr>
          <a:xfrm>
            <a:off x="-43" y="0"/>
            <a:ext cx="1142965" cy="952483"/>
            <a:chOff x="1120775" y="1730534"/>
            <a:chExt cx="1085850" cy="1280160"/>
          </a:xfrm>
          <a:scene3d>
            <a:camera prst="orthographicFront">
              <a:rot lat="0" lon="0" rev="0"/>
            </a:camera>
            <a:lightRig rig="balanced" dir="t">
              <a:rot lat="0" lon="0" rev="8700000"/>
            </a:lightRig>
          </a:scene3d>
        </p:grpSpPr>
        <p:cxnSp>
          <p:nvCxnSpPr>
            <p:cNvPr id="4" name="Straight Connector 17"/>
            <p:cNvCxnSpPr/>
            <p:nvPr/>
          </p:nvCxnSpPr>
          <p:spPr>
            <a:xfrm rot="5400000">
              <a:off x="701040" y="2369820"/>
              <a:ext cx="1280160" cy="1588"/>
            </a:xfrm>
            <a:prstGeom prst="line">
              <a:avLst/>
            </a:prstGeom>
            <a:ln>
              <a:noFill/>
            </a:ln>
            <a:effectLst>
              <a:outerShdw blurRad="44450" dist="27940" dir="5400000" algn="ctr">
                <a:srgbClr val="000000">
                  <a:alpha val="32000"/>
                </a:srgbClr>
              </a:outerShdw>
            </a:effectLst>
            <a:sp3d>
              <a:bevelT w="190500" h="38100"/>
            </a:sp3d>
          </p:spPr>
          <p:style>
            <a:lnRef idx="1">
              <a:schemeClr val="accent1"/>
            </a:lnRef>
            <a:fillRef idx="0">
              <a:schemeClr val="accent1"/>
            </a:fillRef>
            <a:effectRef idx="0">
              <a:schemeClr val="accent1"/>
            </a:effectRef>
            <a:fontRef idx="minor">
              <a:schemeClr val="tx1"/>
            </a:fontRef>
          </p:style>
        </p:cxnSp>
        <p:grpSp>
          <p:nvGrpSpPr>
            <p:cNvPr id="3" name="Group 18"/>
            <p:cNvGrpSpPr/>
            <p:nvPr/>
          </p:nvGrpSpPr>
          <p:grpSpPr>
            <a:xfrm>
              <a:off x="1120775" y="1838325"/>
              <a:ext cx="1085850" cy="1077920"/>
              <a:chOff x="3810000" y="1948650"/>
              <a:chExt cx="1085850" cy="1077920"/>
            </a:xfrm>
          </p:grpSpPr>
          <p:sp>
            <p:nvSpPr>
              <p:cNvPr id="6" name="Trapezoid 19"/>
              <p:cNvSpPr/>
              <p:nvPr/>
            </p:nvSpPr>
            <p:spPr>
              <a:xfrm rot="5400000" flipH="1">
                <a:off x="3665141" y="2318934"/>
                <a:ext cx="892968" cy="152400"/>
              </a:xfrm>
              <a:prstGeom prst="trapezoid">
                <a:avLst>
                  <a:gd name="adj" fmla="val 62501"/>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7" name="Parallelogram 20"/>
              <p:cNvSpPr/>
              <p:nvPr/>
            </p:nvSpPr>
            <p:spPr>
              <a:xfrm rot="16200000" flipV="1">
                <a:off x="3508373" y="2343942"/>
                <a:ext cx="984254" cy="381000"/>
              </a:xfrm>
              <a:prstGeom prst="parallelogram">
                <a:avLst>
                  <a:gd name="adj" fmla="val 63243"/>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sp>
            <p:nvSpPr>
              <p:cNvPr id="8" name="Freeform 21"/>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300" dirty="0"/>
              </a:p>
            </p:txBody>
          </p:sp>
        </p:grpSp>
      </p:grpSp>
      <p:sp>
        <p:nvSpPr>
          <p:cNvPr id="10" name="Freeform 66"/>
          <p:cNvSpPr>
            <a:spLocks noEditPoints="1"/>
          </p:cNvSpPr>
          <p:nvPr userDrawn="1"/>
        </p:nvSpPr>
        <p:spPr bwMode="auto">
          <a:xfrm>
            <a:off x="380960" y="476229"/>
            <a:ext cx="381003" cy="28575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cxnSp>
        <p:nvCxnSpPr>
          <p:cNvPr id="12" name="直接连接符 11"/>
          <p:cNvCxnSpPr/>
          <p:nvPr userDrawn="1"/>
        </p:nvCxnSpPr>
        <p:spPr>
          <a:xfrm flipV="1">
            <a:off x="857214" y="850900"/>
            <a:ext cx="1593886" cy="6332"/>
          </a:xfrm>
          <a:prstGeom prst="line">
            <a:avLst/>
          </a:prstGeom>
          <a:ln w="1524">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03265" y="374628"/>
            <a:ext cx="1568693"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一、动 火</a:t>
            </a:r>
            <a:endParaRPr lang="en-US" altLang="zh-CN" sz="2400" b="1"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2178086" cy="6368"/>
          </a:xfrm>
          <a:prstGeom prst="line">
            <a:avLst/>
          </a:prstGeom>
          <a:ln w="1524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79465" y="3492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二、受限空间</a:t>
            </a:r>
            <a:endParaRPr lang="zh-CN" altLang="en-US" sz="2400" b="1" kern="0"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15"/>
          <p:cNvGrpSpPr/>
          <p:nvPr userDrawn="1"/>
        </p:nvGrpSpPr>
        <p:grpSpPr>
          <a:xfrm>
            <a:off x="0" y="0"/>
            <a:ext cx="1142400" cy="952483"/>
            <a:chOff x="1120775" y="1730534"/>
            <a:chExt cx="1085850" cy="1280160"/>
          </a:xfrm>
        </p:grpSpPr>
        <p:cxnSp>
          <p:nvCxnSpPr>
            <p:cNvPr id="16" name="Straight Connector 14"/>
            <p:cNvCxnSpPr/>
            <p:nvPr/>
          </p:nvCxnSpPr>
          <p:spPr>
            <a:xfrm rot="5400000">
              <a:off x="701040" y="2369820"/>
              <a:ext cx="1280160" cy="1588"/>
            </a:xfrm>
            <a:prstGeom prst="line">
              <a:avLst/>
            </a:prstGeom>
            <a:solidFill>
              <a:srgbClr val="FF0000"/>
            </a:solidFill>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cxnSp>
        <p:grpSp>
          <p:nvGrpSpPr>
            <p:cNvPr id="3" name="Group 11"/>
            <p:cNvGrpSpPr/>
            <p:nvPr/>
          </p:nvGrpSpPr>
          <p:grpSpPr>
            <a:xfrm>
              <a:off x="1120775" y="1838325"/>
              <a:ext cx="1085850" cy="1077920"/>
              <a:chOff x="3810000" y="1948650"/>
              <a:chExt cx="1085850" cy="1077920"/>
            </a:xfrm>
          </p:grpSpPr>
          <p:sp>
            <p:nvSpPr>
              <p:cNvPr id="18" name="Trapezoid 7"/>
              <p:cNvSpPr/>
              <p:nvPr/>
            </p:nvSpPr>
            <p:spPr>
              <a:xfrm rot="5400000" flipH="1">
                <a:off x="3665141" y="2318934"/>
                <a:ext cx="892968" cy="152400"/>
              </a:xfrm>
              <a:prstGeom prst="trapezoid">
                <a:avLst>
                  <a:gd name="adj" fmla="val 62501"/>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19" name="Parallelogram 9"/>
              <p:cNvSpPr/>
              <p:nvPr/>
            </p:nvSpPr>
            <p:spPr>
              <a:xfrm rot="16200000" flipV="1">
                <a:off x="3508373" y="2343942"/>
                <a:ext cx="984254" cy="381000"/>
              </a:xfrm>
              <a:prstGeom prst="parallelogram">
                <a:avLst>
                  <a:gd name="adj" fmla="val 63243"/>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sp>
            <p:nvSpPr>
              <p:cNvPr id="20" name="Freeform 10"/>
              <p:cNvSpPr/>
              <p:nvPr/>
            </p:nvSpPr>
            <p:spPr>
              <a:xfrm flipV="1">
                <a:off x="3810000"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8565" rtl="0" eaLnBrk="1" latinLnBrk="0" hangingPunct="1"/>
                <a:endParaRPr lang="en-US" sz="4300" kern="1200" dirty="0">
                  <a:solidFill>
                    <a:srgbClr val="0000FF"/>
                  </a:solidFill>
                  <a:latin typeface="+mn-lt"/>
                  <a:ea typeface="+mn-ea"/>
                  <a:cs typeface="+mn-cs"/>
                </a:endParaRPr>
              </a:p>
            </p:txBody>
          </p:sp>
        </p:grpSp>
      </p:grpSp>
      <p:sp>
        <p:nvSpPr>
          <p:cNvPr id="21" name="Freeform 116"/>
          <p:cNvSpPr>
            <a:spLocks noEditPoints="1"/>
          </p:cNvSpPr>
          <p:nvPr userDrawn="1"/>
        </p:nvSpPr>
        <p:spPr bwMode="auto">
          <a:xfrm>
            <a:off x="285709" y="476229"/>
            <a:ext cx="468891" cy="30439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38200"/>
            <a:ext cx="2101886" cy="190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三、临时用电</a:t>
            </a:r>
            <a:endParaRPr lang="zh-CN" altLang="en-US" sz="2400" b="1" kern="0"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a:solidFill>
            <a:srgbClr val="00B050"/>
          </a:solidFill>
        </p:grpSpPr>
        <p:cxnSp>
          <p:nvCxnSpPr>
            <p:cNvPr id="17" name="Straight Connector 29"/>
            <p:cNvCxnSpPr/>
            <p:nvPr/>
          </p:nvCxnSpPr>
          <p:spPr>
            <a:xfrm rot="5400000">
              <a:off x="701040" y="2369820"/>
              <a:ext cx="1280160" cy="1588"/>
            </a:xfrm>
            <a:prstGeom prst="line">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a:grpFill/>
          </p:grpSpPr>
          <p:sp>
            <p:nvSpPr>
              <p:cNvPr id="25" name="Trapezoid 31"/>
              <p:cNvSpPr/>
              <p:nvPr/>
            </p:nvSpPr>
            <p:spPr>
              <a:xfrm rot="5400000" flipH="1">
                <a:off x="3665141" y="2318934"/>
                <a:ext cx="892968" cy="152400"/>
              </a:xfrm>
              <a:prstGeom prst="trapezoid">
                <a:avLst>
                  <a:gd name="adj" fmla="val 62501"/>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a:off x="857214" y="857232"/>
            <a:ext cx="1644686" cy="6368"/>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1477321"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四、吊装</a:t>
            </a:r>
            <a:endParaRPr lang="zh-CN" altLang="en-US" sz="2400" b="1" kern="0"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a:solidFill>
            <a:srgbClr val="FFC000"/>
          </a:solidFill>
        </p:grpSpPr>
        <p:cxnSp>
          <p:nvCxnSpPr>
            <p:cNvPr id="17" name="Straight Connector 29"/>
            <p:cNvCxnSpPr/>
            <p:nvPr/>
          </p:nvCxnSpPr>
          <p:spPr>
            <a:xfrm rot="5400000">
              <a:off x="701040" y="2369820"/>
              <a:ext cx="1280160" cy="1588"/>
            </a:xfrm>
            <a:prstGeom prst="line">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a:grpFill/>
          </p:grpSpPr>
          <p:sp>
            <p:nvSpPr>
              <p:cNvPr id="25" name="Trapezoid 31"/>
              <p:cNvSpPr/>
              <p:nvPr/>
            </p:nvSpPr>
            <p:spPr>
              <a:xfrm rot="5400000" flipH="1">
                <a:off x="3665141" y="2318934"/>
                <a:ext cx="892968" cy="152400"/>
              </a:xfrm>
              <a:prstGeom prst="trapezoid">
                <a:avLst>
                  <a:gd name="adj" fmla="val 62501"/>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50900"/>
            <a:ext cx="2559086" cy="63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092875"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F97E65"/>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五、高处作业</a:t>
            </a:r>
            <a:endParaRPr lang="zh-CN" altLang="en-US" sz="2400" b="1" kern="0" dirty="0">
              <a:solidFill>
                <a:srgbClr val="F97E65"/>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a:solidFill>
            <a:srgbClr val="FF0000"/>
          </a:solidFill>
        </p:grpSpPr>
        <p:cxnSp>
          <p:nvCxnSpPr>
            <p:cNvPr id="17" name="Straight Connector 29"/>
            <p:cNvCxnSpPr/>
            <p:nvPr/>
          </p:nvCxnSpPr>
          <p:spPr>
            <a:xfrm rot="5400000">
              <a:off x="701040" y="2369820"/>
              <a:ext cx="1280160" cy="1588"/>
            </a:xfrm>
            <a:prstGeom prst="line">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a:grpFill/>
          </p:grpSpPr>
          <p:sp>
            <p:nvSpPr>
              <p:cNvPr id="25" name="Trapezoid 31"/>
              <p:cNvSpPr/>
              <p:nvPr/>
            </p:nvSpPr>
            <p:spPr>
              <a:xfrm rot="5400000" flipH="1">
                <a:off x="3665141" y="2318934"/>
                <a:ext cx="892968" cy="152400"/>
              </a:xfrm>
              <a:prstGeom prst="trapezoid">
                <a:avLst>
                  <a:gd name="adj" fmla="val 62501"/>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grp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cxnSp>
        <p:nvCxnSpPr>
          <p:cNvPr id="12" name="直接连接符 11"/>
          <p:cNvCxnSpPr/>
          <p:nvPr userDrawn="1"/>
        </p:nvCxnSpPr>
        <p:spPr>
          <a:xfrm flipV="1">
            <a:off x="857214" y="850900"/>
            <a:ext cx="2559086" cy="6332"/>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1015965" y="336528"/>
            <a:ext cx="2708428" cy="49243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121917" tIns="60958" rIns="121917" bIns="60958">
            <a:spAutoFit/>
          </a:bodyPr>
          <a:lstStyle/>
          <a:p>
            <a:pPr lvl="0" defTabSz="1289685">
              <a:defRPr/>
            </a:pPr>
            <a:r>
              <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六、挖掘（动土）</a:t>
            </a:r>
            <a:endParaRPr lang="zh-CN" altLang="en-US" sz="2400" b="1" kern="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Group 28"/>
          <p:cNvGrpSpPr/>
          <p:nvPr userDrawn="1"/>
        </p:nvGrpSpPr>
        <p:grpSpPr>
          <a:xfrm>
            <a:off x="-43" y="2083"/>
            <a:ext cx="1142400" cy="950400"/>
            <a:chOff x="1120726" y="1730534"/>
            <a:chExt cx="1085850" cy="1280160"/>
          </a:xfrm>
        </p:grpSpPr>
        <p:cxnSp>
          <p:nvCxnSpPr>
            <p:cNvPr id="17" name="Straight Connector 29"/>
            <p:cNvCxnSpPr/>
            <p:nvPr/>
          </p:nvCxnSpPr>
          <p:spPr>
            <a:xfrm rot="5400000">
              <a:off x="701040" y="2369820"/>
              <a:ext cx="1280160" cy="1588"/>
            </a:xfrm>
            <a:prstGeom prst="line">
              <a:avLst/>
            </a:pr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grpSp>
          <p:nvGrpSpPr>
            <p:cNvPr id="3" name="Group 30"/>
            <p:cNvGrpSpPr/>
            <p:nvPr/>
          </p:nvGrpSpPr>
          <p:grpSpPr>
            <a:xfrm>
              <a:off x="1120726" y="1838325"/>
              <a:ext cx="1085850" cy="1077920"/>
              <a:chOff x="3809951" y="1948650"/>
              <a:chExt cx="1085850" cy="1077920"/>
            </a:xfrm>
          </p:grpSpPr>
          <p:sp>
            <p:nvSpPr>
              <p:cNvPr id="25" name="Trapezoid 31"/>
              <p:cNvSpPr/>
              <p:nvPr/>
            </p:nvSpPr>
            <p:spPr>
              <a:xfrm rot="5400000" flipH="1">
                <a:off x="3665141" y="2318934"/>
                <a:ext cx="892968" cy="152400"/>
              </a:xfrm>
              <a:prstGeom prst="trapezoid">
                <a:avLst>
                  <a:gd name="adj" fmla="val 62501"/>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6" name="Parallelogram 32"/>
              <p:cNvSpPr/>
              <p:nvPr/>
            </p:nvSpPr>
            <p:spPr>
              <a:xfrm rot="16200000" flipV="1">
                <a:off x="3508373" y="2343942"/>
                <a:ext cx="984254" cy="381000"/>
              </a:xfrm>
              <a:prstGeom prst="parallelogram">
                <a:avLst>
                  <a:gd name="adj" fmla="val 63243"/>
                </a:avLst>
              </a:pr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chemeClr val="tx1"/>
                  </a:solidFill>
                  <a:latin typeface="+mn-lt"/>
                  <a:ea typeface="+mn-ea"/>
                  <a:cs typeface="+mn-cs"/>
                </a:endParaRPr>
              </a:p>
            </p:txBody>
          </p:sp>
          <p:sp>
            <p:nvSpPr>
              <p:cNvPr id="27" name="Freeform 33"/>
              <p:cNvSpPr/>
              <p:nvPr/>
            </p:nvSpPr>
            <p:spPr>
              <a:xfrm flipV="1">
                <a:off x="3809951" y="2286000"/>
                <a:ext cx="1085850" cy="740570"/>
              </a:xfrm>
              <a:custGeom>
                <a:avLst/>
                <a:gdLst>
                  <a:gd name="connsiteX0" fmla="*/ 0 w 838200"/>
                  <a:gd name="connsiteY0" fmla="*/ 0 h 657225"/>
                  <a:gd name="connsiteX1" fmla="*/ 838200 w 838200"/>
                  <a:gd name="connsiteY1" fmla="*/ 0 h 657225"/>
                  <a:gd name="connsiteX2" fmla="*/ 838200 w 838200"/>
                  <a:gd name="connsiteY2" fmla="*/ 657225 h 657225"/>
                  <a:gd name="connsiteX3" fmla="*/ 0 w 838200"/>
                  <a:gd name="connsiteY3" fmla="*/ 657225 h 657225"/>
                  <a:gd name="connsiteX4" fmla="*/ 0 w 838200"/>
                  <a:gd name="connsiteY4" fmla="*/ 0 h 657225"/>
                  <a:gd name="connsiteX0-1" fmla="*/ 0 w 838200"/>
                  <a:gd name="connsiteY0-2" fmla="*/ 0 h 657225"/>
                  <a:gd name="connsiteX1-3" fmla="*/ 609600 w 838200"/>
                  <a:gd name="connsiteY1-4" fmla="*/ 0 h 657225"/>
                  <a:gd name="connsiteX2-5" fmla="*/ 838200 w 838200"/>
                  <a:gd name="connsiteY2-6" fmla="*/ 657225 h 657225"/>
                  <a:gd name="connsiteX3-7" fmla="*/ 0 w 838200"/>
                  <a:gd name="connsiteY3-8" fmla="*/ 657225 h 657225"/>
                  <a:gd name="connsiteX4-9" fmla="*/ 0 w 838200"/>
                  <a:gd name="connsiteY4-10" fmla="*/ 0 h 657225"/>
                  <a:gd name="connsiteX0-11" fmla="*/ 0 w 838200"/>
                  <a:gd name="connsiteY0-12" fmla="*/ 0 h 657225"/>
                  <a:gd name="connsiteX1-13" fmla="*/ 483079 w 838200"/>
                  <a:gd name="connsiteY1-14" fmla="*/ 0 h 657225"/>
                  <a:gd name="connsiteX2-15" fmla="*/ 838200 w 838200"/>
                  <a:gd name="connsiteY2-16" fmla="*/ 657225 h 657225"/>
                  <a:gd name="connsiteX3-17" fmla="*/ 0 w 838200"/>
                  <a:gd name="connsiteY3-18" fmla="*/ 657225 h 657225"/>
                  <a:gd name="connsiteX4-19" fmla="*/ 0 w 838200"/>
                  <a:gd name="connsiteY4-20" fmla="*/ 0 h 657225"/>
                  <a:gd name="connsiteX0-21" fmla="*/ 0 w 838200"/>
                  <a:gd name="connsiteY0-22" fmla="*/ 0 h 657225"/>
                  <a:gd name="connsiteX1-23" fmla="*/ 483079 w 838200"/>
                  <a:gd name="connsiteY1-24" fmla="*/ 0 h 657225"/>
                  <a:gd name="connsiteX2-25" fmla="*/ 602916 w 838200"/>
                  <a:gd name="connsiteY2-26" fmla="*/ 0 h 657225"/>
                  <a:gd name="connsiteX3-27" fmla="*/ 838200 w 838200"/>
                  <a:gd name="connsiteY3-28" fmla="*/ 657225 h 657225"/>
                  <a:gd name="connsiteX4-29" fmla="*/ 0 w 838200"/>
                  <a:gd name="connsiteY4-30" fmla="*/ 657225 h 657225"/>
                  <a:gd name="connsiteX5" fmla="*/ 0 w 838200"/>
                  <a:gd name="connsiteY5" fmla="*/ 0 h 6572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838200" h="657225">
                    <a:moveTo>
                      <a:pt x="0" y="0"/>
                    </a:moveTo>
                    <a:lnTo>
                      <a:pt x="483079" y="0"/>
                    </a:lnTo>
                    <a:lnTo>
                      <a:pt x="602916" y="0"/>
                    </a:lnTo>
                    <a:lnTo>
                      <a:pt x="838200" y="657225"/>
                    </a:lnTo>
                    <a:lnTo>
                      <a:pt x="0" y="657225"/>
                    </a:lnTo>
                    <a:lnTo>
                      <a:pt x="0" y="0"/>
                    </a:lnTo>
                    <a:close/>
                  </a:path>
                </a:pathLst>
              </a:custGeom>
              <a:solidFill>
                <a:srgbClr val="7030A0"/>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algn="l" defTabSz="1218565" rtl="0" eaLnBrk="1" latinLnBrk="0" hangingPunct="1"/>
                <a:endParaRPr lang="en-US" sz="4300" kern="1200" dirty="0">
                  <a:solidFill>
                    <a:srgbClr val="7030A0"/>
                  </a:solidFill>
                  <a:latin typeface="+mn-lt"/>
                  <a:ea typeface="+mn-ea"/>
                  <a:cs typeface="+mn-cs"/>
                </a:endParaRPr>
              </a:p>
            </p:txBody>
          </p:sp>
        </p:grpSp>
      </p:grpSp>
      <p:sp>
        <p:nvSpPr>
          <p:cNvPr id="28" name="Freeform 57"/>
          <p:cNvSpPr>
            <a:spLocks noEditPoints="1"/>
          </p:cNvSpPr>
          <p:nvPr userDrawn="1"/>
        </p:nvSpPr>
        <p:spPr bwMode="auto">
          <a:xfrm>
            <a:off x="333290" y="428559"/>
            <a:ext cx="428673" cy="333423"/>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chemeClr val="bg1"/>
          </a:solidFill>
          <a:ln w="9525">
            <a:noFill/>
            <a:rou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56" tIns="81278" rIns="162556" bIns="81278" numCol="1" anchor="t" anchorCtr="0" compatLnSpc="1"/>
          <a:lstStyle/>
          <a:p>
            <a:endParaRPr lang="en-US" sz="43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6" name="灯片编号占位符 5"/>
          <p:cNvSpPr>
            <a:spLocks noGrp="1"/>
          </p:cNvSpPr>
          <p:nvPr>
            <p:ph type="sldNum" sz="quarter" idx="12"/>
          </p:nvPr>
        </p:nvSpPr>
        <p:spPr/>
        <p:txBody>
          <a:bodyPr/>
          <a:lstStyle/>
          <a:p>
            <a:pPr fontAlgn="auto"/>
            <a:fld id="{1B179DBB-BF91-4D4F-BFA6-6EFA66ADE78E}" type="slidenum">
              <a:rPr lang="zh-CN" altLang="en-US" strike="noStrike" noProof="1" smtClean="0">
                <a:latin typeface="+mn-lt"/>
                <a:ea typeface="+mn-ea"/>
                <a:cs typeface="+mn-cs"/>
              </a:rPr>
            </a:fld>
            <a:endParaRPr lang="zh-CN" altLang="en-US" strike="noStrike" noProof="1"/>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燕尾形 1"/>
          <p:cNvSpPr/>
          <p:nvPr userDrawn="1"/>
        </p:nvSpPr>
        <p:spPr>
          <a:xfrm rot="16200000">
            <a:off x="11198400" y="1428736"/>
            <a:ext cx="357246" cy="71438"/>
          </a:xfrm>
          <a:prstGeom prst="chevron">
            <a:avLst/>
          </a:prstGeom>
          <a:solidFill>
            <a:srgbClr val="F05425"/>
          </a:solidFill>
          <a:ln>
            <a:noFill/>
            <a:tailEnd type="triangle" w="med" len="lg"/>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05425"/>
              </a:solidFill>
            </a:endParaRPr>
          </a:p>
        </p:txBody>
      </p:sp>
      <p:cxnSp>
        <p:nvCxnSpPr>
          <p:cNvPr id="4" name="直接连接符 3"/>
          <p:cNvCxnSpPr/>
          <p:nvPr userDrawn="1"/>
        </p:nvCxnSpPr>
        <p:spPr>
          <a:xfrm>
            <a:off x="1724294" y="377062"/>
            <a:ext cx="0" cy="2619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userDrawn="1"/>
        </p:nvSpPr>
        <p:spPr>
          <a:xfrm>
            <a:off x="1737760" y="357166"/>
            <a:ext cx="2985139" cy="4603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2400" b="1" kern="1200" baseline="0" dirty="0">
                <a:solidFill>
                  <a:srgbClr val="F05425"/>
                </a:solidFill>
                <a:latin typeface="微软雅黑" panose="020B0503020204020204" pitchFamily="34" charset="-122"/>
                <a:ea typeface="微软雅黑" panose="020B0503020204020204" pitchFamily="34" charset="-122"/>
                <a:cs typeface="+mn-cs"/>
              </a:rPr>
              <a:t>第一章</a:t>
            </a:r>
            <a:endParaRPr lang="zh-CN" altLang="en-US" sz="2400" b="1" kern="1200" dirty="0">
              <a:solidFill>
                <a:srgbClr val="F05425"/>
              </a:solidFill>
              <a:latin typeface="微软雅黑" panose="020B0503020204020204" pitchFamily="34" charset="-122"/>
              <a:ea typeface="微软雅黑" panose="020B0503020204020204" pitchFamily="34" charset="-122"/>
              <a:cs typeface="+mn-cs"/>
            </a:endParaRPr>
          </a:p>
        </p:txBody>
      </p:sp>
      <p:sp>
        <p:nvSpPr>
          <p:cNvPr id="6" name="燕尾形 5"/>
          <p:cNvSpPr/>
          <p:nvPr userDrawn="1"/>
        </p:nvSpPr>
        <p:spPr>
          <a:xfrm>
            <a:off x="10483908" y="886326"/>
            <a:ext cx="500144" cy="45719"/>
          </a:xfrm>
          <a:prstGeom prst="chevron">
            <a:avLst/>
          </a:prstGeom>
          <a:solidFill>
            <a:srgbClr val="F05425"/>
          </a:solidFill>
          <a:ln>
            <a:noFill/>
            <a:tailEnd type="triangle" w="med" len="lg"/>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05425"/>
              </a:solidFill>
            </a:endParaRPr>
          </a:p>
        </p:txBody>
      </p:sp>
      <p:sp>
        <p:nvSpPr>
          <p:cNvPr id="7" name="椭圆 6"/>
          <p:cNvSpPr/>
          <p:nvPr userDrawn="1"/>
        </p:nvSpPr>
        <p:spPr>
          <a:xfrm>
            <a:off x="10948519" y="500042"/>
            <a:ext cx="792124" cy="792000"/>
          </a:xfrm>
          <a:prstGeom prst="ellipse">
            <a:avLst/>
          </a:prstGeom>
          <a:noFill/>
          <a:ln w="57150">
            <a:solidFill>
              <a:srgbClr val="F05425"/>
            </a:solidFill>
          </a:ln>
        </p:spPr>
        <p:style>
          <a:lnRef idx="3">
            <a:schemeClr val="lt1"/>
          </a:lnRef>
          <a:fillRef idx="1">
            <a:schemeClr val="accent1"/>
          </a:fillRef>
          <a:effectRef idx="1">
            <a:schemeClr val="accent1"/>
          </a:effectRef>
          <a:fontRef idx="minor">
            <a:schemeClr val="lt1"/>
          </a:fontRef>
        </p:style>
        <p:txBody>
          <a:bodyPr lIns="7200" tIns="7200" rIns="7200" bIns="7200" anchor="ctr"/>
          <a:lstStyle/>
          <a:p>
            <a:pPr marL="0" marR="0" indent="0" algn="ctr" defTabSz="914400" rtl="0" eaLnBrk="1" fontAlgn="auto" latinLnBrk="0" hangingPunct="1">
              <a:lnSpc>
                <a:spcPct val="100000"/>
              </a:lnSpc>
              <a:spcBef>
                <a:spcPts val="0"/>
              </a:spcBef>
              <a:spcAft>
                <a:spcPts val="0"/>
              </a:spcAft>
              <a:buClrTx/>
              <a:buSzTx/>
              <a:buFontTx/>
              <a:buNone/>
              <a:defRPr/>
            </a:pPr>
            <a:fld id="{2EEF1883-7A0E-4F66-9932-E581691AD397}" type="slidenum">
              <a:rPr kumimoji="0" lang="zh-CN" altLang="en-US" sz="3200" b="1" i="0" u="none" strike="noStrike" kern="1200" cap="none" spc="0" normalizeH="0" baseline="0" noProof="0" smtClean="0">
                <a:ln>
                  <a:noFill/>
                </a:ln>
                <a:solidFill>
                  <a:srgbClr val="F05425"/>
                </a:solidFill>
                <a:effectLst/>
                <a:uLnTx/>
                <a:uFillTx/>
                <a:latin typeface="Tahoma" panose="020B0604030504040204" pitchFamily="34" charset="0"/>
                <a:ea typeface="Arial Unicode MS" panose="020B0604020202020204" pitchFamily="34" charset="-122"/>
                <a:cs typeface="Tahoma" panose="020B0604030504040204" pitchFamily="34" charset="0"/>
              </a:rPr>
            </a:fld>
            <a:endParaRPr lang="zh-CN" altLang="en-US" sz="3200" b="1" dirty="0">
              <a:solidFill>
                <a:srgbClr val="F05425"/>
              </a:solidFill>
              <a:effectLst>
                <a:outerShdw blurRad="38100" dist="38100" dir="2700000" algn="tl">
                  <a:srgbClr val="000000">
                    <a:alpha val="43137"/>
                  </a:srgbClr>
                </a:outerShdw>
              </a:effectLst>
              <a:latin typeface="Tahoma" panose="020B0604030504040204" pitchFamily="34" charset="0"/>
              <a:ea typeface="Arial Unicode MS" panose="020B0604020202020204" pitchFamily="34" charset="-122"/>
              <a:cs typeface="Tahoma" panose="020B0604030504040204" pitchFamily="34" charset="0"/>
            </a:endParaRPr>
          </a:p>
        </p:txBody>
      </p:sp>
      <p:sp>
        <p:nvSpPr>
          <p:cNvPr id="8" name="椭圆 7"/>
          <p:cNvSpPr/>
          <p:nvPr userDrawn="1"/>
        </p:nvSpPr>
        <p:spPr>
          <a:xfrm>
            <a:off x="10012324" y="644042"/>
            <a:ext cx="504079" cy="504000"/>
          </a:xfrm>
          <a:prstGeom prst="ellipse">
            <a:avLst/>
          </a:prstGeom>
          <a:noFill/>
          <a:ln w="57150">
            <a:solidFill>
              <a:srgbClr val="F05425"/>
            </a:solidFill>
          </a:ln>
        </p:spPr>
        <p:style>
          <a:lnRef idx="3">
            <a:schemeClr val="lt1"/>
          </a:lnRef>
          <a:fillRef idx="1">
            <a:schemeClr val="accent1"/>
          </a:fillRef>
          <a:effectRef idx="1">
            <a:schemeClr val="accent1"/>
          </a:effectRef>
          <a:fontRef idx="minor">
            <a:schemeClr val="lt1"/>
          </a:fontRef>
        </p:style>
        <p:txBody>
          <a:bodyPr lIns="7200" tIns="7200" rIns="7200" bIns="7200" anchor="ct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2800" b="1" dirty="0">
              <a:solidFill>
                <a:srgbClr val="F05425"/>
              </a:solidFill>
              <a:effectLst>
                <a:outerShdw blurRad="38100" dist="38100" dir="2700000" algn="tl">
                  <a:srgbClr val="000000">
                    <a:alpha val="43137"/>
                  </a:srgbClr>
                </a:outerShdw>
              </a:effectLst>
              <a:latin typeface="Broadway" panose="04040905080B02020502" pitchFamily="82" charset="0"/>
              <a:ea typeface="微软雅黑" panose="020B0503020204020204" pitchFamily="34" charset="-122"/>
              <a:cs typeface="Tahoma" panose="020B0604030504040204" pitchFamily="34" charset="0"/>
            </a:endParaRPr>
          </a:p>
        </p:txBody>
      </p:sp>
      <p:sp>
        <p:nvSpPr>
          <p:cNvPr id="9" name="椭圆 8"/>
          <p:cNvSpPr/>
          <p:nvPr userDrawn="1"/>
        </p:nvSpPr>
        <p:spPr>
          <a:xfrm>
            <a:off x="11092541" y="1616178"/>
            <a:ext cx="504079" cy="504000"/>
          </a:xfrm>
          <a:prstGeom prst="ellipse">
            <a:avLst/>
          </a:prstGeom>
          <a:noFill/>
          <a:ln w="57150">
            <a:solidFill>
              <a:srgbClr val="F05425"/>
            </a:solidFill>
          </a:ln>
        </p:spPr>
        <p:style>
          <a:lnRef idx="3">
            <a:schemeClr val="lt1"/>
          </a:lnRef>
          <a:fillRef idx="1">
            <a:schemeClr val="accent1"/>
          </a:fillRef>
          <a:effectRef idx="1">
            <a:schemeClr val="accent1"/>
          </a:effectRef>
          <a:fontRef idx="minor">
            <a:schemeClr val="lt1"/>
          </a:fontRef>
        </p:style>
        <p:txBody>
          <a:bodyPr lIns="7200" tIns="7200" rIns="7200" bIns="7200" anchor="ctr"/>
          <a:lstStyle/>
          <a:p>
            <a:pPr marL="0" marR="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F05425"/>
                </a:solidFill>
                <a:effectLst/>
                <a:uLnTx/>
                <a:uFillTx/>
                <a:latin typeface="微软雅黑" panose="020B0503020204020204" pitchFamily="34" charset="-122"/>
                <a:ea typeface="微软雅黑" panose="020B0503020204020204" pitchFamily="34" charset="-122"/>
                <a:cs typeface="Tahoma" panose="020B0604030504040204" pitchFamily="34" charset="0"/>
              </a:rPr>
              <a:t>壹</a:t>
            </a:r>
            <a:endParaRPr lang="zh-CN" altLang="en-US" sz="2800" b="0" dirty="0">
              <a:solidFill>
                <a:srgbClr val="F05425"/>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ahoma" panose="020B0604030504040204" pitchFamily="34" charset="0"/>
            </a:endParaRPr>
          </a:p>
        </p:txBody>
      </p:sp>
      <p:sp>
        <p:nvSpPr>
          <p:cNvPr id="10" name="椭圆 9"/>
          <p:cNvSpPr/>
          <p:nvPr userDrawn="1"/>
        </p:nvSpPr>
        <p:spPr>
          <a:xfrm>
            <a:off x="9508134" y="805554"/>
            <a:ext cx="179416" cy="180975"/>
          </a:xfrm>
          <a:prstGeom prst="ellipse">
            <a:avLst/>
          </a:prstGeom>
          <a:noFill/>
          <a:ln w="57150">
            <a:solidFill>
              <a:srgbClr val="F05425"/>
            </a:solidFill>
          </a:ln>
        </p:spPr>
        <p:style>
          <a:lnRef idx="3">
            <a:schemeClr val="lt1"/>
          </a:lnRef>
          <a:fillRef idx="1">
            <a:schemeClr val="accent1"/>
          </a:fillRef>
          <a:effectRef idx="1">
            <a:schemeClr val="accent1"/>
          </a:effectRef>
          <a:fontRef idx="minor">
            <a:schemeClr val="lt1"/>
          </a:fontRef>
        </p:style>
        <p:txBody>
          <a:bodyPr lIns="7200" tIns="7200" rIns="7200" bIns="7200" anchor="ctr"/>
          <a:lstStyle/>
          <a:p>
            <a:pPr marR="0" lvl="0" indent="0" algn="ctr" fontAlgn="auto">
              <a:lnSpc>
                <a:spcPct val="100000"/>
              </a:lnSpc>
              <a:spcBef>
                <a:spcPts val="0"/>
              </a:spcBef>
              <a:spcAft>
                <a:spcPts val="0"/>
              </a:spcAft>
              <a:buClrTx/>
              <a:buSzTx/>
              <a:buFontTx/>
              <a:buNone/>
            </a:pPr>
            <a:endParaRPr kumimoji="0" lang="zh-CN" altLang="en-US" sz="2800" b="1" i="0" u="none" strike="noStrike" cap="none" spc="0" normalizeH="0" baseline="0">
              <a:ln>
                <a:noFill/>
              </a:ln>
              <a:solidFill>
                <a:srgbClr val="F05425"/>
              </a:solidFill>
              <a:effectLst/>
              <a:uLnTx/>
              <a:uFillTx/>
              <a:latin typeface="微软雅黑" panose="020B0503020204020204" pitchFamily="34" charset="-122"/>
              <a:ea typeface="微软雅黑" panose="020B0503020204020204" pitchFamily="34" charset="-122"/>
              <a:cs typeface="Tahoma" panose="020B0604030504040204" pitchFamily="34" charset="0"/>
            </a:endParaRPr>
          </a:p>
        </p:txBody>
      </p:sp>
      <p:sp>
        <p:nvSpPr>
          <p:cNvPr id="11" name="椭圆 10"/>
          <p:cNvSpPr/>
          <p:nvPr userDrawn="1"/>
        </p:nvSpPr>
        <p:spPr>
          <a:xfrm>
            <a:off x="11254873" y="2371251"/>
            <a:ext cx="179416" cy="180975"/>
          </a:xfrm>
          <a:prstGeom prst="ellipse">
            <a:avLst/>
          </a:prstGeom>
          <a:noFill/>
          <a:ln w="57150">
            <a:solidFill>
              <a:srgbClr val="F05425"/>
            </a:solidFill>
          </a:ln>
        </p:spPr>
        <p:style>
          <a:lnRef idx="3">
            <a:schemeClr val="lt1"/>
          </a:lnRef>
          <a:fillRef idx="1">
            <a:schemeClr val="accent1"/>
          </a:fillRef>
          <a:effectRef idx="1">
            <a:schemeClr val="accent1"/>
          </a:effectRef>
          <a:fontRef idx="minor">
            <a:schemeClr val="lt1"/>
          </a:fontRef>
        </p:style>
        <p:txBody>
          <a:bodyPr lIns="7200" tIns="7200" rIns="7200" bIns="7200" anchor="ctr"/>
          <a:lstStyle/>
          <a:p>
            <a:pPr marR="0" lvl="0" indent="0" algn="ctr" fontAlgn="auto">
              <a:lnSpc>
                <a:spcPct val="100000"/>
              </a:lnSpc>
              <a:spcBef>
                <a:spcPts val="0"/>
              </a:spcBef>
              <a:spcAft>
                <a:spcPts val="0"/>
              </a:spcAft>
              <a:buClrTx/>
              <a:buSzTx/>
              <a:buFontTx/>
              <a:buNone/>
            </a:pPr>
            <a:endParaRPr kumimoji="0" lang="zh-CN" altLang="en-US" sz="2800" b="1" i="0" u="none" strike="noStrike" cap="none" spc="0" normalizeH="0" baseline="0">
              <a:ln>
                <a:noFill/>
              </a:ln>
              <a:solidFill>
                <a:srgbClr val="F05425"/>
              </a:solidFill>
              <a:effectLst/>
              <a:uLnTx/>
              <a:uFillTx/>
              <a:latin typeface="微软雅黑" panose="020B0503020204020204" pitchFamily="34" charset="-122"/>
              <a:ea typeface="微软雅黑" panose="020B0503020204020204" pitchFamily="34" charset="-122"/>
              <a:cs typeface="Tahoma" panose="020B0604030504040204" pitchFamily="34" charset="0"/>
            </a:endParaRPr>
          </a:p>
        </p:txBody>
      </p:sp>
      <p:cxnSp>
        <p:nvCxnSpPr>
          <p:cNvPr id="12" name="直接连接符 11"/>
          <p:cNvCxnSpPr>
            <a:stCxn id="10" idx="2"/>
          </p:cNvCxnSpPr>
          <p:nvPr userDrawn="1"/>
        </p:nvCxnSpPr>
        <p:spPr>
          <a:xfrm flipH="1" flipV="1">
            <a:off x="937843" y="896041"/>
            <a:ext cx="8570291" cy="1"/>
          </a:xfrm>
          <a:prstGeom prst="line">
            <a:avLst/>
          </a:prstGeom>
          <a:ln>
            <a:solidFill>
              <a:srgbClr val="F05425"/>
            </a:solidFill>
            <a:prstDash val="dash"/>
            <a:headEnd type="none" w="med" len="med"/>
            <a:tailEnd type="oval"/>
          </a:ln>
        </p:spPr>
        <p:style>
          <a:lnRef idx="1">
            <a:schemeClr val="accent2"/>
          </a:lnRef>
          <a:fillRef idx="0">
            <a:schemeClr val="accent2"/>
          </a:fillRef>
          <a:effectRef idx="0">
            <a:schemeClr val="accent2"/>
          </a:effectRef>
          <a:fontRef idx="minor">
            <a:schemeClr val="tx1"/>
          </a:fontRef>
        </p:style>
      </p:cxnSp>
      <p:sp>
        <p:nvSpPr>
          <p:cNvPr id="13" name="矩形 12"/>
          <p:cNvSpPr/>
          <p:nvPr userDrawn="1"/>
        </p:nvSpPr>
        <p:spPr>
          <a:xfrm>
            <a:off x="2855292" y="583126"/>
            <a:ext cx="5905579" cy="576064"/>
          </a:xfrm>
          <a:prstGeom prst="rect">
            <a:avLst/>
          </a:prstGeom>
          <a:solidFill>
            <a:schemeClr val="bg1"/>
          </a:solidFill>
          <a:ln w="12700">
            <a:solidFill>
              <a:srgbClr val="F05425"/>
            </a:solidFill>
            <a:prstDash val="dash"/>
            <a:tailEnd type="triangle" w="med" len="lg"/>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dirty="0">
              <a:solidFill>
                <a:srgbClr val="F05425"/>
              </a:solidFill>
            </a:endParaRPr>
          </a:p>
        </p:txBody>
      </p:sp>
      <p:cxnSp>
        <p:nvCxnSpPr>
          <p:cNvPr id="14" name="直接连接符 13"/>
          <p:cNvCxnSpPr>
            <a:stCxn id="11" idx="4"/>
          </p:cNvCxnSpPr>
          <p:nvPr userDrawn="1"/>
        </p:nvCxnSpPr>
        <p:spPr>
          <a:xfrm>
            <a:off x="11344581" y="2552226"/>
            <a:ext cx="0" cy="3888432"/>
          </a:xfrm>
          <a:prstGeom prst="line">
            <a:avLst/>
          </a:prstGeom>
          <a:ln>
            <a:solidFill>
              <a:srgbClr val="F05425"/>
            </a:solidFill>
            <a:prstDash val="dash"/>
            <a:headEnd type="none" w="med" len="med"/>
            <a:tailEnd type="oval"/>
          </a:ln>
        </p:spPr>
        <p:style>
          <a:lnRef idx="1">
            <a:schemeClr val="accent2"/>
          </a:lnRef>
          <a:fillRef idx="0">
            <a:schemeClr val="accent2"/>
          </a:fillRef>
          <a:effectRef idx="0">
            <a:schemeClr val="accent2"/>
          </a:effectRef>
          <a:fontRef idx="minor">
            <a:schemeClr val="tx1"/>
          </a:fontRef>
        </p:style>
      </p:cxnSp>
      <p:sp>
        <p:nvSpPr>
          <p:cNvPr id="15" name="矩形 14"/>
          <p:cNvSpPr/>
          <p:nvPr userDrawn="1"/>
        </p:nvSpPr>
        <p:spPr>
          <a:xfrm>
            <a:off x="11026151" y="2912266"/>
            <a:ext cx="643042" cy="3240360"/>
          </a:xfrm>
          <a:prstGeom prst="rect">
            <a:avLst/>
          </a:prstGeom>
          <a:solidFill>
            <a:schemeClr val="bg1"/>
          </a:solidFill>
          <a:ln w="12700">
            <a:solidFill>
              <a:srgbClr val="F05425"/>
            </a:solidFill>
            <a:prstDash val="dash"/>
            <a:tailEnd type="triangle" w="med" len="lg"/>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800" b="1" kern="0" baseline="0" dirty="0">
              <a:solidFill>
                <a:srgbClr val="F05425"/>
              </a:solidFill>
              <a:latin typeface="微软雅黑" panose="020B0503020204020204" pitchFamily="34" charset="-122"/>
              <a:ea typeface="微软雅黑" panose="020B0503020204020204" pitchFamily="34" charset="-122"/>
            </a:endParaRPr>
          </a:p>
        </p:txBody>
      </p:sp>
      <p:pic>
        <p:nvPicPr>
          <p:cNvPr id="17" name="Picture 13" descr="图形1"/>
          <p:cNvPicPr>
            <a:picLocks noChangeAspect="1" noChangeArrowheads="1"/>
          </p:cNvPicPr>
          <p:nvPr userDrawn="1"/>
        </p:nvPicPr>
        <p:blipFill>
          <a:blip r:embed="rId2" cstate="email"/>
          <a:srcRect/>
          <a:stretch>
            <a:fillRect/>
          </a:stretch>
        </p:blipFill>
        <p:spPr bwMode="auto">
          <a:xfrm>
            <a:off x="666022" y="142852"/>
            <a:ext cx="928839" cy="714380"/>
          </a:xfrm>
          <a:prstGeom prst="rect">
            <a:avLst/>
          </a:prstGeom>
          <a:noFill/>
          <a:ln w="9525">
            <a:noFill/>
            <a:miter lim="800000"/>
            <a:headEnd/>
            <a:tailEnd/>
          </a:ln>
          <a:effectLst>
            <a:reflection blurRad="6350" stA="52000" endA="300" endPos="35000" dir="5400000" sy="-100000" algn="bl" rotWithShape="0"/>
          </a:effectLst>
        </p:spPr>
      </p:pic>
      <p:sp>
        <p:nvSpPr>
          <p:cNvPr id="18" name="矩形 17"/>
          <p:cNvSpPr/>
          <p:nvPr userDrawn="1"/>
        </p:nvSpPr>
        <p:spPr>
          <a:xfrm>
            <a:off x="2880946" y="588986"/>
            <a:ext cx="5858831" cy="553085"/>
          </a:xfrm>
          <a:prstGeom prst="rect">
            <a:avLst/>
          </a:prstGeom>
        </p:spPr>
        <p:txBody>
          <a:bodyPr wrap="square">
            <a:spAutoFit/>
          </a:bodyPr>
          <a:lstStyle/>
          <a:p>
            <a:pPr algn="ctr" fontAlgn="auto">
              <a:spcBef>
                <a:spcPts val="0"/>
              </a:spcBef>
              <a:spcAft>
                <a:spcPts val="0"/>
              </a:spcAft>
            </a:pPr>
            <a:r>
              <a:rPr lang="zh-CN" altLang="en-US" sz="3000" b="1" kern="1200" baseline="0" dirty="0">
                <a:solidFill>
                  <a:srgbClr val="F05425"/>
                </a:solidFill>
                <a:latin typeface="微软雅黑" panose="020B0503020204020204" pitchFamily="34" charset="-122"/>
                <a:ea typeface="微软雅黑" panose="020B0503020204020204" pitchFamily="34" charset="-122"/>
                <a:cs typeface="+mn-cs"/>
              </a:rPr>
              <a:t>安全管理基本理论</a:t>
            </a:r>
            <a:endParaRPr lang="zh-CN" altLang="en-US" sz="3000" b="1" kern="1200" baseline="0" dirty="0">
              <a:solidFill>
                <a:srgbClr val="F05425"/>
              </a:solidFill>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pic>
        <p:nvPicPr>
          <p:cNvPr id="147" name="Picture 13" descr="图形1"/>
          <p:cNvPicPr preferRelativeResize="0">
            <a:picLocks noChangeArrowheads="1"/>
          </p:cNvPicPr>
          <p:nvPr userDrawn="1"/>
        </p:nvPicPr>
        <p:blipFill>
          <a:blip r:embed="rId2" cstate="print"/>
          <a:stretch>
            <a:fillRect/>
          </a:stretch>
        </p:blipFill>
        <p:spPr bwMode="auto">
          <a:xfrm>
            <a:off x="606830" y="99753"/>
            <a:ext cx="1022465" cy="856211"/>
          </a:xfrm>
          <a:prstGeom prst="rect">
            <a:avLst/>
          </a:prstGeom>
          <a:ln>
            <a:noFill/>
          </a:ln>
          <a:effectLst/>
          <a:scene3d>
            <a:camera prst="orthographicFront">
              <a:rot lat="0" lon="0" rev="0"/>
            </a:camera>
            <a:lightRig rig="contrasting" dir="t">
              <a:rot lat="0" lon="0" rev="7800000"/>
            </a:lightRig>
          </a:scene3d>
          <a:sp3d>
            <a:bevelT w="139700" h="139700"/>
          </a:sp3d>
        </p:spPr>
      </p:pic>
      <p:sp>
        <p:nvSpPr>
          <p:cNvPr id="3" name="矩形 5"/>
          <p:cNvSpPr>
            <a:spLocks noChangeArrowheads="1"/>
          </p:cNvSpPr>
          <p:nvPr userDrawn="1"/>
        </p:nvSpPr>
        <p:spPr bwMode="auto">
          <a:xfrm>
            <a:off x="0" y="396072"/>
            <a:ext cx="352425" cy="504000"/>
          </a:xfrm>
          <a:prstGeom prst="rect">
            <a:avLst/>
          </a:prstGeom>
          <a:solidFill>
            <a:srgbClr val="7030A0"/>
          </a:solidFill>
          <a:ln w="9525">
            <a:noFill/>
            <a:miter lim="800000"/>
          </a:ln>
        </p:spPr>
        <p:txBody>
          <a:bodyPr anchor="ctr"/>
          <a:lstStyle/>
          <a:p>
            <a:pPr algn="ctr" eaLnBrk="1" hangingPunct="1">
              <a:buFont typeface="Arial" panose="020B0604020202020204" pitchFamily="34" charset="0"/>
              <a:buNone/>
            </a:pPr>
            <a:endParaRPr lang="zh-CN" altLang="en-US" dirty="0">
              <a:solidFill>
                <a:srgbClr val="7030A0"/>
              </a:solidFill>
            </a:endParaRPr>
          </a:p>
        </p:txBody>
      </p:sp>
      <p:sp>
        <p:nvSpPr>
          <p:cNvPr id="4" name="矩形 6"/>
          <p:cNvSpPr>
            <a:spLocks noChangeArrowheads="1"/>
          </p:cNvSpPr>
          <p:nvPr userDrawn="1"/>
        </p:nvSpPr>
        <p:spPr bwMode="auto">
          <a:xfrm>
            <a:off x="419100" y="396072"/>
            <a:ext cx="123825" cy="504000"/>
          </a:xfrm>
          <a:prstGeom prst="rect">
            <a:avLst/>
          </a:prstGeom>
          <a:solidFill>
            <a:srgbClr val="FF0000"/>
          </a:solidFill>
          <a:ln w="9525">
            <a:noFill/>
            <a:miter lim="800000"/>
          </a:ln>
        </p:spPr>
        <p:txBody>
          <a:bodyPr anchor="ctr"/>
          <a:lstStyle/>
          <a:p>
            <a:pPr algn="ctr" eaLnBrk="1" hangingPunct="1">
              <a:buFont typeface="Arial" panose="020B0604020202020204" pitchFamily="34" charset="0"/>
              <a:buNone/>
            </a:pPr>
            <a:endParaRPr lang="zh-CN" altLang="en-US">
              <a:solidFill>
                <a:srgbClr val="FFFFFF"/>
              </a:solidFill>
            </a:endParaRPr>
          </a:p>
        </p:txBody>
      </p:sp>
      <p:sp>
        <p:nvSpPr>
          <p:cNvPr id="6" name="矩形 5"/>
          <p:cNvSpPr/>
          <p:nvPr userDrawn="1"/>
        </p:nvSpPr>
        <p:spPr>
          <a:xfrm>
            <a:off x="1679250" y="398701"/>
            <a:ext cx="1521149" cy="5037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 name="矩形 6"/>
          <p:cNvSpPr/>
          <p:nvPr userDrawn="1"/>
        </p:nvSpPr>
        <p:spPr>
          <a:xfrm>
            <a:off x="3183775" y="398699"/>
            <a:ext cx="8994450" cy="50376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8" name="直角三角形 7"/>
          <p:cNvSpPr/>
          <p:nvPr userDrawn="1"/>
        </p:nvSpPr>
        <p:spPr>
          <a:xfrm>
            <a:off x="11871587" y="462134"/>
            <a:ext cx="80979" cy="83780"/>
          </a:xfrm>
          <a:prstGeom prst="rtTriangle">
            <a:avLst/>
          </a:prstGeom>
          <a:solidFill>
            <a:srgbClr val="F8F8F8">
              <a:alpha val="84706"/>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fontAlgn="auto">
              <a:lnSpc>
                <a:spcPct val="120000"/>
              </a:lnSpc>
              <a:spcBef>
                <a:spcPts val="0"/>
              </a:spcBef>
              <a:spcAft>
                <a:spcPts val="0"/>
              </a:spcAft>
              <a:buClrTx/>
              <a:buSzTx/>
              <a:buFontTx/>
              <a:buNone/>
            </a:pPr>
            <a:endParaRPr kumimoji="0" lang="zh-CN" altLang="en-US" sz="1350" b="1" i="0" u="none" strike="noStrike" kern="0" cap="none" spc="0" normalizeH="0" baseline="0">
              <a:ln>
                <a:noFill/>
              </a:ln>
              <a:solidFill>
                <a:srgbClr val="F9F9F9"/>
              </a:solidFill>
              <a:effectLst/>
              <a:uLnTx/>
              <a:uFillTx/>
              <a:latin typeface="微软雅黑" panose="020B0503020204020204" pitchFamily="34" charset="-122"/>
              <a:ea typeface="微软雅黑" panose="020B0503020204020204" pitchFamily="34" charset="-122"/>
            </a:endParaRPr>
          </a:p>
        </p:txBody>
      </p:sp>
      <p:sp>
        <p:nvSpPr>
          <p:cNvPr id="9" name="Rectangle 5"/>
          <p:cNvSpPr>
            <a:spLocks noChangeArrowheads="1"/>
          </p:cNvSpPr>
          <p:nvPr userDrawn="1"/>
        </p:nvSpPr>
        <p:spPr bwMode="auto">
          <a:xfrm rot="16200000">
            <a:off x="11264806" y="367637"/>
            <a:ext cx="708406" cy="505158"/>
          </a:xfrm>
          <a:custGeom>
            <a:avLst/>
            <a:gdLst/>
            <a:ahLst/>
            <a:cxnLst/>
            <a:rect l="l" t="t" r="r" b="b"/>
            <a:pathLst>
              <a:path w="4732299" h="655200">
                <a:moveTo>
                  <a:pt x="29842" y="0"/>
                </a:moveTo>
                <a:lnTo>
                  <a:pt x="4732299" y="0"/>
                </a:lnTo>
                <a:lnTo>
                  <a:pt x="4732299" y="655200"/>
                </a:lnTo>
                <a:lnTo>
                  <a:pt x="0" y="655200"/>
                </a:lnTo>
                <a:lnTo>
                  <a:pt x="0" y="651669"/>
                </a:lnTo>
                <a:lnTo>
                  <a:pt x="25384" y="651669"/>
                </a:lnTo>
                <a:lnTo>
                  <a:pt x="393662" y="323851"/>
                </a:lnTo>
                <a:close/>
              </a:path>
            </a:pathLst>
          </a:custGeom>
          <a:solidFill>
            <a:schemeClr val="bg1">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fontAlgn="auto">
              <a:lnSpc>
                <a:spcPct val="120000"/>
              </a:lnSpc>
              <a:spcBef>
                <a:spcPts val="0"/>
              </a:spcBef>
              <a:spcAft>
                <a:spcPts val="0"/>
              </a:spcAft>
              <a:buClrTx/>
              <a:buSzTx/>
              <a:buFontTx/>
              <a:buNone/>
            </a:pPr>
            <a:endParaRPr kumimoji="0" lang="zh-CN" altLang="en-US" sz="1350" b="1" i="0" u="none" strike="noStrike" kern="0" cap="none" spc="0" normalizeH="0" baseline="0" dirty="0">
              <a:ln>
                <a:noFill/>
              </a:ln>
              <a:solidFill>
                <a:srgbClr val="F9F9F9"/>
              </a:solidFill>
              <a:effectLst/>
              <a:uLnTx/>
              <a:uFillTx/>
              <a:latin typeface="微软雅黑" panose="020B0503020204020204" pitchFamily="34" charset="-122"/>
              <a:ea typeface="微软雅黑" panose="020B0503020204020204" pitchFamily="34" charset="-122"/>
            </a:endParaRPr>
          </a:p>
        </p:txBody>
      </p:sp>
      <p:sp>
        <p:nvSpPr>
          <p:cNvPr id="10" name="TextBox 15"/>
          <p:cNvSpPr txBox="1"/>
          <p:nvPr userDrawn="1"/>
        </p:nvSpPr>
        <p:spPr>
          <a:xfrm>
            <a:off x="11366430" y="574165"/>
            <a:ext cx="505158" cy="369332"/>
          </a:xfrm>
          <a:prstGeom prst="rect">
            <a:avLst/>
          </a:prstGeom>
          <a:noFill/>
        </p:spPr>
        <p:txBody>
          <a:bodyPr wrap="square" rtlCol="0">
            <a:spAutoFit/>
          </a:bodyPr>
          <a:lstStyle/>
          <a:p>
            <a:pPr algn="ctr"/>
            <a:fld id="{2EEF1883-7A0E-4F66-9932-E581691AD397}" type="slidenum">
              <a:rPr lang="zh-CN" altLang="en-US" sz="1800" smtClean="0">
                <a:solidFill>
                  <a:schemeClr val="accent2"/>
                </a:solidFill>
                <a:latin typeface="Arial" panose="020B0604020202020204" pitchFamily="34" charset="0"/>
                <a:ea typeface="Arial Unicode MS" panose="020B0604020202020204" pitchFamily="34" charset="-122"/>
                <a:cs typeface="Arial" panose="020B0604020202020204" pitchFamily="34" charset="0"/>
              </a:rPr>
            </a:fld>
            <a:r>
              <a:rPr lang="zh-CN" altLang="en-US" sz="1800" dirty="0">
                <a:solidFill>
                  <a:schemeClr val="accent2"/>
                </a:solidFill>
                <a:latin typeface="Arial" panose="020B0604020202020204" pitchFamily="34" charset="0"/>
                <a:ea typeface="Arial Unicode MS" panose="020B0604020202020204" pitchFamily="34" charset="-122"/>
                <a:cs typeface="Arial" panose="020B0604020202020204" pitchFamily="34" charset="0"/>
              </a:rPr>
              <a:t> </a:t>
            </a:r>
            <a:endParaRPr lang="zh-CN" altLang="en-US" sz="1800" b="0" dirty="0">
              <a:solidFill>
                <a:schemeClr val="accent2"/>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11" name="TextBox 10"/>
          <p:cNvSpPr txBox="1"/>
          <p:nvPr userDrawn="1"/>
        </p:nvSpPr>
        <p:spPr>
          <a:xfrm>
            <a:off x="1778923" y="415636"/>
            <a:ext cx="1280160" cy="461665"/>
          </a:xfrm>
          <a:prstGeom prst="rect">
            <a:avLst/>
          </a:prstGeom>
          <a:noFill/>
        </p:spPr>
        <p:txBody>
          <a:bodyPr wrap="square" rtlCol="0">
            <a:spAutoFit/>
          </a:bodyPr>
          <a:lstStyle/>
          <a:p>
            <a:pPr algn="ctr"/>
            <a:r>
              <a:rPr lang="zh-CN" altLang="en-US" sz="2400" b="1" dirty="0">
                <a:solidFill>
                  <a:schemeClr val="bg1"/>
                </a:solidFill>
                <a:effectLst>
                  <a:outerShdw blurRad="38100" dist="38100" dir="2700000" algn="tl">
                    <a:srgbClr val="000000">
                      <a:alpha val="43137"/>
                    </a:srgbClr>
                  </a:outerShdw>
                </a:effectLst>
                <a:latin typeface="+mj-ea"/>
                <a:ea typeface="+mj-ea"/>
              </a:rPr>
              <a:t>第四章</a:t>
            </a:r>
            <a:endParaRPr lang="zh-CN" altLang="en-US" sz="2400" b="1" dirty="0">
              <a:solidFill>
                <a:schemeClr val="bg1"/>
              </a:solidFill>
              <a:effectLst>
                <a:outerShdw blurRad="38100" dist="38100" dir="2700000" algn="tl">
                  <a:srgbClr val="000000">
                    <a:alpha val="43137"/>
                  </a:srgbClr>
                </a:outerShdw>
              </a:effectLst>
              <a:latin typeface="+mj-ea"/>
              <a:ea typeface="+mj-ea"/>
            </a:endParaRPr>
          </a:p>
        </p:txBody>
      </p:sp>
      <p:sp>
        <p:nvSpPr>
          <p:cNvPr id="12" name="TextBox 11"/>
          <p:cNvSpPr txBox="1"/>
          <p:nvPr userDrawn="1"/>
        </p:nvSpPr>
        <p:spPr>
          <a:xfrm>
            <a:off x="3311235" y="426720"/>
            <a:ext cx="4835237" cy="461665"/>
          </a:xfrm>
          <a:prstGeom prst="rect">
            <a:avLst/>
          </a:prstGeom>
          <a:noFill/>
        </p:spPr>
        <p:txBody>
          <a:bodyPr wrap="square" rtlCol="0">
            <a:spAutoFit/>
          </a:bodyPr>
          <a:lstStyle/>
          <a:p>
            <a:pPr algn="l"/>
            <a:r>
              <a:rPr lang="zh-CN" altLang="en-US" sz="2400" b="1" dirty="0">
                <a:solidFill>
                  <a:schemeClr val="bg1"/>
                </a:solidFill>
                <a:effectLst>
                  <a:outerShdw blurRad="38100" dist="38100" dir="2700000" algn="tl">
                    <a:srgbClr val="000000">
                      <a:alpha val="43137"/>
                    </a:srgbClr>
                  </a:outerShdw>
                </a:effectLst>
                <a:latin typeface="+mj-ea"/>
                <a:ea typeface="+mj-ea"/>
              </a:rPr>
              <a:t>事故应急准备</a:t>
            </a:r>
            <a:endParaRPr lang="zh-CN" altLang="en-US" sz="2400" b="1" dirty="0">
              <a:solidFill>
                <a:schemeClr val="bg1"/>
              </a:solidFill>
              <a:effectLst>
                <a:outerShdw blurRad="38100" dist="38100" dir="2700000" algn="tl">
                  <a:srgbClr val="000000">
                    <a:alpha val="43137"/>
                  </a:srgbClr>
                </a:outerShdw>
              </a:effectLst>
              <a:latin typeface="+mj-ea"/>
              <a:ea typeface="+mj-e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7" name="图片"/>
          <p:cNvPicPr>
            <a:picLocks noChangeAspect="1"/>
          </p:cNvPicPr>
          <p:nvPr userDrawn="1"/>
        </p:nvPicPr>
        <p:blipFill>
          <a:blip r:embed="rId2" cstate="print"/>
          <a:srcRect/>
          <a:stretch>
            <a:fillRect/>
          </a:stretch>
        </p:blipFill>
        <p:spPr bwMode="auto">
          <a:xfrm>
            <a:off x="9715500" y="-112033"/>
            <a:ext cx="2476500" cy="775682"/>
          </a:xfrm>
          <a:prstGeom prst="rect">
            <a:avLst/>
          </a:prstGeom>
          <a:noFill/>
          <a:ln w="9525">
            <a:noFill/>
            <a:miter lim="800000"/>
            <a:headEnd/>
            <a:tailEnd/>
          </a:ln>
        </p:spPr>
      </p:pic>
      <p:sp>
        <p:nvSpPr>
          <p:cNvPr id="13" name="直线"/>
          <p:cNvSpPr/>
          <p:nvPr userDrawn="1"/>
        </p:nvSpPr>
        <p:spPr bwMode="auto">
          <a:xfrm flipH="1">
            <a:off x="0" y="612775"/>
            <a:ext cx="4401185" cy="635"/>
          </a:xfrm>
          <a:prstGeom prst="line">
            <a:avLst/>
          </a:prstGeom>
          <a:noFill/>
          <a:ln w="19050">
            <a:solidFill>
              <a:srgbClr val="7F7F7F"/>
            </a:solidFill>
            <a:prstDash val="sysDash"/>
            <a:round/>
          </a:ln>
        </p:spPr>
        <p:txBody>
          <a:bodyPr/>
          <a:lstStyle/>
          <a:p>
            <a:endParaRPr lang="zh-CN" altLang="en-US"/>
          </a:p>
        </p:txBody>
      </p:sp>
      <p:sp>
        <p:nvSpPr>
          <p:cNvPr id="14" name="直线"/>
          <p:cNvSpPr/>
          <p:nvPr userDrawn="1"/>
        </p:nvSpPr>
        <p:spPr bwMode="auto">
          <a:xfrm flipH="1">
            <a:off x="7787640" y="613410"/>
            <a:ext cx="4404360" cy="635"/>
          </a:xfrm>
          <a:prstGeom prst="line">
            <a:avLst/>
          </a:prstGeom>
          <a:noFill/>
          <a:ln w="19050">
            <a:solidFill>
              <a:srgbClr val="7F7F7F"/>
            </a:solidFill>
            <a:prstDash val="sysDash"/>
            <a:round/>
          </a:ln>
        </p:spPr>
        <p:txBody>
          <a:bodyPr/>
          <a:lstStyle/>
          <a:p>
            <a:endParaRPr lang="zh-CN" altLang="en-US"/>
          </a:p>
        </p:txBody>
      </p:sp>
      <p:sp>
        <p:nvSpPr>
          <p:cNvPr id="16" name="Freeform 8"/>
          <p:cNvSpPr/>
          <p:nvPr userDrawn="1"/>
        </p:nvSpPr>
        <p:spPr bwMode="auto">
          <a:xfrm>
            <a:off x="10292808" y="5728832"/>
            <a:ext cx="818105" cy="910093"/>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nvGrpSpPr>
          <p:cNvPr id="17" name="组合 16"/>
          <p:cNvGrpSpPr/>
          <p:nvPr userDrawn="1"/>
        </p:nvGrpSpPr>
        <p:grpSpPr bwMode="auto">
          <a:xfrm>
            <a:off x="254635" y="1155700"/>
            <a:ext cx="11682730" cy="5483225"/>
            <a:chOff x="1358950" y="1173758"/>
            <a:chExt cx="7072312" cy="3482975"/>
          </a:xfrm>
        </p:grpSpPr>
        <p:grpSp>
          <p:nvGrpSpPr>
            <p:cNvPr id="18" name="Freeform 5"/>
            <p:cNvGrpSpPr/>
            <p:nvPr/>
          </p:nvGrpSpPr>
          <p:grpSpPr bwMode="auto">
            <a:xfrm>
              <a:off x="1188867" y="1057721"/>
              <a:ext cx="7375235" cy="3761452"/>
              <a:chOff x="359664" y="347472"/>
              <a:chExt cx="7808976" cy="4431792"/>
            </a:xfrm>
          </p:grpSpPr>
          <p:pic>
            <p:nvPicPr>
              <p:cNvPr id="20" name="Freeform 5"/>
              <p:cNvPicPr>
                <a:picLocks noChangeArrowheads="1"/>
              </p:cNvPicPr>
              <p:nvPr/>
            </p:nvPicPr>
            <p:blipFill>
              <a:blip r:embed="rId3" cstate="print"/>
              <a:srcRect/>
              <a:stretch>
                <a:fillRect/>
              </a:stretch>
            </p:blipFill>
            <p:spPr bwMode="auto">
              <a:xfrm>
                <a:off x="359664" y="347472"/>
                <a:ext cx="7808976" cy="4431792"/>
              </a:xfrm>
              <a:prstGeom prst="rect">
                <a:avLst/>
              </a:prstGeom>
              <a:noFill/>
            </p:spPr>
          </p:pic>
          <p:sp>
            <p:nvSpPr>
              <p:cNvPr id="21" name="Text Box 8"/>
              <p:cNvSpPr txBox="1">
                <a:spLocks noChangeArrowheads="1"/>
              </p:cNvSpPr>
              <p:nvPr/>
            </p:nvSpPr>
            <p:spPr bwMode="auto">
              <a:xfrm>
                <a:off x="539750" y="484188"/>
                <a:ext cx="7488238" cy="4103687"/>
              </a:xfrm>
              <a:prstGeom prst="rect">
                <a:avLst/>
              </a:prstGeom>
              <a:noFill/>
              <a:ln w="9525">
                <a:noFill/>
                <a:miter lim="800000"/>
              </a:ln>
            </p:spPr>
            <p:txBody>
              <a:bodyPr lIns="121917" tIns="60958" rIns="121917" bIns="60958" anchor="ctr"/>
              <a:lstStyle/>
              <a:p>
                <a:pPr defTabSz="1219200"/>
                <a:endParaRPr lang="zh-CN" altLang="en-US" sz="2000" b="1">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p:txBody>
          </p:sp>
        </p:grpSp>
        <p:sp>
          <p:nvSpPr>
            <p:cNvPr id="19" name="Freeform 8"/>
            <p:cNvSpPr/>
            <p:nvPr/>
          </p:nvSpPr>
          <p:spPr bwMode="auto">
            <a:xfrm>
              <a:off x="7851825" y="4077295"/>
              <a:ext cx="579437" cy="579438"/>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grpSp>
        <p:nvGrpSpPr>
          <p:cNvPr id="5" name="组合 4"/>
          <p:cNvGrpSpPr/>
          <p:nvPr userDrawn="1"/>
        </p:nvGrpSpPr>
        <p:grpSpPr>
          <a:xfrm>
            <a:off x="4401820" y="342900"/>
            <a:ext cx="3388360" cy="892175"/>
            <a:chOff x="6774" y="540"/>
            <a:chExt cx="5336" cy="1405"/>
          </a:xfrm>
        </p:grpSpPr>
        <p:sp>
          <p:nvSpPr>
            <p:cNvPr id="3" name="圆角矩形"/>
            <p:cNvSpPr/>
            <p:nvPr userDrawn="1"/>
          </p:nvSpPr>
          <p:spPr>
            <a:xfrm>
              <a:off x="6774" y="540"/>
              <a:ext cx="5332" cy="908"/>
            </a:xfrm>
            <a:prstGeom prst="roundRect">
              <a:avLst>
                <a:gd name="adj" fmla="val 12986"/>
              </a:avLst>
            </a:prstGeom>
            <a:solidFill>
              <a:srgbClr val="F2F2F2"/>
            </a:solidFill>
            <a:ln w="25400" cap="flat" cmpd="sng">
              <a:gradFill rotWithShape="1">
                <a:gsLst>
                  <a:gs pos="0">
                    <a:srgbClr val="FFFFFF">
                      <a:lumMod val="75000"/>
                      <a:alpha val="100000"/>
                    </a:srgbClr>
                  </a:gs>
                  <a:gs pos="100000">
                    <a:srgbClr val="FFFFFF">
                      <a:alpha val="100000"/>
                    </a:srgbClr>
                  </a:gs>
                </a:gsLst>
                <a:lin ang="2700000" scaled="1"/>
              </a:gradFill>
              <a:prstDash val="solid"/>
              <a:round/>
            </a:ln>
            <a:effectLst>
              <a:innerShdw blurRad="139700" dist="76200" dir="13500000">
                <a:srgbClr val="000000">
                  <a:alpha val="49803"/>
                </a:srgbClr>
              </a:innerShdw>
            </a:effectLst>
          </p:spPr>
        </p:sp>
        <p:sp>
          <p:nvSpPr>
            <p:cNvPr id="4" name="矩形"/>
            <p:cNvSpPr/>
            <p:nvPr userDrawn="1"/>
          </p:nvSpPr>
          <p:spPr>
            <a:xfrm>
              <a:off x="6830" y="639"/>
              <a:ext cx="5280" cy="1307"/>
            </a:xfrm>
            <a:prstGeom prst="rect">
              <a:avLst/>
            </a:prstGeom>
            <a:noFill/>
            <a:ln w="9525" cap="flat" cmpd="sng">
              <a:noFill/>
              <a:prstDash val="solid"/>
              <a:miter/>
            </a:ln>
          </p:spPr>
          <p:txBody>
            <a:bodyPr wrap="square">
              <a:spAutoFit/>
            </a:bodyPr>
            <a:lstStyle/>
            <a:p>
              <a:pPr algn="ctr" fontAlgn="auto">
                <a:spcBef>
                  <a:spcPts val="0"/>
                </a:spcBef>
                <a:spcAft>
                  <a:spcPts val="0"/>
                </a:spcAft>
                <a:defRPr/>
              </a:pPr>
              <a:r>
                <a:rPr lang="zh-CN" altLang="x-none" sz="2400" b="1" dirty="0">
                  <a:solidFill>
                    <a:srgbClr val="2B2A30"/>
                  </a:solidFill>
                  <a:latin typeface="微软雅黑" panose="020B0503020204020204" pitchFamily="34" charset="-122"/>
                  <a:ea typeface="微软雅黑" panose="020B0503020204020204" pitchFamily="34" charset="-122"/>
                </a:rPr>
                <a:t>安全环保法律法规</a:t>
              </a:r>
              <a:endParaRPr lang="zh-CN" altLang="x-none" sz="2400" b="1" dirty="0">
                <a:solidFill>
                  <a:srgbClr val="2B2A30"/>
                </a:solidFill>
                <a:latin typeface="微软雅黑" panose="020B0503020204020204" pitchFamily="34" charset="-122"/>
                <a:ea typeface="微软雅黑" panose="020B0503020204020204" pitchFamily="34" charset="-122"/>
              </a:endParaRPr>
            </a:p>
            <a:p>
              <a:pPr algn="ctr" fontAlgn="auto">
                <a:spcBef>
                  <a:spcPts val="0"/>
                </a:spcBef>
                <a:spcAft>
                  <a:spcPts val="0"/>
                </a:spcAft>
                <a:defRPr/>
              </a:pPr>
              <a:endParaRPr lang="zh-CN" altLang="en-US" sz="2400" b="1"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7" name="图片"/>
          <p:cNvPicPr>
            <a:picLocks noChangeAspect="1"/>
          </p:cNvPicPr>
          <p:nvPr userDrawn="1"/>
        </p:nvPicPr>
        <p:blipFill>
          <a:blip r:embed="rId2" cstate="print"/>
          <a:srcRect/>
          <a:stretch>
            <a:fillRect/>
          </a:stretch>
        </p:blipFill>
        <p:spPr bwMode="auto">
          <a:xfrm>
            <a:off x="9715500" y="-112033"/>
            <a:ext cx="2476500" cy="775682"/>
          </a:xfrm>
          <a:prstGeom prst="rect">
            <a:avLst/>
          </a:prstGeom>
          <a:noFill/>
          <a:ln w="9525">
            <a:noFill/>
            <a:miter lim="800000"/>
            <a:headEnd/>
            <a:tailEnd/>
          </a:ln>
        </p:spPr>
      </p:pic>
      <p:sp>
        <p:nvSpPr>
          <p:cNvPr id="13" name="直线"/>
          <p:cNvSpPr/>
          <p:nvPr userDrawn="1"/>
        </p:nvSpPr>
        <p:spPr bwMode="auto">
          <a:xfrm flipH="1">
            <a:off x="0" y="605790"/>
            <a:ext cx="4390390" cy="19685"/>
          </a:xfrm>
          <a:prstGeom prst="line">
            <a:avLst/>
          </a:prstGeom>
          <a:noFill/>
          <a:ln w="19050">
            <a:solidFill>
              <a:srgbClr val="7F7F7F"/>
            </a:solidFill>
            <a:prstDash val="sysDash"/>
            <a:round/>
          </a:ln>
        </p:spPr>
        <p:txBody>
          <a:bodyPr/>
          <a:lstStyle/>
          <a:p>
            <a:endParaRPr lang="zh-CN" altLang="en-US"/>
          </a:p>
        </p:txBody>
      </p:sp>
      <p:sp>
        <p:nvSpPr>
          <p:cNvPr id="14" name="直线"/>
          <p:cNvSpPr/>
          <p:nvPr userDrawn="1"/>
        </p:nvSpPr>
        <p:spPr bwMode="auto">
          <a:xfrm flipH="1">
            <a:off x="7687310" y="605155"/>
            <a:ext cx="4504690" cy="635"/>
          </a:xfrm>
          <a:prstGeom prst="line">
            <a:avLst/>
          </a:prstGeom>
          <a:noFill/>
          <a:ln w="19050">
            <a:solidFill>
              <a:srgbClr val="7F7F7F"/>
            </a:solidFill>
            <a:prstDash val="sysDash"/>
            <a:round/>
          </a:ln>
        </p:spPr>
        <p:txBody>
          <a:bodyPr/>
          <a:lstStyle/>
          <a:p>
            <a:endParaRPr lang="zh-CN" altLang="en-US"/>
          </a:p>
        </p:txBody>
      </p:sp>
      <p:sp>
        <p:nvSpPr>
          <p:cNvPr id="16" name="Freeform 8"/>
          <p:cNvSpPr/>
          <p:nvPr userDrawn="1"/>
        </p:nvSpPr>
        <p:spPr bwMode="auto">
          <a:xfrm>
            <a:off x="10292808" y="5728832"/>
            <a:ext cx="818105" cy="910093"/>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nvGrpSpPr>
          <p:cNvPr id="17" name="组合 16"/>
          <p:cNvGrpSpPr/>
          <p:nvPr userDrawn="1"/>
        </p:nvGrpSpPr>
        <p:grpSpPr bwMode="auto">
          <a:xfrm>
            <a:off x="254635" y="1155700"/>
            <a:ext cx="11682730" cy="5483225"/>
            <a:chOff x="1358950" y="1173758"/>
            <a:chExt cx="7072312" cy="3482975"/>
          </a:xfrm>
        </p:grpSpPr>
        <p:grpSp>
          <p:nvGrpSpPr>
            <p:cNvPr id="18" name="Freeform 5"/>
            <p:cNvGrpSpPr/>
            <p:nvPr/>
          </p:nvGrpSpPr>
          <p:grpSpPr bwMode="auto">
            <a:xfrm>
              <a:off x="1188867" y="1057721"/>
              <a:ext cx="7375235" cy="3761452"/>
              <a:chOff x="359664" y="347472"/>
              <a:chExt cx="7808976" cy="4431792"/>
            </a:xfrm>
          </p:grpSpPr>
          <p:pic>
            <p:nvPicPr>
              <p:cNvPr id="20" name="Freeform 5"/>
              <p:cNvPicPr>
                <a:picLocks noChangeArrowheads="1"/>
              </p:cNvPicPr>
              <p:nvPr/>
            </p:nvPicPr>
            <p:blipFill>
              <a:blip r:embed="rId3" cstate="print"/>
              <a:srcRect/>
              <a:stretch>
                <a:fillRect/>
              </a:stretch>
            </p:blipFill>
            <p:spPr bwMode="auto">
              <a:xfrm>
                <a:off x="359664" y="347472"/>
                <a:ext cx="7808976" cy="4431792"/>
              </a:xfrm>
              <a:prstGeom prst="rect">
                <a:avLst/>
              </a:prstGeom>
              <a:noFill/>
            </p:spPr>
          </p:pic>
          <p:sp>
            <p:nvSpPr>
              <p:cNvPr id="21" name="Text Box 8"/>
              <p:cNvSpPr txBox="1">
                <a:spLocks noChangeArrowheads="1"/>
              </p:cNvSpPr>
              <p:nvPr/>
            </p:nvSpPr>
            <p:spPr bwMode="auto">
              <a:xfrm>
                <a:off x="539750" y="484188"/>
                <a:ext cx="7488238" cy="4103687"/>
              </a:xfrm>
              <a:prstGeom prst="rect">
                <a:avLst/>
              </a:prstGeom>
              <a:noFill/>
              <a:ln w="9525">
                <a:noFill/>
                <a:miter lim="800000"/>
              </a:ln>
            </p:spPr>
            <p:txBody>
              <a:bodyPr lIns="121917" tIns="60958" rIns="121917" bIns="60958" anchor="ctr"/>
              <a:lstStyle/>
              <a:p>
                <a:pPr defTabSz="1219200"/>
                <a:endParaRPr lang="zh-CN" altLang="en-US" sz="2000" b="1">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p:txBody>
          </p:sp>
        </p:grpSp>
        <p:sp>
          <p:nvSpPr>
            <p:cNvPr id="19" name="Freeform 8"/>
            <p:cNvSpPr/>
            <p:nvPr/>
          </p:nvSpPr>
          <p:spPr bwMode="auto">
            <a:xfrm>
              <a:off x="7851825" y="4077295"/>
              <a:ext cx="579437" cy="579438"/>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grpSp>
        <p:nvGrpSpPr>
          <p:cNvPr id="2" name="组合"/>
          <p:cNvGrpSpPr/>
          <p:nvPr userDrawn="1"/>
        </p:nvGrpSpPr>
        <p:grpSpPr bwMode="auto">
          <a:xfrm>
            <a:off x="4401820" y="342900"/>
            <a:ext cx="3388360" cy="892524"/>
            <a:chOff x="4691844" y="333450"/>
            <a:chExt cx="2810449" cy="892093"/>
          </a:xfrm>
        </p:grpSpPr>
        <p:sp>
          <p:nvSpPr>
            <p:cNvPr id="3" name="圆角矩形"/>
            <p:cNvSpPr/>
            <p:nvPr/>
          </p:nvSpPr>
          <p:spPr>
            <a:xfrm>
              <a:off x="4691844" y="333450"/>
              <a:ext cx="2808311" cy="576064"/>
            </a:xfrm>
            <a:prstGeom prst="roundRect">
              <a:avLst>
                <a:gd name="adj" fmla="val 12986"/>
              </a:avLst>
            </a:prstGeom>
            <a:solidFill>
              <a:srgbClr val="F2F2F2"/>
            </a:solidFill>
            <a:ln w="25400" cap="flat" cmpd="sng">
              <a:gradFill rotWithShape="1">
                <a:gsLst>
                  <a:gs pos="0">
                    <a:srgbClr val="FFFFFF">
                      <a:lumMod val="75000"/>
                      <a:alpha val="100000"/>
                    </a:srgbClr>
                  </a:gs>
                  <a:gs pos="100000">
                    <a:srgbClr val="FFFFFF">
                      <a:alpha val="100000"/>
                    </a:srgbClr>
                  </a:gs>
                </a:gsLst>
                <a:lin ang="2700000" scaled="1"/>
              </a:gradFill>
              <a:prstDash val="solid"/>
              <a:round/>
            </a:ln>
            <a:effectLst>
              <a:innerShdw blurRad="139700" dist="76200" dir="13500000">
                <a:srgbClr val="000000">
                  <a:alpha val="49803"/>
                </a:srgbClr>
              </a:innerShdw>
            </a:effectLst>
          </p:spPr>
        </p:sp>
        <p:sp>
          <p:nvSpPr>
            <p:cNvPr id="4" name="矩形"/>
            <p:cNvSpPr/>
            <p:nvPr/>
          </p:nvSpPr>
          <p:spPr>
            <a:xfrm>
              <a:off x="4721556" y="395999"/>
              <a:ext cx="2780737" cy="829544"/>
            </a:xfrm>
            <a:prstGeom prst="rect">
              <a:avLst/>
            </a:prstGeom>
            <a:noFill/>
            <a:ln w="9525" cap="flat" cmpd="sng">
              <a:noFill/>
              <a:prstDash val="solid"/>
              <a:miter/>
            </a:ln>
          </p:spPr>
          <p:txBody>
            <a:bodyPr wrap="square">
              <a:spAutoFit/>
            </a:bodyPr>
            <a:lstStyle/>
            <a:p>
              <a:pPr algn="ctr" fontAlgn="auto">
                <a:spcBef>
                  <a:spcPts val="0"/>
                </a:spcBef>
                <a:spcAft>
                  <a:spcPts val="0"/>
                </a:spcAft>
                <a:defRPr/>
              </a:pPr>
              <a:r>
                <a:rPr lang="zh-CN" altLang="x-none" sz="2400" b="1" dirty="0">
                  <a:solidFill>
                    <a:srgbClr val="2B2A30"/>
                  </a:solidFill>
                  <a:latin typeface="微软雅黑" panose="020B0503020204020204" pitchFamily="34" charset="-122"/>
                  <a:ea typeface="微软雅黑" panose="020B0503020204020204" pitchFamily="34" charset="-122"/>
                </a:rPr>
                <a:t>安全生产基础知识</a:t>
              </a:r>
              <a:endParaRPr lang="zh-CN" altLang="x-none" sz="2400" b="1" dirty="0">
                <a:solidFill>
                  <a:srgbClr val="2B2A30"/>
                </a:solidFill>
                <a:latin typeface="微软雅黑" panose="020B0503020204020204" pitchFamily="34" charset="-122"/>
                <a:ea typeface="微软雅黑" panose="020B0503020204020204" pitchFamily="34" charset="-122"/>
              </a:endParaRPr>
            </a:p>
            <a:p>
              <a:pPr algn="ctr" fontAlgn="auto">
                <a:spcBef>
                  <a:spcPts val="0"/>
                </a:spcBef>
                <a:spcAft>
                  <a:spcPts val="0"/>
                </a:spcAft>
                <a:defRPr/>
              </a:pPr>
              <a:endParaRPr lang="zh-CN" altLang="en-US" sz="2400" b="1"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fontAlgn="auto"/>
            <a:fld id="{1B179DBB-BF91-4D4F-BFA6-6EFA66ADE78E}" type="slidenum">
              <a:rPr lang="zh-CN" altLang="en-US" strike="noStrike" noProof="1" smtClean="0">
                <a:latin typeface="+mn-lt"/>
                <a:ea typeface="+mn-ea"/>
                <a:cs typeface="+mn-cs"/>
              </a:rPr>
            </a:fld>
            <a:endParaRPr lang="zh-CN" altLang="en-US" strike="noStrike" noProof="1"/>
          </a:p>
        </p:txBody>
      </p:sp>
      <p:sp>
        <p:nvSpPr>
          <p:cNvPr id="4" name="矩形 3"/>
          <p:cNvSpPr/>
          <p:nvPr userDrawn="1"/>
        </p:nvSpPr>
        <p:spPr>
          <a:xfrm>
            <a:off x="0" y="142858"/>
            <a:ext cx="247650" cy="550800"/>
          </a:xfrm>
          <a:prstGeom prst="rect">
            <a:avLst/>
          </a:prstGeom>
          <a:solidFill>
            <a:srgbClr val="7030A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7030A0"/>
              </a:solidFill>
              <a:effectLst/>
              <a:uLnTx/>
              <a:uFillTx/>
            </a:endParaRPr>
          </a:p>
        </p:txBody>
      </p:sp>
      <p:cxnSp>
        <p:nvCxnSpPr>
          <p:cNvPr id="5" name="直接连接符 4"/>
          <p:cNvCxnSpPr/>
          <p:nvPr userDrawn="1"/>
        </p:nvCxnSpPr>
        <p:spPr>
          <a:xfrm>
            <a:off x="285750" y="714375"/>
            <a:ext cx="1624965" cy="6985"/>
          </a:xfrm>
          <a:prstGeom prst="line">
            <a:avLst/>
          </a:prstGeom>
          <a:ln w="1524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285720" y="214296"/>
            <a:ext cx="3500462" cy="461665"/>
          </a:xfrm>
          <a:prstGeom prst="rect">
            <a:avLst/>
          </a:prstGeom>
          <a:noFill/>
        </p:spPr>
        <p:txBody>
          <a:bodyPr wrap="square" rtlCol="0">
            <a:spAutoFit/>
          </a:bodyPr>
          <a:lstStyle/>
          <a:p>
            <a:pPr marL="0" lvl="1">
              <a:lnSpc>
                <a:spcPct val="100000"/>
              </a:lnSpc>
            </a:pPr>
            <a:r>
              <a:rPr lang="zh-CN" altLang="en-US" sz="2400" b="1" kern="900" spc="-300" baseline="0" dirty="0">
                <a:solidFill>
                  <a:srgbClr val="7030A0"/>
                </a:solidFill>
                <a:effectLst>
                  <a:outerShdw blurRad="38100" dist="38100" dir="2700000" algn="tl">
                    <a:srgbClr val="000000">
                      <a:alpha val="43137"/>
                    </a:srgbClr>
                  </a:outerShdw>
                </a:effectLst>
                <a:latin typeface="汉仪程行简" pitchFamily="18" charset="-122"/>
                <a:ea typeface="汉仪程行简" pitchFamily="18" charset="-122"/>
                <a:cs typeface="+mn-cs"/>
              </a:rPr>
              <a:t>落实</a:t>
            </a:r>
            <a:r>
              <a:rPr lang="zh-CN" altLang="en-US" sz="2400" b="1" kern="900" spc="-300" baseline="0" dirty="0">
                <a:solidFill>
                  <a:srgbClr val="7030A0"/>
                </a:solidFill>
                <a:effectLst>
                  <a:outerShdw blurRad="38100" dist="38100" dir="2700000" algn="tl">
                    <a:srgbClr val="000000">
                      <a:alpha val="43137"/>
                    </a:srgbClr>
                  </a:outerShdw>
                </a:effectLst>
                <a:latin typeface="汉仪程行简" pitchFamily="18" charset="-122"/>
                <a:ea typeface="汉仪程行简" pitchFamily="18" charset="-122"/>
              </a:rPr>
              <a:t>主体责任</a:t>
            </a:r>
            <a:endParaRPr lang="en-US" altLang="zh-CN" sz="2400" b="1" kern="900" spc="-300" baseline="0" dirty="0">
              <a:solidFill>
                <a:srgbClr val="7030A0"/>
              </a:solidFill>
              <a:effectLst>
                <a:outerShdw blurRad="38100" dist="38100" dir="2700000" algn="tl">
                  <a:srgbClr val="000000">
                    <a:alpha val="43137"/>
                  </a:srgbClr>
                </a:outerShdw>
              </a:effectLst>
              <a:latin typeface="汉仪程行简" pitchFamily="18" charset="-122"/>
              <a:ea typeface="汉仪程行简" pitchFamily="18" charset="-122"/>
            </a:endParaRPr>
          </a:p>
        </p:txBody>
      </p:sp>
      <p:pic>
        <p:nvPicPr>
          <p:cNvPr id="14" name="图片 13"/>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9525025" y="285729"/>
            <a:ext cx="2072639" cy="55268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mc:AlternateContent xmlns:mc="http://schemas.openxmlformats.org/markup-compatibility/2006">
    <mc:Choice xmlns:p14="http://schemas.microsoft.com/office/powerpoint/2010/main" Requires="p14">
      <p:transition spd="slow" p14:dur="899"/>
    </mc:Choice>
    <mc:Fallback>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pic>
        <p:nvPicPr>
          <p:cNvPr id="7" name="图片"/>
          <p:cNvPicPr>
            <a:picLocks noChangeAspect="1"/>
          </p:cNvPicPr>
          <p:nvPr userDrawn="1"/>
        </p:nvPicPr>
        <p:blipFill>
          <a:blip r:embed="rId2" cstate="print"/>
          <a:srcRect/>
          <a:stretch>
            <a:fillRect/>
          </a:stretch>
        </p:blipFill>
        <p:spPr bwMode="auto">
          <a:xfrm>
            <a:off x="9715500" y="-112033"/>
            <a:ext cx="2476500" cy="775682"/>
          </a:xfrm>
          <a:prstGeom prst="rect">
            <a:avLst/>
          </a:prstGeom>
          <a:noFill/>
          <a:ln w="9525">
            <a:noFill/>
            <a:miter lim="800000"/>
            <a:headEnd/>
            <a:tailEnd/>
          </a:ln>
        </p:spPr>
      </p:pic>
      <p:grpSp>
        <p:nvGrpSpPr>
          <p:cNvPr id="10" name="组合"/>
          <p:cNvGrpSpPr/>
          <p:nvPr userDrawn="1"/>
        </p:nvGrpSpPr>
        <p:grpSpPr bwMode="auto">
          <a:xfrm>
            <a:off x="4420870" y="382270"/>
            <a:ext cx="3385782" cy="576342"/>
            <a:chOff x="4707645" y="333450"/>
            <a:chExt cx="2808311" cy="576064"/>
          </a:xfrm>
        </p:grpSpPr>
        <p:sp>
          <p:nvSpPr>
            <p:cNvPr id="11" name="圆角矩形"/>
            <p:cNvSpPr/>
            <p:nvPr/>
          </p:nvSpPr>
          <p:spPr>
            <a:xfrm>
              <a:off x="4707645" y="333450"/>
              <a:ext cx="2808311" cy="576064"/>
            </a:xfrm>
            <a:prstGeom prst="roundRect">
              <a:avLst>
                <a:gd name="adj" fmla="val 12986"/>
              </a:avLst>
            </a:prstGeom>
            <a:solidFill>
              <a:srgbClr val="F2F2F2"/>
            </a:solidFill>
            <a:ln w="25400" cap="flat" cmpd="sng">
              <a:gradFill rotWithShape="1">
                <a:gsLst>
                  <a:gs pos="0">
                    <a:srgbClr val="FFFFFF">
                      <a:lumMod val="75000"/>
                      <a:alpha val="100000"/>
                    </a:srgbClr>
                  </a:gs>
                  <a:gs pos="100000">
                    <a:srgbClr val="FFFFFF">
                      <a:alpha val="100000"/>
                    </a:srgbClr>
                  </a:gs>
                </a:gsLst>
                <a:lin ang="2700000" scaled="1"/>
              </a:gradFill>
              <a:prstDash val="solid"/>
              <a:round/>
            </a:ln>
            <a:effectLst>
              <a:innerShdw blurRad="139700" dist="76200" dir="13500000">
                <a:srgbClr val="000000">
                  <a:alpha val="49803"/>
                </a:srgbClr>
              </a:innerShdw>
            </a:effectLst>
          </p:spPr>
        </p:sp>
        <p:sp>
          <p:nvSpPr>
            <p:cNvPr id="12" name="矩形"/>
            <p:cNvSpPr/>
            <p:nvPr/>
          </p:nvSpPr>
          <p:spPr>
            <a:xfrm>
              <a:off x="4721556" y="395999"/>
              <a:ext cx="2780737" cy="460153"/>
            </a:xfrm>
            <a:prstGeom prst="rect">
              <a:avLst/>
            </a:prstGeom>
            <a:noFill/>
            <a:ln w="9525" cap="flat" cmpd="sng">
              <a:noFill/>
              <a:prstDash val="solid"/>
              <a:miter/>
            </a:ln>
          </p:spPr>
          <p:txBody>
            <a:bodyPr wrap="square">
              <a:spAutoFit/>
            </a:bodyPr>
            <a:lstStyle/>
            <a:p>
              <a:pPr algn="ctr" fontAlgn="auto">
                <a:spcBef>
                  <a:spcPts val="0"/>
                </a:spcBef>
                <a:spcAft>
                  <a:spcPts val="0"/>
                </a:spcAft>
                <a:defRPr/>
              </a:pPr>
              <a:r>
                <a:rPr lang="zh-CN" altLang="en-US" sz="2400"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安全经验分享</a:t>
              </a:r>
              <a:endParaRPr lang="zh-CN" altLang="en-US" sz="2400" b="1"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p:txBody>
        </p:sp>
      </p:grpSp>
      <p:sp>
        <p:nvSpPr>
          <p:cNvPr id="13" name="直线"/>
          <p:cNvSpPr/>
          <p:nvPr userDrawn="1"/>
        </p:nvSpPr>
        <p:spPr bwMode="auto">
          <a:xfrm flipH="1">
            <a:off x="35560" y="660400"/>
            <a:ext cx="4401820" cy="20320"/>
          </a:xfrm>
          <a:prstGeom prst="line">
            <a:avLst/>
          </a:prstGeom>
          <a:noFill/>
          <a:ln w="19050">
            <a:solidFill>
              <a:srgbClr val="7F7F7F"/>
            </a:solidFill>
            <a:prstDash val="sysDash"/>
            <a:round/>
          </a:ln>
        </p:spPr>
        <p:txBody>
          <a:bodyPr/>
          <a:lstStyle/>
          <a:p>
            <a:endParaRPr lang="zh-CN" altLang="en-US"/>
          </a:p>
        </p:txBody>
      </p:sp>
      <p:sp>
        <p:nvSpPr>
          <p:cNvPr id="14" name="直线"/>
          <p:cNvSpPr/>
          <p:nvPr userDrawn="1"/>
        </p:nvSpPr>
        <p:spPr bwMode="auto">
          <a:xfrm flipH="1" flipV="1">
            <a:off x="7787640" y="666750"/>
            <a:ext cx="4401820" cy="17780"/>
          </a:xfrm>
          <a:prstGeom prst="line">
            <a:avLst/>
          </a:prstGeom>
          <a:noFill/>
          <a:ln w="19050">
            <a:solidFill>
              <a:srgbClr val="7F7F7F"/>
            </a:solidFill>
            <a:prstDash val="sysDash"/>
            <a:round/>
          </a:ln>
        </p:spPr>
        <p:txBody>
          <a:bodyPr/>
          <a:lstStyle/>
          <a:p>
            <a:endParaRPr lang="zh-CN" altLang="en-US"/>
          </a:p>
        </p:txBody>
      </p:sp>
      <p:sp>
        <p:nvSpPr>
          <p:cNvPr id="16" name="Freeform 8"/>
          <p:cNvSpPr/>
          <p:nvPr userDrawn="1"/>
        </p:nvSpPr>
        <p:spPr bwMode="auto">
          <a:xfrm>
            <a:off x="10292808" y="5728832"/>
            <a:ext cx="818105" cy="910093"/>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nvGrpSpPr>
          <p:cNvPr id="17" name="组合 16"/>
          <p:cNvGrpSpPr/>
          <p:nvPr userDrawn="1"/>
        </p:nvGrpSpPr>
        <p:grpSpPr bwMode="auto">
          <a:xfrm>
            <a:off x="240665" y="1141730"/>
            <a:ext cx="11682730" cy="5483225"/>
            <a:chOff x="1358950" y="1173758"/>
            <a:chExt cx="7072312" cy="3482975"/>
          </a:xfrm>
        </p:grpSpPr>
        <p:grpSp>
          <p:nvGrpSpPr>
            <p:cNvPr id="18" name="Freeform 5"/>
            <p:cNvGrpSpPr/>
            <p:nvPr/>
          </p:nvGrpSpPr>
          <p:grpSpPr bwMode="auto">
            <a:xfrm>
              <a:off x="1188867" y="1057721"/>
              <a:ext cx="7375235" cy="3761452"/>
              <a:chOff x="359664" y="347472"/>
              <a:chExt cx="7808976" cy="4431792"/>
            </a:xfrm>
          </p:grpSpPr>
          <p:pic>
            <p:nvPicPr>
              <p:cNvPr id="20" name="Freeform 5"/>
              <p:cNvPicPr>
                <a:picLocks noChangeArrowheads="1"/>
              </p:cNvPicPr>
              <p:nvPr/>
            </p:nvPicPr>
            <p:blipFill>
              <a:blip r:embed="rId3" cstate="print"/>
              <a:srcRect/>
              <a:stretch>
                <a:fillRect/>
              </a:stretch>
            </p:blipFill>
            <p:spPr bwMode="auto">
              <a:xfrm>
                <a:off x="359664" y="347472"/>
                <a:ext cx="7808976" cy="4431792"/>
              </a:xfrm>
              <a:prstGeom prst="rect">
                <a:avLst/>
              </a:prstGeom>
              <a:noFill/>
            </p:spPr>
          </p:pic>
          <p:sp>
            <p:nvSpPr>
              <p:cNvPr id="21" name="Text Box 8"/>
              <p:cNvSpPr txBox="1">
                <a:spLocks noChangeArrowheads="1"/>
              </p:cNvSpPr>
              <p:nvPr/>
            </p:nvSpPr>
            <p:spPr bwMode="auto">
              <a:xfrm>
                <a:off x="539750" y="484188"/>
                <a:ext cx="7488238" cy="4103687"/>
              </a:xfrm>
              <a:prstGeom prst="rect">
                <a:avLst/>
              </a:prstGeom>
              <a:noFill/>
              <a:ln w="9525">
                <a:noFill/>
                <a:miter lim="800000"/>
              </a:ln>
            </p:spPr>
            <p:txBody>
              <a:bodyPr lIns="121917" tIns="60958" rIns="121917" bIns="60958" anchor="ctr"/>
              <a:lstStyle/>
              <a:p>
                <a:pPr defTabSz="1219200"/>
                <a:endParaRPr lang="zh-CN" altLang="en-US" sz="2000" b="1">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p:txBody>
          </p:sp>
        </p:grpSp>
        <p:sp>
          <p:nvSpPr>
            <p:cNvPr id="19" name="Freeform 8"/>
            <p:cNvSpPr/>
            <p:nvPr/>
          </p:nvSpPr>
          <p:spPr bwMode="auto">
            <a:xfrm>
              <a:off x="7851825" y="4077295"/>
              <a:ext cx="579437" cy="579438"/>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pic>
        <p:nvPicPr>
          <p:cNvPr id="7" name="图片"/>
          <p:cNvPicPr>
            <a:picLocks noChangeAspect="1"/>
          </p:cNvPicPr>
          <p:nvPr userDrawn="1"/>
        </p:nvPicPr>
        <p:blipFill>
          <a:blip r:embed="rId2" cstate="print"/>
          <a:srcRect/>
          <a:stretch>
            <a:fillRect/>
          </a:stretch>
        </p:blipFill>
        <p:spPr bwMode="auto">
          <a:xfrm>
            <a:off x="9715500" y="-112033"/>
            <a:ext cx="2476500" cy="775682"/>
          </a:xfrm>
          <a:prstGeom prst="rect">
            <a:avLst/>
          </a:prstGeom>
          <a:noFill/>
          <a:ln w="9525">
            <a:noFill/>
            <a:miter lim="800000"/>
            <a:headEnd/>
            <a:tailEnd/>
          </a:ln>
        </p:spPr>
      </p:pic>
      <p:grpSp>
        <p:nvGrpSpPr>
          <p:cNvPr id="10" name="组合"/>
          <p:cNvGrpSpPr/>
          <p:nvPr userDrawn="1"/>
        </p:nvGrpSpPr>
        <p:grpSpPr bwMode="auto">
          <a:xfrm>
            <a:off x="4714240" y="384175"/>
            <a:ext cx="2763520" cy="576580"/>
            <a:chOff x="4691844" y="333450"/>
            <a:chExt cx="2810449" cy="576064"/>
          </a:xfrm>
        </p:grpSpPr>
        <p:sp>
          <p:nvSpPr>
            <p:cNvPr id="11" name="圆角矩形"/>
            <p:cNvSpPr/>
            <p:nvPr/>
          </p:nvSpPr>
          <p:spPr>
            <a:xfrm>
              <a:off x="4691844" y="333450"/>
              <a:ext cx="2808311" cy="576064"/>
            </a:xfrm>
            <a:prstGeom prst="roundRect">
              <a:avLst>
                <a:gd name="adj" fmla="val 12986"/>
              </a:avLst>
            </a:prstGeom>
            <a:solidFill>
              <a:srgbClr val="F2F2F2"/>
            </a:solidFill>
            <a:ln w="25400" cap="flat" cmpd="sng">
              <a:gradFill rotWithShape="1">
                <a:gsLst>
                  <a:gs pos="0">
                    <a:srgbClr val="FFFFFF">
                      <a:lumMod val="75000"/>
                      <a:alpha val="100000"/>
                    </a:srgbClr>
                  </a:gs>
                  <a:gs pos="100000">
                    <a:srgbClr val="FFFFFF">
                      <a:alpha val="100000"/>
                    </a:srgbClr>
                  </a:gs>
                </a:gsLst>
                <a:lin ang="2700000" scaled="1"/>
              </a:gradFill>
              <a:prstDash val="solid"/>
              <a:round/>
            </a:ln>
            <a:effectLst>
              <a:innerShdw blurRad="139700" dist="76200" dir="13500000">
                <a:srgbClr val="000000">
                  <a:alpha val="49803"/>
                </a:srgbClr>
              </a:innerShdw>
            </a:effectLst>
          </p:spPr>
        </p:sp>
        <p:sp>
          <p:nvSpPr>
            <p:cNvPr id="12" name="矩形"/>
            <p:cNvSpPr/>
            <p:nvPr/>
          </p:nvSpPr>
          <p:spPr>
            <a:xfrm>
              <a:off x="4721556" y="395999"/>
              <a:ext cx="2780737" cy="459963"/>
            </a:xfrm>
            <a:prstGeom prst="rect">
              <a:avLst/>
            </a:prstGeom>
            <a:noFill/>
            <a:ln w="9525" cap="flat" cmpd="sng">
              <a:noFill/>
              <a:prstDash val="solid"/>
              <a:miter/>
            </a:ln>
          </p:spPr>
          <p:txBody>
            <a:bodyPr wrap="square">
              <a:spAutoFit/>
            </a:bodyPr>
            <a:lstStyle/>
            <a:p>
              <a:pPr algn="ctr" fontAlgn="ctr">
                <a:spcBef>
                  <a:spcPts val="0"/>
                </a:spcBef>
                <a:spcAft>
                  <a:spcPts val="0"/>
                </a:spcAft>
                <a:defRPr/>
              </a:pPr>
              <a:r>
                <a:rPr lang="zh-CN" altLang="zh-CN" sz="2400" b="1" dirty="0">
                  <a:solidFill>
                    <a:schemeClr val="tx1"/>
                  </a:solidFill>
                  <a:latin typeface="黑体" panose="02010609060101010101" pitchFamily="49" charset="-122"/>
                  <a:ea typeface="黑体" panose="02010609060101010101" pitchFamily="49" charset="-122"/>
                  <a:cs typeface="Calibri" panose="020F0502020204030204" pitchFamily="34" charset="0"/>
                </a:rPr>
                <a:t>基础管理知识</a:t>
              </a:r>
              <a:endParaRPr lang="zh-CN" altLang="zh-CN" sz="2400" b="1" dirty="0">
                <a:solidFill>
                  <a:schemeClr val="tx1"/>
                </a:solidFill>
                <a:latin typeface="黑体" panose="02010609060101010101" pitchFamily="49" charset="-122"/>
                <a:ea typeface="黑体" panose="02010609060101010101" pitchFamily="49" charset="-122"/>
                <a:cs typeface="Calibri" panose="020F0502020204030204" pitchFamily="34" charset="0"/>
              </a:endParaRPr>
            </a:p>
          </p:txBody>
        </p:sp>
      </p:grpSp>
      <p:sp>
        <p:nvSpPr>
          <p:cNvPr id="13" name="直线"/>
          <p:cNvSpPr/>
          <p:nvPr userDrawn="1"/>
        </p:nvSpPr>
        <p:spPr bwMode="auto">
          <a:xfrm flipH="1">
            <a:off x="35560" y="660400"/>
            <a:ext cx="4678680" cy="20320"/>
          </a:xfrm>
          <a:prstGeom prst="line">
            <a:avLst/>
          </a:prstGeom>
          <a:noFill/>
          <a:ln w="19050">
            <a:solidFill>
              <a:srgbClr val="7F7F7F"/>
            </a:solidFill>
            <a:prstDash val="sysDash"/>
            <a:round/>
          </a:ln>
        </p:spPr>
        <p:txBody>
          <a:bodyPr/>
          <a:lstStyle/>
          <a:p>
            <a:endParaRPr lang="zh-CN" altLang="en-US"/>
          </a:p>
        </p:txBody>
      </p:sp>
      <p:sp>
        <p:nvSpPr>
          <p:cNvPr id="14" name="直线"/>
          <p:cNvSpPr/>
          <p:nvPr userDrawn="1"/>
        </p:nvSpPr>
        <p:spPr bwMode="auto">
          <a:xfrm flipH="1">
            <a:off x="7475855" y="664210"/>
            <a:ext cx="4713605" cy="16510"/>
          </a:xfrm>
          <a:prstGeom prst="line">
            <a:avLst/>
          </a:prstGeom>
          <a:noFill/>
          <a:ln w="19050">
            <a:solidFill>
              <a:srgbClr val="7F7F7F"/>
            </a:solidFill>
            <a:prstDash val="sysDash"/>
            <a:round/>
          </a:ln>
        </p:spPr>
        <p:txBody>
          <a:bodyPr/>
          <a:lstStyle/>
          <a:p>
            <a:endParaRPr lang="zh-CN" altLang="en-US"/>
          </a:p>
        </p:txBody>
      </p:sp>
      <p:sp>
        <p:nvSpPr>
          <p:cNvPr id="16" name="Freeform 8"/>
          <p:cNvSpPr/>
          <p:nvPr userDrawn="1"/>
        </p:nvSpPr>
        <p:spPr bwMode="auto">
          <a:xfrm>
            <a:off x="10292808" y="5728832"/>
            <a:ext cx="818105" cy="910093"/>
          </a:xfrm>
          <a:custGeom>
            <a:avLst/>
            <a:gdLst>
              <a:gd name="T0" fmla="*/ 2147483647 w 782"/>
              <a:gd name="T1" fmla="*/ 0 h 782"/>
              <a:gd name="T2" fmla="*/ 2147483647 w 782"/>
              <a:gd name="T3" fmla="*/ 2147483647 h 782"/>
              <a:gd name="T4" fmla="*/ 2147483647 w 782"/>
              <a:gd name="T5" fmla="*/ 2147483647 h 782"/>
              <a:gd name="T6" fmla="*/ 0 w 782"/>
              <a:gd name="T7" fmla="*/ 2147483647 h 782"/>
              <a:gd name="T8" fmla="*/ 2147483647 w 782"/>
              <a:gd name="T9" fmla="*/ 0 h 782"/>
              <a:gd name="T10" fmla="*/ 0 60000 65536"/>
              <a:gd name="T11" fmla="*/ 0 60000 65536"/>
              <a:gd name="T12" fmla="*/ 0 60000 65536"/>
              <a:gd name="T13" fmla="*/ 0 60000 65536"/>
              <a:gd name="T14" fmla="*/ 0 60000 65536"/>
              <a:gd name="T15" fmla="*/ 0 w 782"/>
              <a:gd name="T16" fmla="*/ 0 h 782"/>
              <a:gd name="T17" fmla="*/ 782 w 782"/>
              <a:gd name="T18" fmla="*/ 782 h 782"/>
            </a:gdLst>
            <a:ahLst/>
            <a:cxnLst>
              <a:cxn ang="T10">
                <a:pos x="T0" y="T1"/>
              </a:cxn>
              <a:cxn ang="T11">
                <a:pos x="T2" y="T3"/>
              </a:cxn>
              <a:cxn ang="T12">
                <a:pos x="T4" y="T5"/>
              </a:cxn>
              <a:cxn ang="T13">
                <a:pos x="T6" y="T7"/>
              </a:cxn>
              <a:cxn ang="T14">
                <a:pos x="T8" y="T9"/>
              </a:cxn>
            </a:cxnLst>
            <a:rect l="T15" t="T16" r="T17" b="T18"/>
            <a:pathLst>
              <a:path w="782" h="782">
                <a:moveTo>
                  <a:pt x="782" y="0"/>
                </a:moveTo>
                <a:lnTo>
                  <a:pt x="782" y="685"/>
                </a:lnTo>
                <a:cubicBezTo>
                  <a:pt x="782" y="738"/>
                  <a:pt x="738" y="782"/>
                  <a:pt x="685" y="782"/>
                </a:cubicBezTo>
                <a:lnTo>
                  <a:pt x="0" y="782"/>
                </a:lnTo>
                <a:lnTo>
                  <a:pt x="782" y="0"/>
                </a:lnTo>
                <a:close/>
              </a:path>
            </a:pathLst>
          </a:custGeom>
          <a:solidFill>
            <a:srgbClr val="FF0000"/>
          </a:solidFill>
          <a:ln w="9525">
            <a:noFill/>
            <a:round/>
          </a:ln>
        </p:spPr>
        <p:txBody>
          <a:bodyPr/>
          <a:lstStyle/>
          <a:p>
            <a:endParaRPr lang="zh-CN" altLang="en-US"/>
          </a:p>
        </p:txBody>
      </p:sp>
      <p:grpSp>
        <p:nvGrpSpPr>
          <p:cNvPr id="18" name="Freeform 5"/>
          <p:cNvGrpSpPr/>
          <p:nvPr/>
        </p:nvGrpSpPr>
        <p:grpSpPr bwMode="auto">
          <a:xfrm>
            <a:off x="-40295" y="959054"/>
            <a:ext cx="12183128" cy="5921630"/>
            <a:chOff x="359664" y="347472"/>
            <a:chExt cx="7808976" cy="4431792"/>
          </a:xfrm>
        </p:grpSpPr>
        <p:pic>
          <p:nvPicPr>
            <p:cNvPr id="20" name="Freeform 5"/>
            <p:cNvPicPr>
              <a:picLocks noChangeArrowheads="1"/>
            </p:cNvPicPr>
            <p:nvPr/>
          </p:nvPicPr>
          <p:blipFill>
            <a:blip r:embed="rId3" cstate="print"/>
            <a:srcRect/>
            <a:stretch>
              <a:fillRect/>
            </a:stretch>
          </p:blipFill>
          <p:spPr bwMode="auto">
            <a:xfrm>
              <a:off x="359664" y="347472"/>
              <a:ext cx="7808976" cy="4431792"/>
            </a:xfrm>
            <a:prstGeom prst="rect">
              <a:avLst/>
            </a:prstGeom>
            <a:noFill/>
          </p:spPr>
        </p:pic>
        <p:sp>
          <p:nvSpPr>
            <p:cNvPr id="21" name="Text Box 8"/>
            <p:cNvSpPr txBox="1">
              <a:spLocks noChangeArrowheads="1"/>
            </p:cNvSpPr>
            <p:nvPr/>
          </p:nvSpPr>
          <p:spPr bwMode="auto">
            <a:xfrm>
              <a:off x="539750" y="484188"/>
              <a:ext cx="7488238" cy="4103687"/>
            </a:xfrm>
            <a:prstGeom prst="rect">
              <a:avLst/>
            </a:prstGeom>
            <a:noFill/>
            <a:ln w="9525">
              <a:noFill/>
              <a:miter lim="800000"/>
            </a:ln>
          </p:spPr>
          <p:txBody>
            <a:bodyPr lIns="121917" tIns="60958" rIns="121917" bIns="60958" anchor="ctr"/>
            <a:lstStyle/>
            <a:p>
              <a:pPr defTabSz="1219200"/>
              <a:endParaRPr lang="zh-CN" altLang="en-US" sz="2000" b="1">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p:txBody>
        </p:sp>
      </p:grpSp>
    </p:spTree>
  </p:cSld>
  <p:clrMapOvr>
    <a:masterClrMapping/>
  </p:clrMapOvr>
  <p:transition>
    <p:blinds dir="vert"/>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文本 时钟1">
    <p:spTree>
      <p:nvGrpSpPr>
        <p:cNvPr id="1" name=""/>
        <p:cNvGrpSpPr/>
        <p:nvPr/>
      </p:nvGrpSpPr>
      <p:grpSpPr>
        <a:xfrm>
          <a:off x="0" y="0"/>
          <a:ext cx="0" cy="0"/>
          <a:chOff x="0" y="0"/>
          <a:chExt cx="0" cy="0"/>
        </a:xfrm>
      </p:grpSpPr>
      <p:sp>
        <p:nvSpPr>
          <p:cNvPr id="3" name="矩形 2"/>
          <p:cNvSpPr/>
          <p:nvPr userDrawn="1"/>
        </p:nvSpPr>
        <p:spPr>
          <a:xfrm>
            <a:off x="0" y="6345317"/>
            <a:ext cx="12192000" cy="4910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i="0">
              <a:solidFill>
                <a:srgbClr val="FFFFFF"/>
              </a:solidFill>
            </a:endParaRPr>
          </a:p>
        </p:txBody>
      </p:sp>
      <p:sp>
        <p:nvSpPr>
          <p:cNvPr id="7" name="内容占位符 2"/>
          <p:cNvSpPr>
            <a:spLocks noGrp="1"/>
          </p:cNvSpPr>
          <p:nvPr>
            <p:ph idx="1" hasCustomPrompt="1"/>
          </p:nvPr>
        </p:nvSpPr>
        <p:spPr>
          <a:xfrm>
            <a:off x="796211" y="996883"/>
            <a:ext cx="10543712" cy="5283634"/>
          </a:xfrm>
          <a:prstGeom prst="rect">
            <a:avLst/>
          </a:prstGeom>
        </p:spPr>
        <p:txBody>
          <a:bodyPr lIns="0" tIns="36000" rIns="0" bIns="0"/>
          <a:lstStyle>
            <a:lvl1pPr marL="0" indent="0" algn="l">
              <a:lnSpc>
                <a:spcPct val="120000"/>
              </a:lnSpc>
              <a:spcBef>
                <a:spcPts val="0"/>
              </a:spcBef>
              <a:buNone/>
              <a:defRPr sz="2400">
                <a:solidFill>
                  <a:schemeClr val="tx1">
                    <a:lumMod val="65000"/>
                    <a:lumOff val="35000"/>
                  </a:schemeClr>
                </a:solidFill>
              </a:defRPr>
            </a:lvl1pPr>
          </a:lstStyle>
          <a:p>
            <a:pPr lvl="0"/>
            <a:r>
              <a:rPr lang="zh-CN" altLang="en-US" dirty="0"/>
              <a:t>写入文本</a:t>
            </a:r>
            <a:endParaRPr lang="zh-CN" altLang="en-US" dirty="0"/>
          </a:p>
        </p:txBody>
      </p:sp>
      <p:cxnSp>
        <p:nvCxnSpPr>
          <p:cNvPr id="12" name="直接连接符 11"/>
          <p:cNvCxnSpPr/>
          <p:nvPr userDrawn="1"/>
        </p:nvCxnSpPr>
        <p:spPr>
          <a:xfrm flipV="1">
            <a:off x="1103340" y="837983"/>
            <a:ext cx="10772397" cy="38886"/>
          </a:xfrm>
          <a:prstGeom prst="line">
            <a:avLst/>
          </a:prstGeom>
          <a:ln w="28575">
            <a:gradFill flip="none" rotWithShape="1">
              <a:gsLst>
                <a:gs pos="0">
                  <a:schemeClr val="tx1"/>
                </a:gs>
                <a:gs pos="100000">
                  <a:srgbClr val="00B0F0"/>
                </a:gs>
              </a:gsLst>
              <a:lin ang="0" scaled="1"/>
              <a:tileRect/>
            </a:gra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a:stretch>
            <a:fillRect/>
          </a:stretch>
        </p:blipFill>
        <p:spPr>
          <a:xfrm>
            <a:off x="143339" y="256690"/>
            <a:ext cx="960000" cy="691276"/>
          </a:xfrm>
          <a:prstGeom prst="rect">
            <a:avLst/>
          </a:prstGeom>
        </p:spPr>
      </p:pic>
      <p:sp>
        <p:nvSpPr>
          <p:cNvPr id="11" name="标题 1"/>
          <p:cNvSpPr>
            <a:spLocks noGrp="1"/>
          </p:cNvSpPr>
          <p:nvPr>
            <p:ph type="title"/>
          </p:nvPr>
        </p:nvSpPr>
        <p:spPr>
          <a:xfrm>
            <a:off x="1291969" y="353888"/>
            <a:ext cx="9953616" cy="470952"/>
          </a:xfrm>
          <a:prstGeom prst="rect">
            <a:avLst/>
          </a:prstGeom>
        </p:spPr>
        <p:txBody>
          <a:bodyPr lIns="72000" tIns="0" bIns="0"/>
          <a:lstStyle>
            <a:lvl1pPr algn="l">
              <a:defRPr sz="2880"/>
            </a:lvl1pPr>
          </a:lstStyle>
          <a:p>
            <a:r>
              <a:rPr lang="zh-CN" altLang="en-US"/>
              <a:t>单击此处编辑母版标题样式</a:t>
            </a:r>
            <a:endParaRPr lang="zh-CN" altLang="en-US" dirty="0"/>
          </a:p>
        </p:txBody>
      </p:sp>
      <p:grpSp>
        <p:nvGrpSpPr>
          <p:cNvPr id="4" name="组合 3"/>
          <p:cNvGrpSpPr/>
          <p:nvPr userDrawn="1"/>
        </p:nvGrpSpPr>
        <p:grpSpPr>
          <a:xfrm>
            <a:off x="11280576" y="6296400"/>
            <a:ext cx="748800" cy="561600"/>
            <a:chOff x="6684319" y="5203516"/>
            <a:chExt cx="468000" cy="468000"/>
          </a:xfrm>
        </p:grpSpPr>
        <p:sp>
          <p:nvSpPr>
            <p:cNvPr id="26" name="椭圆 25"/>
            <p:cNvSpPr/>
            <p:nvPr userDrawn="1"/>
          </p:nvSpPr>
          <p:spPr>
            <a:xfrm>
              <a:off x="6684319" y="5203516"/>
              <a:ext cx="468000" cy="468000"/>
            </a:xfrm>
            <a:prstGeom prst="ellipse">
              <a:avLst/>
            </a:prstGeom>
            <a:gradFill flip="none" rotWithShape="1">
              <a:gsLst>
                <a:gs pos="15000">
                  <a:schemeClr val="bg1">
                    <a:alpha val="87000"/>
                  </a:schemeClr>
                </a:gs>
                <a:gs pos="22000">
                  <a:schemeClr val="bg1">
                    <a:alpha val="40000"/>
                  </a:schemeClr>
                </a:gs>
                <a:gs pos="50000">
                  <a:schemeClr val="bg1">
                    <a:alpha val="20000"/>
                  </a:schemeClr>
                </a:gs>
                <a:gs pos="71000">
                  <a:schemeClr val="bg1">
                    <a:alpha val="10000"/>
                  </a:schemeClr>
                </a:gs>
              </a:gsLst>
              <a:lin ang="2700000" scaled="1"/>
              <a:tileRect/>
            </a:gradFill>
            <a:ln w="12700">
              <a:gradFill flip="none" rotWithShape="1">
                <a:gsLst>
                  <a:gs pos="25000">
                    <a:schemeClr val="bg2">
                      <a:lumMod val="90000"/>
                    </a:schemeClr>
                  </a:gs>
                  <a:gs pos="0">
                    <a:schemeClr val="bg1"/>
                  </a:gs>
                  <a:gs pos="50000">
                    <a:schemeClr val="bg2">
                      <a:lumMod val="75000"/>
                    </a:schemeClr>
                  </a:gs>
                  <a:gs pos="75000">
                    <a:schemeClr val="bg2">
                      <a:lumMod val="90000"/>
                    </a:schemeClr>
                  </a:gs>
                  <a:gs pos="100000">
                    <a:schemeClr val="bg1"/>
                  </a:gs>
                </a:gsLst>
                <a:lin ang="2700000" scaled="1"/>
                <a:tileRect/>
              </a:gradFill>
            </a:ln>
            <a:effectLst>
              <a:outerShdw blurRad="228600" dist="88900" dir="2700000" algn="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i="0">
                <a:solidFill>
                  <a:srgbClr val="FFFFFF"/>
                </a:solidFill>
              </a:endParaRPr>
            </a:p>
          </p:txBody>
        </p:sp>
        <p:sp>
          <p:nvSpPr>
            <p:cNvPr id="27" name="椭圆 26"/>
            <p:cNvSpPr/>
            <p:nvPr userDrawn="1"/>
          </p:nvSpPr>
          <p:spPr>
            <a:xfrm>
              <a:off x="6738319" y="5257516"/>
              <a:ext cx="360000" cy="360000"/>
            </a:xfrm>
            <a:prstGeom prst="ellipse">
              <a:avLst/>
            </a:prstGeom>
            <a:solidFill>
              <a:schemeClr val="accent2"/>
            </a:solidFill>
            <a:ln>
              <a:noFill/>
            </a:ln>
            <a:effectLst>
              <a:outerShdw blurRad="152400" dist="50800" dir="2160000" algn="ctr" rotWithShape="0">
                <a:srgbClr val="000000">
                  <a:alpha val="30000"/>
                </a:srgbClr>
              </a:outerShdw>
            </a:effectLst>
            <a:scene3d>
              <a:camera prst="orthographicFront"/>
              <a:lightRig rig="threePt" dir="t"/>
            </a:scene3d>
            <a:sp3d prstMaterial="softEdge">
              <a:bevelT w="146050" h="317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i="0">
                <a:solidFill>
                  <a:srgbClr val="FFFFFF"/>
                </a:solidFill>
              </a:endParaRPr>
            </a:p>
          </p:txBody>
        </p:sp>
      </p:grpSp>
      <p:sp>
        <p:nvSpPr>
          <p:cNvPr id="15" name="灯片编号占位符 5"/>
          <p:cNvSpPr>
            <a:spLocks noGrp="1"/>
          </p:cNvSpPr>
          <p:nvPr userDrawn="1">
            <p:ph type="sldNum" sz="quarter" idx="12"/>
          </p:nvPr>
        </p:nvSpPr>
        <p:spPr>
          <a:xfrm>
            <a:off x="11366944" y="6367641"/>
            <a:ext cx="576064" cy="419120"/>
          </a:xfrm>
        </p:spPr>
        <p:txBody>
          <a:bodyPr lIns="0" tIns="0" rIns="0" bIns="0"/>
          <a:lstStyle>
            <a:lvl1pPr algn="ctr">
              <a:defRPr sz="1600">
                <a:solidFill>
                  <a:srgbClr val="0070C0"/>
                </a:solidFill>
                <a:latin typeface="CKanHKS-Xbold" panose="00000800000000000000" pitchFamily="50" charset="-128"/>
                <a:ea typeface="CKanHKS-Xbold" panose="00000800000000000000" pitchFamily="50" charset="-128"/>
              </a:defRPr>
            </a:lvl1pPr>
          </a:lstStyle>
          <a:p>
            <a:fld id="{0C913308-F349-4B6D-A68A-DD1791B4A57B}" type="slidenum">
              <a:rPr lang="zh-CN" altLang="en-US" smtClean="0"/>
            </a:fld>
            <a:endParaRPr lang="zh-CN" altLang="en-US"/>
          </a:p>
        </p:txBody>
      </p:sp>
      <p:pic>
        <p:nvPicPr>
          <p:cNvPr id="2049" name="图片 2048" descr="ppt/media/image6.wmf"/>
          <p:cNvPicPr/>
          <p:nvPr/>
        </p:nvPicPr>
        <p:blipFill>
          <a:blip r:embed="rId3"/>
          <a:stretch>
            <a:fillRect/>
          </a:stretch>
        </p:blipFill>
        <p:spPr>
          <a:xfrm>
            <a:off x="5424488" y="6345238"/>
            <a:ext cx="1824038" cy="496888"/>
          </a:xfrm>
          <a:prstGeom prst="rect">
            <a:avLst/>
          </a:prstGeom>
          <a:noFill/>
          <a:ln w="9525">
            <a:noFill/>
          </a:ln>
        </p:spPr>
      </p:pic>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blinds/>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纯背景">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tretch>
            <a:fillRect/>
          </a:stretch>
        </p:blipFill>
        <p:spPr>
          <a:xfrm>
            <a:off x="0" y="0"/>
            <a:ext cx="12249957" cy="6901270"/>
          </a:xfrm>
          <a:prstGeom prst="rect">
            <a:avLst/>
          </a:prstGeom>
        </p:spPr>
      </p:pic>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4" name="Rectangle 15"/>
          <p:cNvSpPr>
            <a:spLocks noChangeArrowheads="1"/>
          </p:cNvSpPr>
          <p:nvPr userDrawn="1"/>
        </p:nvSpPr>
        <p:spPr bwMode="gray">
          <a:xfrm>
            <a:off x="0" y="387328"/>
            <a:ext cx="12192000" cy="914400"/>
          </a:xfrm>
          <a:prstGeom prst="rect">
            <a:avLst/>
          </a:prstGeom>
          <a:gradFill rotWithShape="1">
            <a:gsLst>
              <a:gs pos="0">
                <a:srgbClr val="1F63AD">
                  <a:gamma/>
                  <a:tint val="12549"/>
                  <a:invGamma/>
                  <a:alpha val="0"/>
                </a:srgbClr>
              </a:gs>
              <a:gs pos="100000">
                <a:srgbClr val="1F63AD"/>
              </a:gs>
            </a:gsLst>
            <a:lin ang="0" scaled="1"/>
          </a:gra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5" name="Rectangle 16"/>
          <p:cNvSpPr>
            <a:spLocks noChangeArrowheads="1"/>
          </p:cNvSpPr>
          <p:nvPr userDrawn="1"/>
        </p:nvSpPr>
        <p:spPr bwMode="gray">
          <a:xfrm>
            <a:off x="0" y="285728"/>
            <a:ext cx="10972800" cy="914400"/>
          </a:xfrm>
          <a:prstGeom prst="rect">
            <a:avLst/>
          </a:prstGeom>
          <a:gradFill rotWithShape="1">
            <a:gsLst>
              <a:gs pos="0">
                <a:srgbClr val="FF0000"/>
              </a:gs>
              <a:gs pos="100000">
                <a:srgbClr val="99190B">
                  <a:gamma/>
                  <a:shade val="46275"/>
                  <a:invGamma/>
                  <a:alpha val="0"/>
                </a:srgbClr>
              </a:gs>
            </a:gsLst>
            <a:lin ang="0" scaled="1"/>
          </a:gra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ysClr val="windowText" lastClr="000000"/>
              </a:solidFill>
              <a:effectLst/>
              <a:uLnTx/>
              <a:uFillTx/>
            </a:endParaRPr>
          </a:p>
        </p:txBody>
      </p:sp>
      <p:pic>
        <p:nvPicPr>
          <p:cNvPr id="10" name="Picture 13" descr="图形1"/>
          <p:cNvPicPr>
            <a:picLocks noChangeAspect="1" noChangeArrowheads="1"/>
          </p:cNvPicPr>
          <p:nvPr userDrawn="1"/>
        </p:nvPicPr>
        <p:blipFill>
          <a:blip r:embed="rId2" cstate="email"/>
          <a:srcRect/>
          <a:stretch>
            <a:fillRect/>
          </a:stretch>
        </p:blipFill>
        <p:spPr bwMode="auto">
          <a:xfrm>
            <a:off x="10572781" y="476229"/>
            <a:ext cx="970567" cy="800363"/>
          </a:xfrm>
          <a:prstGeom prst="rect">
            <a:avLst/>
          </a:prstGeom>
          <a:noFill/>
          <a:ln w="9525">
            <a:noFill/>
            <a:miter lim="800000"/>
            <a:headEnd/>
            <a:tailEnd/>
          </a:ln>
          <a:effectLst>
            <a:outerShdw blurRad="44450" dist="27940" dir="5400000" algn="ctr">
              <a:srgbClr val="000000">
                <a:alpha val="32000"/>
              </a:srgbClr>
            </a:outerShdw>
            <a:reflection blurRad="6350" stA="52000" endA="300" endPos="35000" dir="5400000" sy="-100000" algn="bl" rotWithShape="0"/>
          </a:effectLst>
        </p:spPr>
      </p:pic>
      <p:sp>
        <p:nvSpPr>
          <p:cNvPr id="8" name="TextBox 7"/>
          <p:cNvSpPr txBox="1"/>
          <p:nvPr userDrawn="1"/>
        </p:nvSpPr>
        <p:spPr>
          <a:xfrm>
            <a:off x="5048243" y="380979"/>
            <a:ext cx="1905013" cy="583565"/>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algn="ct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   言</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9" name="组合 8"/>
          <p:cNvGrpSpPr/>
          <p:nvPr userDrawn="1"/>
        </p:nvGrpSpPr>
        <p:grpSpPr>
          <a:xfrm>
            <a:off x="4000485" y="857232"/>
            <a:ext cx="5036204" cy="276412"/>
            <a:chOff x="611" y="1760"/>
            <a:chExt cx="7241" cy="413"/>
          </a:xfrm>
          <a:solidFill>
            <a:schemeClr val="bg2">
              <a:lumMod val="50000"/>
            </a:schemeClr>
          </a:solidFill>
        </p:grpSpPr>
        <p:sp>
          <p:nvSpPr>
            <p:cNvPr id="11" name="矩形 10"/>
            <p:cNvSpPr/>
            <p:nvPr/>
          </p:nvSpPr>
          <p:spPr>
            <a:xfrm>
              <a:off x="5477" y="1760"/>
              <a:ext cx="2059" cy="17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2" name="平行四边形 11"/>
            <p:cNvSpPr/>
            <p:nvPr/>
          </p:nvSpPr>
          <p:spPr>
            <a:xfrm>
              <a:off x="611" y="1996"/>
              <a:ext cx="5169" cy="72"/>
            </a:xfrm>
            <a:prstGeom prst="parallelogram">
              <a:avLst>
                <a:gd name="adj" fmla="val 31755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椭圆 12"/>
            <p:cNvSpPr/>
            <p:nvPr/>
          </p:nvSpPr>
          <p:spPr>
            <a:xfrm>
              <a:off x="6279" y="1984"/>
              <a:ext cx="168" cy="1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椭圆 15"/>
            <p:cNvSpPr/>
            <p:nvPr/>
          </p:nvSpPr>
          <p:spPr>
            <a:xfrm>
              <a:off x="6548" y="1984"/>
              <a:ext cx="168" cy="1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椭圆 16"/>
            <p:cNvSpPr/>
            <p:nvPr/>
          </p:nvSpPr>
          <p:spPr>
            <a:xfrm>
              <a:off x="6820" y="1984"/>
              <a:ext cx="168" cy="1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7428" y="1976"/>
              <a:ext cx="168" cy="1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9" name="直接连接符 18"/>
            <p:cNvCxnSpPr/>
            <p:nvPr/>
          </p:nvCxnSpPr>
          <p:spPr>
            <a:xfrm>
              <a:off x="3094" y="2173"/>
              <a:ext cx="4759" cy="0"/>
            </a:xfrm>
            <a:prstGeom prst="line">
              <a:avLst/>
            </a:prstGeom>
            <a:grpFill/>
            <a:ln>
              <a:solidFill>
                <a:srgbClr val="6AE7FF"/>
              </a:solidFill>
              <a:prstDash val="sysDash"/>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5" Type="http://schemas.openxmlformats.org/officeDocument/2006/relationships/theme" Target="../theme/theme1.xml"/><Relationship Id="rId34" Type="http://schemas.openxmlformats.org/officeDocument/2006/relationships/image" Target="../media/image11.png"/><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46FCD33-EACA-4902-B88F-44DB2FE7E335}" type="datetimeFigureOut">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50081F58-5F54-48AF-9089-08FFC3FC938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ts val="13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ts val="13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ts val="13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9" Type="http://schemas.openxmlformats.org/officeDocument/2006/relationships/notesSlide" Target="../notesSlides/notesSlide5.xml"/><Relationship Id="rId18" Type="http://schemas.openxmlformats.org/officeDocument/2006/relationships/slideLayout" Target="../slideLayouts/slideLayout2.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18.png"/><Relationship Id="rId3" Type="http://schemas.openxmlformats.org/officeDocument/2006/relationships/tags" Target="../tags/tag22.xml"/><Relationship Id="rId2" Type="http://schemas.openxmlformats.org/officeDocument/2006/relationships/tags" Target="../tags/tag21.xml"/><Relationship Id="rId19" Type="http://schemas.openxmlformats.org/officeDocument/2006/relationships/slideLayout" Target="../slideLayouts/slideLayout2.xml"/><Relationship Id="rId18" Type="http://schemas.openxmlformats.org/officeDocument/2006/relationships/image" Target="../media/image19.png"/><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tags" Target="../tags/tag3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jpeg"/><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tags" Target="../tags/tag4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tags" Target="../tags/tag4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jpeg"/><Relationship Id="rId1" Type="http://schemas.openxmlformats.org/officeDocument/2006/relationships/image" Target="../media/image36.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47.xml"/><Relationship Id="rId3" Type="http://schemas.openxmlformats.org/officeDocument/2006/relationships/image" Target="../media/image42.png"/><Relationship Id="rId2" Type="http://schemas.openxmlformats.org/officeDocument/2006/relationships/tags" Target="../tags/tag46.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jpeg"/></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53.png"/><Relationship Id="rId1" Type="http://schemas.openxmlformats.org/officeDocument/2006/relationships/tags" Target="../tags/tag48.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image" Target="../media/image54.png"/><Relationship Id="rId1" Type="http://schemas.openxmlformats.org/officeDocument/2006/relationships/tags" Target="../tags/tag54.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tags" Target="../tags/tag57.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tags" Target="../tags/tag58.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tags" Target="../tags/tag59.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tags" Target="../tags/tag60.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tags" Target="../tags/tag6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notesSlide" Target="../notesSlides/notesSlide16.xml"/><Relationship Id="rId13" Type="http://schemas.openxmlformats.org/officeDocument/2006/relationships/slideLayout" Target="../slideLayouts/slideLayout2.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4.png"/><Relationship Id="rId1" Type="http://schemas.openxmlformats.org/officeDocument/2006/relationships/tags" Target="../tags/tag74.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5.png"/><Relationship Id="rId1" Type="http://schemas.openxmlformats.org/officeDocument/2006/relationships/tags" Target="../tags/tag75.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6.png"/><Relationship Id="rId1" Type="http://schemas.openxmlformats.org/officeDocument/2006/relationships/tags" Target="../tags/tag76.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tags" Target="../tags/tag77.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tags" Target="../tags/tag78.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tags" Target="../tags/tag79.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tags" Target="../tags/tag80.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72.png"/><Relationship Id="rId1" Type="http://schemas.openxmlformats.org/officeDocument/2006/relationships/image" Target="../media/image71.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4.png"/><Relationship Id="rId1" Type="http://schemas.openxmlformats.org/officeDocument/2006/relationships/tags" Target="../tags/tag81.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5.png"/><Relationship Id="rId1" Type="http://schemas.openxmlformats.org/officeDocument/2006/relationships/tags" Target="../tags/tag82.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tags" Target="../tags/tag83.xml"/></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tags" Target="../tags/tag8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81.jpeg"/><Relationship Id="rId1" Type="http://schemas.openxmlformats.org/officeDocument/2006/relationships/image" Target="../media/image80.jpe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4.xml"/><Relationship Id="rId1" Type="http://schemas.openxmlformats.org/officeDocument/2006/relationships/image" Target="../media/image82.jpeg"/></Relationships>
</file>

<file path=ppt/slides/_rels/slide101.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86.jpeg"/><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image" Target="../media/image83.jpe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87.png"/><Relationship Id="rId1" Type="http://schemas.openxmlformats.org/officeDocument/2006/relationships/tags" Target="../tags/tag87.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88.png"/><Relationship Id="rId1" Type="http://schemas.openxmlformats.org/officeDocument/2006/relationships/tags" Target="../tags/tag88.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89.png"/><Relationship Id="rId1" Type="http://schemas.openxmlformats.org/officeDocument/2006/relationships/tags" Target="../tags/tag89.xml"/></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90.png"/><Relationship Id="rId1" Type="http://schemas.openxmlformats.org/officeDocument/2006/relationships/tags" Target="../tags/tag9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jpe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2.png"/><Relationship Id="rId1" Type="http://schemas.openxmlformats.org/officeDocument/2006/relationships/tags" Target="../tags/tag91.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3.png"/><Relationship Id="rId1" Type="http://schemas.openxmlformats.org/officeDocument/2006/relationships/tags" Target="../tags/tag92.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4.png"/><Relationship Id="rId1" Type="http://schemas.openxmlformats.org/officeDocument/2006/relationships/tags" Target="../tags/tag93.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5.png"/><Relationship Id="rId1" Type="http://schemas.openxmlformats.org/officeDocument/2006/relationships/tags" Target="../tags/tag94.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96.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97.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4.xml"/><Relationship Id="rId1" Type="http://schemas.openxmlformats.org/officeDocument/2006/relationships/image" Target="../media/image98.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4.xml"/><Relationship Id="rId1" Type="http://schemas.openxmlformats.org/officeDocument/2006/relationships/image" Target="../media/image99.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4.xml"/><Relationship Id="rId1" Type="http://schemas.openxmlformats.org/officeDocument/2006/relationships/image" Target="../media/image100.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4.xml"/><Relationship Id="rId1" Type="http://schemas.openxmlformats.org/officeDocument/2006/relationships/image" Target="../media/image101.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4.xml"/><Relationship Id="rId1" Type="http://schemas.openxmlformats.org/officeDocument/2006/relationships/image" Target="../media/image102.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03.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04.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05.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06.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4.xml"/><Relationship Id="rId1" Type="http://schemas.openxmlformats.org/officeDocument/2006/relationships/image" Target="../media/image107.png"/></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4.xml"/><Relationship Id="rId2" Type="http://schemas.openxmlformats.org/officeDocument/2006/relationships/image" Target="../media/image109.png"/><Relationship Id="rId1" Type="http://schemas.openxmlformats.org/officeDocument/2006/relationships/image" Target="../media/image108.png"/></Relationships>
</file>

<file path=ppt/slides/_rels/slide132.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4.xml"/><Relationship Id="rId2" Type="http://schemas.openxmlformats.org/officeDocument/2006/relationships/image" Target="../media/image111.png"/><Relationship Id="rId1" Type="http://schemas.openxmlformats.org/officeDocument/2006/relationships/image" Target="../media/image110.png"/></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4.xml"/><Relationship Id="rId2" Type="http://schemas.openxmlformats.org/officeDocument/2006/relationships/image" Target="../media/image113.png"/><Relationship Id="rId1" Type="http://schemas.openxmlformats.org/officeDocument/2006/relationships/image" Target="../media/image112.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4.xml"/><Relationship Id="rId1" Type="http://schemas.openxmlformats.org/officeDocument/2006/relationships/image" Target="../media/image114.jpe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15.jpeg"/></Relationships>
</file>

<file path=ppt/slides/_rels/slide136.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image" Target="../media/image116.jpe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0.png"/><Relationship Id="rId1" Type="http://schemas.openxmlformats.org/officeDocument/2006/relationships/tags" Target="../tags/tag95.xml"/></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1.png"/><Relationship Id="rId1" Type="http://schemas.openxmlformats.org/officeDocument/2006/relationships/tags" Target="../tags/tag96.xml"/></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2.png"/><Relationship Id="rId1" Type="http://schemas.openxmlformats.org/officeDocument/2006/relationships/tags" Target="../tags/tag97.xml"/></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3.png"/><Relationship Id="rId1" Type="http://schemas.openxmlformats.org/officeDocument/2006/relationships/tags" Target="../tags/tag98.xml"/></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4.png"/><Relationship Id="rId1" Type="http://schemas.openxmlformats.org/officeDocument/2006/relationships/tags" Target="../tags/tag99.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6.jpe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jpe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jpe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9.GIF"/></Relationships>
</file>

<file path=ppt/slides/_rels/slide15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0.png"/><Relationship Id="rId1" Type="http://schemas.openxmlformats.org/officeDocument/2006/relationships/tags" Target="../tags/tag100.xml"/></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1.png"/><Relationship Id="rId1" Type="http://schemas.openxmlformats.org/officeDocument/2006/relationships/tags" Target="../tags/tag101.xml"/></Relationships>
</file>

<file path=ppt/slides/_rels/slide15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2.png"/><Relationship Id="rId1" Type="http://schemas.openxmlformats.org/officeDocument/2006/relationships/tags" Target="../tags/tag102.xml"/></Relationships>
</file>

<file path=ppt/slides/_rels/slide15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3.png"/><Relationship Id="rId1" Type="http://schemas.openxmlformats.org/officeDocument/2006/relationships/tags" Target="../tags/tag10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4.jpeg"/></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5.jpeg"/></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6.jpeg"/></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7.png"/></Relationships>
</file>

<file path=ppt/slides/_rels/slide16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8.png"/><Relationship Id="rId1" Type="http://schemas.openxmlformats.org/officeDocument/2006/relationships/tags" Target="../tags/tag104.xml"/></Relationships>
</file>

<file path=ppt/slides/_rels/slide16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9.png"/><Relationship Id="rId1" Type="http://schemas.openxmlformats.org/officeDocument/2006/relationships/tags" Target="../tags/tag105.xml"/></Relationships>
</file>

<file path=ppt/slides/_rels/slide16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40.png"/><Relationship Id="rId1" Type="http://schemas.openxmlformats.org/officeDocument/2006/relationships/tags" Target="../tags/tag106.xml"/></Relationships>
</file>

<file path=ppt/slides/_rels/slide16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41.png"/><Relationship Id="rId1" Type="http://schemas.openxmlformats.org/officeDocument/2006/relationships/tags" Target="../tags/tag10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7"/>
          <p:cNvSpPr>
            <a:spLocks noChangeArrowheads="1"/>
          </p:cNvSpPr>
          <p:nvPr/>
        </p:nvSpPr>
        <p:spPr bwMode="auto">
          <a:xfrm>
            <a:off x="-31" y="2020823"/>
            <a:ext cx="12191999" cy="2279408"/>
          </a:xfrm>
          <a:prstGeom prst="rect">
            <a:avLst/>
          </a:prstGeom>
          <a:gradFill>
            <a:gsLst>
              <a:gs pos="0">
                <a:srgbClr val="012D86"/>
              </a:gs>
              <a:gs pos="100000">
                <a:srgbClr val="0E2557"/>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756" tIns="48378" rIns="96756" bIns="48378" numCol="1" anchor="t" anchorCtr="0" compatLnSpc="1"/>
          <a:lstStyle/>
          <a:p>
            <a:endParaRPr lang="zh-CN" altLang="en-US" sz="1905"/>
          </a:p>
        </p:txBody>
      </p:sp>
      <p:sp>
        <p:nvSpPr>
          <p:cNvPr id="15" name="Rectangle 20"/>
          <p:cNvSpPr>
            <a:spLocks noChangeArrowheads="1"/>
          </p:cNvSpPr>
          <p:nvPr/>
        </p:nvSpPr>
        <p:spPr bwMode="auto">
          <a:xfrm>
            <a:off x="201930" y="2406650"/>
            <a:ext cx="11788775"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4400" b="1" spc="400" dirty="0">
                <a:solidFill>
                  <a:srgbClr val="FFFF00"/>
                </a:solidFill>
                <a:latin typeface="黑体" panose="02010609060101010101" pitchFamily="49" charset="-122"/>
                <a:ea typeface="黑体" panose="02010609060101010101" pitchFamily="49" charset="-122"/>
                <a:cs typeface="+mn-ea"/>
                <a:sym typeface="+mn-ea"/>
              </a:rPr>
              <a:t>《危险化学品企业特殊作业安全规范》解读</a:t>
            </a:r>
            <a:endParaRPr lang="zh-CN" altLang="zh-CN" sz="4400" b="1" spc="400" dirty="0">
              <a:solidFill>
                <a:srgbClr val="FFFF00"/>
              </a:solidFill>
              <a:latin typeface="黑体" panose="02010609060101010101" pitchFamily="49" charset="-122"/>
              <a:ea typeface="黑体" panose="02010609060101010101" pitchFamily="49" charset="-122"/>
              <a:cs typeface="+mn-ea"/>
              <a:sym typeface="+mn-ea"/>
            </a:endParaRPr>
          </a:p>
          <a:p>
            <a:pPr marL="0" marR="0" lvl="0" indent="0" algn="ctr" defTabSz="914400" rtl="0" eaLnBrk="1" fontAlgn="base" latinLnBrk="0" hangingPunct="1">
              <a:lnSpc>
                <a:spcPct val="100000"/>
              </a:lnSpc>
              <a:spcBef>
                <a:spcPct val="0"/>
              </a:spcBef>
              <a:spcAft>
                <a:spcPct val="0"/>
              </a:spcAft>
              <a:buClrTx/>
              <a:buSzTx/>
              <a:buFontTx/>
              <a:buNone/>
            </a:pPr>
            <a:r>
              <a:rPr lang="en-US" altLang="zh-CN" sz="5400" b="1" spc="400" dirty="0">
                <a:solidFill>
                  <a:srgbClr val="FFFF00"/>
                </a:solidFill>
                <a:latin typeface="黑体" panose="02010609060101010101" pitchFamily="49" charset="-122"/>
                <a:ea typeface="黑体" panose="02010609060101010101" pitchFamily="49" charset="-122"/>
                <a:cs typeface="+mn-ea"/>
                <a:sym typeface="+mn-ea"/>
              </a:rPr>
              <a:t>                </a:t>
            </a:r>
            <a:r>
              <a:rPr lang="zh-CN" altLang="zh-CN" sz="4000" b="1" spc="400" dirty="0">
                <a:solidFill>
                  <a:srgbClr val="FFFF00"/>
                </a:solidFill>
                <a:latin typeface="黑体" panose="02010609060101010101" pitchFamily="49" charset="-122"/>
                <a:ea typeface="黑体" panose="02010609060101010101" pitchFamily="49" charset="-122"/>
                <a:cs typeface="+mn-ea"/>
                <a:sym typeface="+mn-ea"/>
              </a:rPr>
              <a:t>（GB30871-2022）</a:t>
            </a:r>
            <a:endParaRPr lang="zh-CN" altLang="zh-CN" sz="4000" b="1" spc="400" dirty="0">
              <a:solidFill>
                <a:srgbClr val="FFFF00"/>
              </a:solidFill>
              <a:latin typeface="黑体" panose="02010609060101010101" pitchFamily="49" charset="-122"/>
              <a:ea typeface="黑体" panose="02010609060101010101" pitchFamily="49" charset="-122"/>
              <a:cs typeface="+mn-ea"/>
              <a:sym typeface="+mn-ea"/>
            </a:endParaRPr>
          </a:p>
        </p:txBody>
      </p:sp>
      <p:sp>
        <p:nvSpPr>
          <p:cNvPr id="23" name="TextBox 22"/>
          <p:cNvSpPr txBox="1"/>
          <p:nvPr/>
        </p:nvSpPr>
        <p:spPr>
          <a:xfrm>
            <a:off x="5075555" y="5947410"/>
            <a:ext cx="2000885" cy="521970"/>
          </a:xfrm>
          <a:prstGeom prst="rect">
            <a:avLst/>
          </a:prstGeom>
          <a:noFill/>
        </p:spPr>
        <p:txBody>
          <a:bodyPr wrap="square" rtlCol="0">
            <a:spAutoFit/>
          </a:bodyPr>
          <a:lstStyle/>
          <a:p>
            <a:pPr algn="ctr"/>
            <a:r>
              <a:rPr lang="zh-CN" altLang="zh-CN" sz="2800" b="1" dirty="0">
                <a:solidFill>
                  <a:schemeClr val="tx1">
                    <a:lumMod val="75000"/>
                    <a:lumOff val="25000"/>
                  </a:schemeClr>
                </a:solidFill>
                <a:latin typeface="微软雅黑" panose="020B0503020204020204" pitchFamily="34" charset="-122"/>
                <a:ea typeface="宋体" panose="02010600030101010101" pitchFamily="2" charset="-122"/>
              </a:rPr>
              <a:t>202</a:t>
            </a:r>
            <a:r>
              <a:rPr lang="en-US" altLang="zh-CN" sz="2800" b="1" dirty="0">
                <a:solidFill>
                  <a:schemeClr val="tx1">
                    <a:lumMod val="75000"/>
                    <a:lumOff val="25000"/>
                  </a:schemeClr>
                </a:solidFill>
                <a:latin typeface="微软雅黑" panose="020B0503020204020204" pitchFamily="34" charset="-122"/>
                <a:ea typeface="宋体" panose="02010600030101010101" pitchFamily="2" charset="-122"/>
              </a:rPr>
              <a:t>3</a:t>
            </a:r>
            <a:r>
              <a:rPr lang="zh-CN" altLang="zh-CN" sz="2800" b="1" dirty="0">
                <a:solidFill>
                  <a:schemeClr val="tx1">
                    <a:lumMod val="75000"/>
                    <a:lumOff val="25000"/>
                  </a:schemeClr>
                </a:solidFill>
                <a:latin typeface="微软雅黑" panose="020B0503020204020204" pitchFamily="34" charset="-122"/>
                <a:ea typeface="宋体" panose="02010600030101010101" pitchFamily="2" charset="-122"/>
              </a:rPr>
              <a:t>.</a:t>
            </a:r>
            <a:r>
              <a:rPr lang="en-US" altLang="zh-CN" sz="2800" b="1" dirty="0">
                <a:solidFill>
                  <a:schemeClr val="tx1">
                    <a:lumMod val="75000"/>
                    <a:lumOff val="25000"/>
                  </a:schemeClr>
                </a:solidFill>
                <a:latin typeface="微软雅黑" panose="020B0503020204020204" pitchFamily="34" charset="-122"/>
                <a:ea typeface="宋体" panose="02010600030101010101" pitchFamily="2" charset="-122"/>
              </a:rPr>
              <a:t>4</a:t>
            </a:r>
            <a:endParaRPr lang="en-US" altLang="zh-CN" sz="2800" b="1" dirty="0">
              <a:solidFill>
                <a:schemeClr val="tx1">
                  <a:lumMod val="75000"/>
                  <a:lumOff val="25000"/>
                </a:schemeClr>
              </a:solidFill>
              <a:latin typeface="微软雅黑" panose="020B0503020204020204" pitchFamily="34" charset="-122"/>
              <a:ea typeface="宋体" panose="02010600030101010101" pitchFamily="2" charset="-122"/>
            </a:endParaRPr>
          </a:p>
        </p:txBody>
      </p:sp>
      <p:sp>
        <p:nvSpPr>
          <p:cNvPr id="5" name="TextBox 4"/>
          <p:cNvSpPr txBox="1"/>
          <p:nvPr/>
        </p:nvSpPr>
        <p:spPr>
          <a:xfrm>
            <a:off x="581025" y="4462145"/>
            <a:ext cx="11031220" cy="583565"/>
          </a:xfrm>
          <a:prstGeom prst="rect">
            <a:avLst/>
          </a:prstGeom>
          <a:noFill/>
        </p:spPr>
        <p:txBody>
          <a:bodyPr wrap="square" rtlCol="0">
            <a:spAutoFit/>
          </a:bodyPr>
          <a:lstStyle/>
          <a:p>
            <a:pPr algn="ctr"/>
            <a:endParaRPr lang="en-US" altLang="zh-CN" sz="3200" b="1"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218" name="图片 1"/>
          <p:cNvPicPr>
            <a:picLocks noChangeAspect="1"/>
          </p:cNvPicPr>
          <p:nvPr/>
        </p:nvPicPr>
        <p:blipFill>
          <a:blip r:embed="rId1"/>
          <a:stretch>
            <a:fillRect/>
          </a:stretch>
        </p:blipFill>
        <p:spPr>
          <a:xfrm>
            <a:off x="-2016" y="525"/>
            <a:ext cx="3261503" cy="2027856"/>
          </a:xfrm>
          <a:prstGeom prst="rect">
            <a:avLst/>
          </a:prstGeom>
          <a:noFill/>
          <a:ln w="9525">
            <a:noFill/>
          </a:ln>
        </p:spPr>
      </p:pic>
      <p:pic>
        <p:nvPicPr>
          <p:cNvPr id="30730" name="图片 1"/>
          <p:cNvPicPr>
            <a:picLocks noChangeAspect="1"/>
          </p:cNvPicPr>
          <p:nvPr/>
        </p:nvPicPr>
        <p:blipFill>
          <a:blip r:embed="rId2"/>
          <a:stretch>
            <a:fillRect/>
          </a:stretch>
        </p:blipFill>
        <p:spPr>
          <a:xfrm>
            <a:off x="8929153" y="525"/>
            <a:ext cx="3260831" cy="2027856"/>
          </a:xfrm>
          <a:prstGeom prst="rect">
            <a:avLst/>
          </a:prstGeom>
          <a:noFill/>
          <a:ln w="9525">
            <a:noFill/>
          </a:ln>
        </p:spPr>
      </p:pic>
    </p:spTree>
  </p:cSld>
  <p:clrMapOvr>
    <a:masterClrMapping/>
  </p:clrMapOvr>
  <p:transition spd="slow" advTm="303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left)">
                                      <p:cBhvr>
                                        <p:cTn id="7" dur="500"/>
                                        <p:tgtEl>
                                          <p:spTgt spid="1035"/>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500"/>
                            </p:stCondLst>
                            <p:childTnLst>
                              <p:par>
                                <p:cTn id="13" presetID="2" presetClass="entr" presetSubtype="8" fill="hold" nodeType="afterEffect">
                                  <p:stCondLst>
                                    <p:cond delay="0"/>
                                  </p:stCondLst>
                                  <p:childTnLst>
                                    <p:set>
                                      <p:cBhvr>
                                        <p:cTn id="14" dur="1" fill="hold">
                                          <p:stCondLst>
                                            <p:cond delay="0"/>
                                          </p:stCondLst>
                                        </p:cTn>
                                        <p:tgtEl>
                                          <p:spTgt spid="9218"/>
                                        </p:tgtEl>
                                        <p:attrNameLst>
                                          <p:attrName>style.visibility</p:attrName>
                                        </p:attrNameLst>
                                      </p:cBhvr>
                                      <p:to>
                                        <p:strVal val="visible"/>
                                      </p:to>
                                    </p:set>
                                    <p:anim calcmode="lin" valueType="num">
                                      <p:cBhvr additive="base">
                                        <p:cTn id="15" dur="500" fill="hold"/>
                                        <p:tgtEl>
                                          <p:spTgt spid="9218"/>
                                        </p:tgtEl>
                                        <p:attrNameLst>
                                          <p:attrName>ppt_x</p:attrName>
                                        </p:attrNameLst>
                                      </p:cBhvr>
                                      <p:tavLst>
                                        <p:tav tm="0">
                                          <p:val>
                                            <p:strVal val="0-#ppt_w/2"/>
                                          </p:val>
                                        </p:tav>
                                        <p:tav tm="100000">
                                          <p:val>
                                            <p:strVal val="#ppt_x"/>
                                          </p:val>
                                        </p:tav>
                                      </p:tavLst>
                                    </p:anim>
                                    <p:anim calcmode="lin" valueType="num">
                                      <p:cBhvr additive="base">
                                        <p:cTn id="16" dur="500" fill="hold"/>
                                        <p:tgtEl>
                                          <p:spTgt spid="921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0730"/>
                                        </p:tgtEl>
                                        <p:attrNameLst>
                                          <p:attrName>style.visibility</p:attrName>
                                        </p:attrNameLst>
                                      </p:cBhvr>
                                      <p:to>
                                        <p:strVal val="visible"/>
                                      </p:to>
                                    </p:set>
                                    <p:anim calcmode="lin" valueType="num">
                                      <p:cBhvr additive="base">
                                        <p:cTn id="19" dur="500" fill="hold"/>
                                        <p:tgtEl>
                                          <p:spTgt spid="30730"/>
                                        </p:tgtEl>
                                        <p:attrNameLst>
                                          <p:attrName>ppt_x</p:attrName>
                                        </p:attrNameLst>
                                      </p:cBhvr>
                                      <p:tavLst>
                                        <p:tav tm="0">
                                          <p:val>
                                            <p:strVal val="1+#ppt_w/2"/>
                                          </p:val>
                                        </p:tav>
                                        <p:tav tm="100000">
                                          <p:val>
                                            <p:strVal val="#ppt_x"/>
                                          </p:val>
                                        </p:tav>
                                      </p:tavLst>
                                    </p:anim>
                                    <p:anim calcmode="lin" valueType="num">
                                      <p:cBhvr additive="base">
                                        <p:cTn id="20" dur="500" fill="hold"/>
                                        <p:tgtEl>
                                          <p:spTgt spid="30730"/>
                                        </p:tgtEl>
                                        <p:attrNameLst>
                                          <p:attrName>ppt_y</p:attrName>
                                        </p:attrNameLst>
                                      </p:cBhvr>
                                      <p:tavLst>
                                        <p:tav tm="0">
                                          <p:val>
                                            <p:strVal val="#ppt_y"/>
                                          </p:val>
                                        </p:tav>
                                        <p:tav tm="100000">
                                          <p:val>
                                            <p:strVal val="#ppt_y"/>
                                          </p:val>
                                        </p:tav>
                                      </p:tavLst>
                                    </p:anim>
                                  </p:childTnLst>
                                </p:cTn>
                              </p:par>
                              <p:par>
                                <p:cTn id="21" presetID="53" presetClass="entr" presetSubtype="16"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par>
                          <p:cTn id="26" fill="hold">
                            <p:stCondLst>
                              <p:cond delay="2000"/>
                            </p:stCondLst>
                            <p:childTnLst>
                              <p:par>
                                <p:cTn id="27" presetID="12" presetClass="entr" presetSubtype="4"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ppt_y</p:attrName>
                                        </p:attrNameLst>
                                      </p:cBhvr>
                                      <p:tavLst>
                                        <p:tav tm="0">
                                          <p:val>
                                            <p:strVal val="#ppt_y+#ppt_h*1.125000"/>
                                          </p:val>
                                        </p:tav>
                                        <p:tav tm="100000">
                                          <p:val>
                                            <p:strVal val="#ppt_y"/>
                                          </p:val>
                                        </p:tav>
                                      </p:tavLst>
                                    </p:anim>
                                    <p:animEffect transition="in" filter="wipe(up)">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 grpId="0" bldLvl="0" animBg="1"/>
      <p:bldP spid="15" grpId="0"/>
      <p:bldP spid="23" grpId="0"/>
      <p:bldP spid="23" grpId="1"/>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flipH="1">
            <a:off x="19050" y="42545"/>
            <a:ext cx="2151380" cy="96075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01377" name="Rectangle 1"/>
          <p:cNvSpPr>
            <a:spLocks noChangeArrowheads="1"/>
          </p:cNvSpPr>
          <p:nvPr/>
        </p:nvSpPr>
        <p:spPr bwMode="auto">
          <a:xfrm>
            <a:off x="454660" y="1788160"/>
            <a:ext cx="6303010" cy="2188845"/>
          </a:xfrm>
          <a:prstGeom prst="rect">
            <a:avLst/>
          </a:prstGeom>
          <a:noFill/>
          <a:ln w="9525">
            <a:noFill/>
            <a:miter lim="800000"/>
          </a:ln>
          <a:effectLst/>
        </p:spPr>
        <p:txBody>
          <a:bodyPr vert="horz" wrap="square" lIns="121920" tIns="60960" rIns="121920" bIns="60960" numCol="1" anchor="ctr" anchorCtr="0" compatLnSpc="1">
            <a:spAutoFit/>
          </a:bodyPr>
          <a:lstStyle/>
          <a:p>
            <a:pPr fontAlgn="auto">
              <a:lnSpc>
                <a:spcPct val="120000"/>
              </a:lnSpc>
              <a:spcBef>
                <a:spcPts val="0"/>
              </a:spcBef>
            </a:pPr>
            <a:r>
              <a:rPr lang="en-US" altLang="zh-CN" sz="2800" b="1" dirty="0">
                <a:latin typeface="微软雅黑" panose="020B0503020204020204" pitchFamily="34" charset="-122"/>
                <a:ea typeface="微软雅黑" panose="020B0503020204020204" pitchFamily="34" charset="-122"/>
                <a:sym typeface="+mn-ea"/>
              </a:rPr>
              <a:t>2022年3月，应急管理部组织修订的《危险化学品企业特殊作业安全规范》（GB 30871-2022）已正式发布，于2022年10月1日实施。</a:t>
            </a:r>
            <a:endParaRPr lang="en-US" altLang="zh-CN" sz="2400" b="1" dirty="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nvGrpSpPr>
        <p:grpSpPr>
          <a:xfrm>
            <a:off x="318770" y="984250"/>
            <a:ext cx="11582400" cy="5833745"/>
            <a:chOff x="10430" y="1923"/>
            <a:chExt cx="3277" cy="4735"/>
          </a:xfrm>
        </p:grpSpPr>
        <p:sp>
          <p:nvSpPr>
            <p:cNvPr id="23" name="圆角矩形 22"/>
            <p:cNvSpPr>
              <a:spLocks noChangeAspect="1"/>
            </p:cNvSpPr>
            <p:nvPr/>
          </p:nvSpPr>
          <p:spPr>
            <a:xfrm>
              <a:off x="10430" y="2019"/>
              <a:ext cx="3277" cy="4639"/>
            </a:xfrm>
            <a:prstGeom prst="roundRect">
              <a:avLst>
                <a:gd name="adj" fmla="val 1429"/>
              </a:avLst>
            </a:prstGeom>
            <a:noFill/>
            <a:ln w="3175">
              <a:solidFill>
                <a:schemeClr val="accent2"/>
              </a:solidFill>
              <a:prstDash val="solid"/>
            </a:ln>
          </p:spPr>
          <p:style>
            <a:lnRef idx="1">
              <a:schemeClr val="accent6"/>
            </a:lnRef>
            <a:fillRef idx="0">
              <a:schemeClr val="accent6"/>
            </a:fillRef>
            <a:effectRef idx="0">
              <a:schemeClr val="accent6"/>
            </a:effectRef>
            <a:fontRef idx="minor">
              <a:schemeClr val="tx1"/>
            </a:fontRef>
          </p:style>
          <p:txBody>
            <a:bodyPr lIns="342796" tIns="856990" rIns="342796" bIns="428496" anchor="ctr"/>
            <a:lstStyle/>
            <a:p>
              <a:pPr algn="just">
                <a:lnSpc>
                  <a:spcPct val="120000"/>
                </a:lnSpc>
                <a:spcBef>
                  <a:spcPts val="535"/>
                </a:spcBef>
                <a:spcAft>
                  <a:spcPts val="535"/>
                </a:spcAft>
                <a:defRPr/>
              </a:pPr>
              <a:endParaRPr lang="zh-CN" altLang="en-US" sz="186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24" name="任意多边形 23"/>
            <p:cNvSpPr/>
            <p:nvPr/>
          </p:nvSpPr>
          <p:spPr>
            <a:xfrm>
              <a:off x="10951" y="1923"/>
              <a:ext cx="243" cy="96"/>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dirty="0">
                <a:latin typeface="微软雅黑" panose="020B0503020204020204" pitchFamily="34" charset="-122"/>
              </a:endParaRPr>
            </a:p>
          </p:txBody>
        </p:sp>
        <p:sp>
          <p:nvSpPr>
            <p:cNvPr id="25" name="任意多边形 24"/>
            <p:cNvSpPr/>
            <p:nvPr/>
          </p:nvSpPr>
          <p:spPr>
            <a:xfrm>
              <a:off x="13002" y="1923"/>
              <a:ext cx="231" cy="96"/>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dirty="0">
                <a:latin typeface="微软雅黑" panose="020B0503020204020204" pitchFamily="34" charset="-122"/>
              </a:endParaRPr>
            </a:p>
          </p:txBody>
        </p:sp>
        <p:sp>
          <p:nvSpPr>
            <p:cNvPr id="26" name="任意多边形 25"/>
            <p:cNvSpPr/>
            <p:nvPr/>
          </p:nvSpPr>
          <p:spPr>
            <a:xfrm>
              <a:off x="11047" y="1923"/>
              <a:ext cx="2035" cy="518"/>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a:gsLst>
                <a:gs pos="0">
                  <a:srgbClr val="007BD3"/>
                </a:gs>
                <a:gs pos="100000">
                  <a:srgbClr val="034373"/>
                </a:gs>
              </a:gsLst>
              <a:lin ang="54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08837" tIns="54418" rIns="108837" bIns="54418" anchor="ctr"/>
            <a:lstStyle/>
            <a:p>
              <a:pPr algn="ctr">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    言</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nvPicPr>
        <p:blipFill>
          <a:blip r:embed="rId2"/>
          <a:stretch>
            <a:fillRect/>
          </a:stretch>
        </p:blipFill>
        <p:spPr>
          <a:xfrm>
            <a:off x="6897370" y="1720215"/>
            <a:ext cx="4405630" cy="4539615"/>
          </a:xfrm>
          <a:prstGeom prst="rect">
            <a:avLst/>
          </a:prstGeom>
          <a:solidFill>
            <a:schemeClr val="tx1"/>
          </a:solidFill>
          <a:effectLst>
            <a:glow rad="63500">
              <a:schemeClr val="accent2">
                <a:satMod val="175000"/>
                <a:alpha val="40000"/>
              </a:schemeClr>
            </a:glow>
          </a:effectLst>
          <a:scene3d>
            <a:camera prst="orthographicFront"/>
            <a:lightRig rig="threePt" dir="t"/>
          </a:scene3d>
          <a:sp3d extrusionH="25400"/>
        </p:spPr>
      </p:pic>
      <p:pic>
        <p:nvPicPr>
          <p:cNvPr id="98310" name="图片 5"/>
          <p:cNvPicPr>
            <a:picLocks noChangeAspect="1"/>
          </p:cNvPicPr>
          <p:nvPr/>
        </p:nvPicPr>
        <p:blipFill>
          <a:blip r:embed="rId3"/>
          <a:stretch>
            <a:fillRect/>
          </a:stretch>
        </p:blipFill>
        <p:spPr>
          <a:xfrm>
            <a:off x="4354512" y="3461385"/>
            <a:ext cx="2146300" cy="2103120"/>
          </a:xfrm>
          <a:prstGeom prst="rect">
            <a:avLst/>
          </a:prstGeom>
          <a:noFill/>
          <a:ln w="9525">
            <a:noFill/>
          </a:ln>
        </p:spPr>
      </p:pic>
      <p:grpSp>
        <p:nvGrpSpPr>
          <p:cNvPr id="3" name="组合 2"/>
          <p:cNvGrpSpPr/>
          <p:nvPr/>
        </p:nvGrpSpPr>
        <p:grpSpPr>
          <a:xfrm>
            <a:off x="454660" y="4245610"/>
            <a:ext cx="3526155" cy="534670"/>
            <a:chOff x="1139" y="6144"/>
            <a:chExt cx="9295" cy="1015"/>
          </a:xfrm>
        </p:grpSpPr>
        <p:sp>
          <p:nvSpPr>
            <p:cNvPr id="36" name="圆角矩形 35"/>
            <p:cNvSpPr/>
            <p:nvPr/>
          </p:nvSpPr>
          <p:spPr>
            <a:xfrm>
              <a:off x="1139" y="6144"/>
              <a:ext cx="9295" cy="1015"/>
            </a:xfrm>
            <a:prstGeom prst="roundRect">
              <a:avLst>
                <a:gd name="adj" fmla="val 50000"/>
              </a:avLst>
            </a:prstGeom>
            <a:solidFill>
              <a:schemeClr val="accent1"/>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2" name="文本框 41"/>
            <p:cNvSpPr txBox="1"/>
            <p:nvPr/>
          </p:nvSpPr>
          <p:spPr>
            <a:xfrm>
              <a:off x="1498" y="6157"/>
              <a:ext cx="8749" cy="874"/>
            </a:xfrm>
            <a:prstGeom prst="rect">
              <a:avLst/>
            </a:prstGeom>
            <a:noFill/>
          </p:spPr>
          <p:txBody>
            <a:bodyPr wrap="square" rtlCol="0">
              <a:spAutoFit/>
            </a:bodyPr>
            <a:lstStyle/>
            <a:p>
              <a:pPr algn="l" fontAlgn="auto">
                <a:lnSpc>
                  <a:spcPct val="120000"/>
                </a:lnSpc>
              </a:pPr>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rPr>
                <a:t>1. </a:t>
              </a:r>
              <a:r>
                <a:rPr lang="zh-CN" altLang="en-US"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rPr>
                <a:t>为什么</a:t>
              </a:r>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rPr>
                <a:t>纳入强制标准？</a:t>
              </a:r>
              <a:endPar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endParaRPr>
            </a:p>
          </p:txBody>
        </p:sp>
      </p:grpSp>
      <p:grpSp>
        <p:nvGrpSpPr>
          <p:cNvPr id="4" name="组合 3"/>
          <p:cNvGrpSpPr/>
          <p:nvPr/>
        </p:nvGrpSpPr>
        <p:grpSpPr>
          <a:xfrm>
            <a:off x="477520" y="4989830"/>
            <a:ext cx="3526155" cy="521335"/>
            <a:chOff x="1139" y="6125"/>
            <a:chExt cx="9295" cy="674"/>
          </a:xfrm>
        </p:grpSpPr>
        <p:sp>
          <p:nvSpPr>
            <p:cNvPr id="6" name="圆角矩形 5"/>
            <p:cNvSpPr/>
            <p:nvPr/>
          </p:nvSpPr>
          <p:spPr>
            <a:xfrm>
              <a:off x="1139" y="6125"/>
              <a:ext cx="9295" cy="674"/>
            </a:xfrm>
            <a:prstGeom prst="roundRect">
              <a:avLst>
                <a:gd name="adj" fmla="val 50000"/>
              </a:avLst>
            </a:prstGeom>
            <a:solidFill>
              <a:schemeClr val="accent1"/>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 name="文本框 6"/>
            <p:cNvSpPr txBox="1"/>
            <p:nvPr/>
          </p:nvSpPr>
          <p:spPr>
            <a:xfrm>
              <a:off x="1397" y="6244"/>
              <a:ext cx="8830" cy="516"/>
            </a:xfrm>
            <a:prstGeom prst="rect">
              <a:avLst/>
            </a:prstGeom>
            <a:noFill/>
          </p:spPr>
          <p:txBody>
            <a:bodyPr wrap="square" rtlCol="0">
              <a:spAutoFit/>
            </a:bodyPr>
            <a:lstStyle/>
            <a:p>
              <a:pPr algn="l"/>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rPr>
                <a:t>2. </a:t>
              </a:r>
              <a:r>
                <a:rPr lang="zh-CN" altLang="en-US"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rPr>
                <a:t>为什么会发生事故</a:t>
              </a:r>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rPr>
                <a:t>？</a:t>
              </a:r>
              <a:endPar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endParaRPr>
            </a:p>
          </p:txBody>
        </p:sp>
      </p:grpSp>
      <p:grpSp>
        <p:nvGrpSpPr>
          <p:cNvPr id="8" name="组合 7"/>
          <p:cNvGrpSpPr/>
          <p:nvPr/>
        </p:nvGrpSpPr>
        <p:grpSpPr>
          <a:xfrm>
            <a:off x="492125" y="5752465"/>
            <a:ext cx="3474720" cy="526929"/>
            <a:chOff x="1139" y="6144"/>
            <a:chExt cx="9295" cy="681"/>
          </a:xfrm>
        </p:grpSpPr>
        <p:sp>
          <p:nvSpPr>
            <p:cNvPr id="9" name="圆角矩形 8"/>
            <p:cNvSpPr/>
            <p:nvPr/>
          </p:nvSpPr>
          <p:spPr>
            <a:xfrm>
              <a:off x="1139" y="6144"/>
              <a:ext cx="9295" cy="674"/>
            </a:xfrm>
            <a:prstGeom prst="roundRect">
              <a:avLst>
                <a:gd name="adj" fmla="val 50000"/>
              </a:avLst>
            </a:prstGeom>
            <a:solidFill>
              <a:schemeClr val="accent1"/>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 name="文本框 9"/>
            <p:cNvSpPr txBox="1"/>
            <p:nvPr/>
          </p:nvSpPr>
          <p:spPr>
            <a:xfrm>
              <a:off x="1404" y="6190"/>
              <a:ext cx="8822" cy="635"/>
            </a:xfrm>
            <a:prstGeom prst="rect">
              <a:avLst/>
            </a:prstGeom>
            <a:noFill/>
          </p:spPr>
          <p:txBody>
            <a:bodyPr wrap="square" rtlCol="0">
              <a:spAutoFit/>
            </a:bodyPr>
            <a:lstStyle/>
            <a:p>
              <a:pPr fontAlgn="auto">
                <a:lnSpc>
                  <a:spcPct val="130000"/>
                </a:lnSpc>
                <a:spcBef>
                  <a:spcPts val="0"/>
                </a:spcBef>
              </a:pPr>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rPr>
                <a:t>3.</a:t>
              </a:r>
              <a:r>
                <a:rPr lang="zh-CN" altLang="en-US"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rPr>
                <a:t>作业</a:t>
              </a:r>
              <a:r>
                <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rPr>
                <a:t>现场存在哪些问题？</a:t>
              </a:r>
              <a:endParaRPr lang="en-US" altLang="zh-CN" sz="2000" b="1" dirty="0">
                <a:solidFill>
                  <a:schemeClr val="bg1"/>
                </a:solidFill>
                <a:latin typeface="微软雅黑" panose="020B0503020204020204" pitchFamily="34" charset="-122"/>
                <a:ea typeface="微软雅黑" panose="020B0503020204020204" pitchFamily="34" charset="-122"/>
                <a:cs typeface="Aharoni" panose="02010803020104030203" pitchFamily="2" charset="-79"/>
                <a:sym typeface="+mn-ea"/>
              </a:endParaRPr>
            </a:p>
          </p:txBody>
        </p:sp>
      </p:grpSp>
      <p:sp>
        <p:nvSpPr>
          <p:cNvPr id="12" name="箭头: 下 11"/>
          <p:cNvSpPr/>
          <p:nvPr/>
        </p:nvSpPr>
        <p:spPr>
          <a:xfrm>
            <a:off x="5129923" y="5604734"/>
            <a:ext cx="496326" cy="4303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4800348" y="6075269"/>
            <a:ext cx="1155475" cy="646331"/>
          </a:xfrm>
          <a:prstGeom prst="rect">
            <a:avLst/>
          </a:prstGeom>
          <a:noFill/>
        </p:spPr>
        <p:txBody>
          <a:bodyPr wrap="square">
            <a:spAutoFit/>
          </a:bodyPr>
          <a:lstStyle/>
          <a:p>
            <a:pPr algn="ctr"/>
            <a:r>
              <a:rPr lang="en-US" altLang="zh-CN" sz="3600" b="1" dirty="0" err="1">
                <a:solidFill>
                  <a:srgbClr val="FF0000"/>
                </a:solidFill>
                <a:latin typeface="微软雅黑" panose="020B0503020204020204" pitchFamily="34" charset="-122"/>
                <a:ea typeface="微软雅黑" panose="020B0503020204020204" pitchFamily="34" charset="-122"/>
                <a:sym typeface="+mn-ea"/>
              </a:rPr>
              <a:t>规范</a:t>
            </a:r>
            <a:endParaRPr lang="zh-CN" altLang="en-US" sz="3600" dirty="0">
              <a:solidFill>
                <a:srgbClr val="FF0000"/>
              </a:solidFill>
            </a:endParaRPr>
          </a:p>
        </p:txBody>
      </p:sp>
    </p:spTree>
  </p:cSld>
  <p:clrMapOvr>
    <a:masterClrMapping/>
  </p:clrMapOvr>
  <p:transition spd="slow" advTm="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1"/>
          <p:cNvSpPr txBox="1"/>
          <p:nvPr/>
        </p:nvSpPr>
        <p:spPr>
          <a:xfrm>
            <a:off x="5342890" y="876935"/>
            <a:ext cx="2115820" cy="922020"/>
          </a:xfrm>
          <a:prstGeom prst="rect">
            <a:avLst/>
          </a:prstGeom>
          <a:noFill/>
        </p:spPr>
        <p:txBody>
          <a:bodyPr wrap="none" rtlCol="0">
            <a:spAutoFit/>
          </a:bodyPr>
          <a:lstStyle/>
          <a:p>
            <a:r>
              <a:rPr lang="zh-CN" altLang="en-US" sz="5400" b="1" spc="300" dirty="0">
                <a:solidFill>
                  <a:srgbClr val="C00000"/>
                </a:solidFill>
                <a:latin typeface="微软雅黑" panose="020B0503020204020204" pitchFamily="34" charset="-122"/>
                <a:ea typeface="微软雅黑" panose="020B0503020204020204" pitchFamily="34" charset="-122"/>
              </a:rPr>
              <a:t>目</a:t>
            </a:r>
            <a:r>
              <a:rPr lang="en-US" altLang="zh-CN" sz="5400" b="1" spc="300" dirty="0">
                <a:solidFill>
                  <a:srgbClr val="C00000"/>
                </a:solidFill>
                <a:latin typeface="微软雅黑" panose="020B0503020204020204" pitchFamily="34" charset="-122"/>
                <a:ea typeface="微软雅黑" panose="020B0503020204020204" pitchFamily="34" charset="-122"/>
              </a:rPr>
              <a:t>  </a:t>
            </a:r>
            <a:r>
              <a:rPr lang="zh-CN" altLang="en-US" sz="5400" b="1" spc="300" dirty="0">
                <a:solidFill>
                  <a:srgbClr val="C00000"/>
                </a:solidFill>
                <a:latin typeface="微软雅黑" panose="020B0503020204020204" pitchFamily="34" charset="-122"/>
                <a:ea typeface="微软雅黑" panose="020B0503020204020204" pitchFamily="34" charset="-122"/>
              </a:rPr>
              <a:t>录</a:t>
            </a:r>
            <a:endParaRPr lang="zh-CN" altLang="en-US" sz="5400" b="1" spc="300" dirty="0">
              <a:solidFill>
                <a:srgbClr val="C00000"/>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473835" y="1941830"/>
            <a:ext cx="9835515" cy="4235906"/>
            <a:chOff x="1996" y="3805"/>
            <a:chExt cx="15489" cy="6415"/>
          </a:xfrm>
        </p:grpSpPr>
        <p:sp>
          <p:nvSpPr>
            <p:cNvPr id="79" name="文本框 88108"/>
            <p:cNvSpPr txBox="1">
              <a:spLocks noChangeArrowheads="1"/>
            </p:cNvSpPr>
            <p:nvPr/>
          </p:nvSpPr>
          <p:spPr bwMode="auto">
            <a:xfrm>
              <a:off x="1996" y="3811"/>
              <a:ext cx="7337" cy="833"/>
            </a:xfrm>
            <a:prstGeom prst="rect">
              <a:avLst/>
            </a:prstGeom>
            <a:solidFill>
              <a:schemeClr val="accent1"/>
            </a:solidFill>
            <a:ln w="57150">
              <a:solidFill>
                <a:srgbClr val="008080"/>
              </a:solidFill>
              <a:miter lim="800000"/>
            </a:ln>
          </p:spPr>
          <p:txBody>
            <a:bodyPr wrap="none" lIns="90170" tIns="46990" rIns="90170" bIns="46990" anchor="ctr" anchorCtr="1"/>
            <a:lstStyle/>
            <a:p>
              <a:pPr algn="l">
                <a:lnSpc>
                  <a:spcPct val="100000"/>
                </a:lnSpc>
              </a:pPr>
              <a:r>
                <a:rPr lang="en-US" altLang="zh-CN" sz="3200" b="1">
                  <a:solidFill>
                    <a:schemeClr val="bg1"/>
                  </a:solidFill>
                  <a:latin typeface="微软雅黑" panose="020B0503020204020204" pitchFamily="34" charset="-122"/>
                  <a:ea typeface="微软雅黑" panose="020B0503020204020204" pitchFamily="34" charset="-122"/>
                  <a:sym typeface="+mn-ea"/>
                </a:rPr>
                <a:t>1.</a:t>
              </a:r>
              <a:r>
                <a:rPr lang="zh-CN" altLang="en-US" sz="3200" b="1">
                  <a:solidFill>
                    <a:schemeClr val="bg1"/>
                  </a:solidFill>
                  <a:latin typeface="微软雅黑" panose="020B0503020204020204" pitchFamily="34" charset="-122"/>
                  <a:ea typeface="微软雅黑" panose="020B0503020204020204" pitchFamily="34" charset="-122"/>
                  <a:sym typeface="+mn-ea"/>
                </a:rPr>
                <a:t>范围</a:t>
              </a:r>
              <a:r>
                <a:rPr lang="en-US" altLang="zh-CN" sz="3200" b="1">
                  <a:solidFill>
                    <a:schemeClr val="bg1"/>
                  </a:solidFill>
                  <a:latin typeface="微软雅黑" panose="020B0503020204020204" pitchFamily="34" charset="-122"/>
                  <a:ea typeface="微软雅黑" panose="020B0503020204020204" pitchFamily="34" charset="-122"/>
                  <a:sym typeface="+mn-ea"/>
                </a:rPr>
                <a:t>                         </a:t>
              </a:r>
              <a:endParaRPr lang="en-US" altLang="zh-CN" sz="3200" b="1">
                <a:solidFill>
                  <a:schemeClr val="bg1"/>
                </a:solidFill>
                <a:latin typeface="微软雅黑" panose="020B0503020204020204" pitchFamily="34" charset="-122"/>
                <a:ea typeface="微软雅黑" panose="020B0503020204020204" pitchFamily="34" charset="-122"/>
                <a:sym typeface="+mn-ea"/>
              </a:endParaRPr>
            </a:p>
          </p:txBody>
        </p:sp>
        <p:sp>
          <p:nvSpPr>
            <p:cNvPr id="80" name="文本框 88108"/>
            <p:cNvSpPr txBox="1">
              <a:spLocks noChangeArrowheads="1"/>
            </p:cNvSpPr>
            <p:nvPr/>
          </p:nvSpPr>
          <p:spPr bwMode="auto">
            <a:xfrm>
              <a:off x="1996" y="4720"/>
              <a:ext cx="7337" cy="842"/>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en-US" altLang="zh-CN" sz="3200" b="1">
                  <a:solidFill>
                    <a:schemeClr val="bg1"/>
                  </a:solidFill>
                  <a:latin typeface="微软雅黑" panose="020B0503020204020204" pitchFamily="34" charset="-122"/>
                  <a:ea typeface="微软雅黑" panose="020B0503020204020204" pitchFamily="34" charset="-122"/>
                  <a:sym typeface="+mn-ea"/>
                </a:rPr>
                <a:t> 2.规范性引用文件</a:t>
              </a:r>
              <a:r>
                <a:rPr lang="en-US" altLang="zh-CN" sz="3200" b="1">
                  <a:solidFill>
                    <a:schemeClr val="bg1"/>
                  </a:solidFill>
                  <a:latin typeface="微软雅黑" panose="020B0503020204020204" pitchFamily="34" charset="-122"/>
                  <a:ea typeface="微软雅黑" panose="020B0503020204020204" pitchFamily="34" charset="-122"/>
                </a:rPr>
                <a:t>         </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81" name="文本框 88108"/>
            <p:cNvSpPr txBox="1">
              <a:spLocks noChangeArrowheads="1"/>
            </p:cNvSpPr>
            <p:nvPr/>
          </p:nvSpPr>
          <p:spPr bwMode="auto">
            <a:xfrm>
              <a:off x="1996" y="5637"/>
              <a:ext cx="7337" cy="840"/>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　3</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术语和定义</a:t>
              </a:r>
              <a:r>
                <a:rPr lang="en-US" altLang="zh-CN" sz="3200" b="1">
                  <a:solidFill>
                    <a:schemeClr val="bg1"/>
                  </a:solidFill>
                  <a:latin typeface="微软雅黑" panose="020B0503020204020204" pitchFamily="34" charset="-122"/>
                  <a:ea typeface="微软雅黑" panose="020B0503020204020204" pitchFamily="34" charset="-122"/>
                </a:rPr>
                <a:t>                 </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82" name="文本框 88108"/>
            <p:cNvSpPr txBox="1">
              <a:spLocks noChangeArrowheads="1"/>
            </p:cNvSpPr>
            <p:nvPr/>
          </p:nvSpPr>
          <p:spPr bwMode="auto">
            <a:xfrm>
              <a:off x="1996" y="6552"/>
              <a:ext cx="7337" cy="840"/>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　　4</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通用要求</a:t>
              </a:r>
              <a:r>
                <a:rPr lang="en-US" altLang="zh-CN" sz="3200" b="1">
                  <a:solidFill>
                    <a:schemeClr val="bg1"/>
                  </a:solidFill>
                  <a:latin typeface="微软雅黑" panose="020B0503020204020204" pitchFamily="34" charset="-122"/>
                  <a:ea typeface="微软雅黑" panose="020B0503020204020204" pitchFamily="34" charset="-122"/>
                </a:rPr>
                <a:t>                         </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83" name="文本框 88108"/>
            <p:cNvSpPr txBox="1">
              <a:spLocks noChangeArrowheads="1"/>
            </p:cNvSpPr>
            <p:nvPr/>
          </p:nvSpPr>
          <p:spPr bwMode="auto">
            <a:xfrm>
              <a:off x="1996" y="7469"/>
              <a:ext cx="7337" cy="839"/>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en-US" altLang="zh-CN" sz="3200" b="1" dirty="0">
                  <a:solidFill>
                    <a:schemeClr val="bg1"/>
                  </a:solidFill>
                  <a:latin typeface="微软雅黑" panose="020B0503020204020204" pitchFamily="34" charset="-122"/>
                  <a:ea typeface="微软雅黑" panose="020B0503020204020204" pitchFamily="34" charset="-122"/>
                </a:rPr>
                <a:t>5.</a:t>
              </a:r>
              <a:r>
                <a:rPr lang="zh-CN" altLang="en-US" sz="3200" b="1" dirty="0">
                  <a:solidFill>
                    <a:schemeClr val="bg1"/>
                  </a:solidFill>
                  <a:latin typeface="微软雅黑" panose="020B0503020204020204" pitchFamily="34" charset="-122"/>
                  <a:ea typeface="微软雅黑" panose="020B0503020204020204" pitchFamily="34" charset="-122"/>
                </a:rPr>
                <a:t>动火作业 </a:t>
              </a:r>
              <a:r>
                <a:rPr lang="en-US" altLang="zh-CN" sz="3200" b="1" dirty="0">
                  <a:solidFill>
                    <a:schemeClr val="bg1"/>
                  </a:solidFill>
                  <a:latin typeface="微软雅黑" panose="020B0503020204020204" pitchFamily="34" charset="-122"/>
                  <a:ea typeface="微软雅黑" panose="020B0503020204020204" pitchFamily="34" charset="-122"/>
                </a:rPr>
                <a:t>                 </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84" name="文本框 88108"/>
            <p:cNvSpPr txBox="1">
              <a:spLocks noChangeArrowheads="1"/>
            </p:cNvSpPr>
            <p:nvPr/>
          </p:nvSpPr>
          <p:spPr bwMode="auto">
            <a:xfrm>
              <a:off x="1996" y="8384"/>
              <a:ext cx="7337" cy="869"/>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dirty="0">
                  <a:solidFill>
                    <a:schemeClr val="bg1"/>
                  </a:solidFill>
                  <a:latin typeface="微软雅黑" panose="020B0503020204020204" pitchFamily="34" charset="-122"/>
                  <a:ea typeface="微软雅黑" panose="020B0503020204020204" pitchFamily="34" charset="-122"/>
                </a:rPr>
                <a:t>　6</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受限空间作业</a:t>
              </a:r>
              <a:r>
                <a:rPr lang="en-US" altLang="zh-CN" sz="3200" b="1" dirty="0">
                  <a:solidFill>
                    <a:schemeClr val="bg1"/>
                  </a:solidFill>
                  <a:latin typeface="微软雅黑" panose="020B0503020204020204" pitchFamily="34" charset="-122"/>
                  <a:ea typeface="微软雅黑" panose="020B0503020204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rPr>
                <a:t> </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85" name="文本框 88108"/>
            <p:cNvSpPr txBox="1">
              <a:spLocks noChangeArrowheads="1"/>
            </p:cNvSpPr>
            <p:nvPr/>
          </p:nvSpPr>
          <p:spPr bwMode="auto">
            <a:xfrm>
              <a:off x="1996" y="9317"/>
              <a:ext cx="7337" cy="866"/>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7</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盲板抽堵作业</a:t>
              </a:r>
              <a:r>
                <a:rPr lang="en-US" altLang="zh-CN" sz="3200" b="1">
                  <a:solidFill>
                    <a:schemeClr val="bg1"/>
                  </a:solidFill>
                  <a:latin typeface="微软雅黑" panose="020B0503020204020204" pitchFamily="34" charset="-122"/>
                  <a:ea typeface="微软雅黑" panose="020B0503020204020204" pitchFamily="34" charset="-122"/>
                </a:rPr>
                <a:t>           </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88" name="文本框 88108"/>
            <p:cNvSpPr txBox="1">
              <a:spLocks noChangeArrowheads="1"/>
            </p:cNvSpPr>
            <p:nvPr/>
          </p:nvSpPr>
          <p:spPr bwMode="auto">
            <a:xfrm>
              <a:off x="10148" y="3805"/>
              <a:ext cx="7337" cy="873"/>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dirty="0">
                  <a:solidFill>
                    <a:schemeClr val="bg1"/>
                  </a:solidFill>
                  <a:latin typeface="微软雅黑" panose="020B0503020204020204" pitchFamily="34" charset="-122"/>
                  <a:ea typeface="微软雅黑" panose="020B0503020204020204" pitchFamily="34" charset="-122"/>
                </a:rPr>
                <a:t>　　</a:t>
              </a:r>
              <a:r>
                <a:rPr lang="en-US" altLang="zh-CN" sz="3200" b="1" dirty="0">
                  <a:solidFill>
                    <a:schemeClr val="bg1"/>
                  </a:solidFill>
                  <a:latin typeface="微软雅黑" panose="020B0503020204020204" pitchFamily="34" charset="-122"/>
                  <a:ea typeface="微软雅黑" panose="020B0503020204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rPr>
                <a:t>8</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高处作业</a:t>
              </a:r>
              <a:r>
                <a:rPr lang="en-US" altLang="zh-CN" sz="3200" b="1" dirty="0">
                  <a:solidFill>
                    <a:schemeClr val="bg1"/>
                  </a:solidFill>
                  <a:latin typeface="微软雅黑" panose="020B0503020204020204" pitchFamily="34" charset="-122"/>
                  <a:ea typeface="微软雅黑" panose="020B0503020204020204" pitchFamily="34" charset="-122"/>
                </a:rPr>
                <a:t>                        </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89" name="文本框 88108"/>
            <p:cNvSpPr txBox="1">
              <a:spLocks noChangeArrowheads="1"/>
            </p:cNvSpPr>
            <p:nvPr/>
          </p:nvSpPr>
          <p:spPr bwMode="auto">
            <a:xfrm>
              <a:off x="10148" y="4764"/>
              <a:ext cx="7337" cy="840"/>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9</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吊装作业</a:t>
              </a:r>
              <a:r>
                <a:rPr lang="en-US" altLang="zh-CN" sz="3200" b="1">
                  <a:solidFill>
                    <a:schemeClr val="bg1"/>
                  </a:solidFill>
                  <a:latin typeface="微软雅黑" panose="020B0503020204020204" pitchFamily="34" charset="-122"/>
                  <a:ea typeface="微软雅黑" panose="020B0503020204020204" pitchFamily="34" charset="-122"/>
                </a:rPr>
                <a:t>                </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90" name="文本框 88108"/>
            <p:cNvSpPr txBox="1">
              <a:spLocks noChangeArrowheads="1"/>
            </p:cNvSpPr>
            <p:nvPr/>
          </p:nvSpPr>
          <p:spPr bwMode="auto">
            <a:xfrm>
              <a:off x="10148" y="5703"/>
              <a:ext cx="7337" cy="840"/>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10</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临时用电作业</a:t>
              </a:r>
              <a:r>
                <a:rPr lang="en-US" altLang="zh-CN" sz="3200" b="1">
                  <a:solidFill>
                    <a:schemeClr val="bg1"/>
                  </a:solidFill>
                  <a:latin typeface="微软雅黑" panose="020B0503020204020204" pitchFamily="34" charset="-122"/>
                  <a:ea typeface="微软雅黑" panose="020B0503020204020204" pitchFamily="34" charset="-122"/>
                </a:rPr>
                <a:t>       </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91" name="文本框 88108"/>
            <p:cNvSpPr txBox="1">
              <a:spLocks noChangeArrowheads="1"/>
            </p:cNvSpPr>
            <p:nvPr/>
          </p:nvSpPr>
          <p:spPr bwMode="auto">
            <a:xfrm>
              <a:off x="10148" y="6618"/>
              <a:ext cx="7337" cy="840"/>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　11</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动土作业</a:t>
              </a:r>
              <a:r>
                <a:rPr lang="en-US" altLang="zh-CN" sz="3200" b="1">
                  <a:solidFill>
                    <a:schemeClr val="bg1"/>
                  </a:solidFill>
                  <a:latin typeface="微软雅黑" panose="020B0503020204020204" pitchFamily="34" charset="-122"/>
                  <a:ea typeface="微软雅黑" panose="020B0503020204020204" pitchFamily="34" charset="-122"/>
                </a:rPr>
                <a:t>                 </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92" name="文本框 88108"/>
            <p:cNvSpPr txBox="1">
              <a:spLocks noChangeArrowheads="1"/>
            </p:cNvSpPr>
            <p:nvPr/>
          </p:nvSpPr>
          <p:spPr bwMode="auto">
            <a:xfrm>
              <a:off x="10148" y="7535"/>
              <a:ext cx="7337" cy="837"/>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a:solidFill>
                    <a:schemeClr val="bg1"/>
                  </a:solidFill>
                  <a:latin typeface="微软雅黑" panose="020B0503020204020204" pitchFamily="34" charset="-122"/>
                  <a:ea typeface="微软雅黑" panose="020B0503020204020204" pitchFamily="34" charset="-122"/>
                </a:rPr>
                <a:t>　12</a:t>
              </a:r>
              <a:r>
                <a:rPr lang="en-US" altLang="zh-CN" sz="3200" b="1">
                  <a:solidFill>
                    <a:schemeClr val="bg1"/>
                  </a:solidFill>
                  <a:latin typeface="微软雅黑" panose="020B0503020204020204" pitchFamily="34" charset="-122"/>
                  <a:ea typeface="微软雅黑" panose="020B0503020204020204" pitchFamily="34" charset="-122"/>
                </a:rPr>
                <a:t>.</a:t>
              </a:r>
              <a:r>
                <a:rPr lang="zh-CN" altLang="en-US" sz="3200" b="1">
                  <a:solidFill>
                    <a:schemeClr val="bg1"/>
                  </a:solidFill>
                  <a:latin typeface="微软雅黑" panose="020B0503020204020204" pitchFamily="34" charset="-122"/>
                  <a:ea typeface="微软雅黑" panose="020B0503020204020204" pitchFamily="34" charset="-122"/>
                </a:rPr>
                <a:t>断路作业</a:t>
              </a:r>
              <a:r>
                <a:rPr lang="en-US" altLang="zh-CN" sz="3200" b="1">
                  <a:solidFill>
                    <a:schemeClr val="bg1"/>
                  </a:solidFill>
                  <a:latin typeface="微软雅黑" panose="020B0503020204020204" pitchFamily="34" charset="-122"/>
                  <a:ea typeface="微软雅黑" panose="020B0503020204020204" pitchFamily="34" charset="-122"/>
                </a:rPr>
                <a:t>                 </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93" name="文本框 88108"/>
            <p:cNvSpPr txBox="1">
              <a:spLocks noChangeArrowheads="1"/>
            </p:cNvSpPr>
            <p:nvPr/>
          </p:nvSpPr>
          <p:spPr bwMode="auto">
            <a:xfrm>
              <a:off x="10148" y="8450"/>
              <a:ext cx="7337" cy="869"/>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dirty="0">
                  <a:solidFill>
                    <a:schemeClr val="bg1"/>
                  </a:solidFill>
                  <a:latin typeface="微软雅黑" panose="020B0503020204020204" pitchFamily="34" charset="-122"/>
                  <a:ea typeface="微软雅黑" panose="020B0503020204020204" pitchFamily="34" charset="-122"/>
                </a:rPr>
                <a:t>附录</a:t>
              </a:r>
              <a:r>
                <a:rPr lang="en-US" altLang="zh-CN" sz="3200" b="1" dirty="0">
                  <a:solidFill>
                    <a:schemeClr val="bg1"/>
                  </a:solidFill>
                  <a:latin typeface="微软雅黑" panose="020B0503020204020204" pitchFamily="34" charset="-122"/>
                  <a:ea typeface="微软雅黑" panose="020B0503020204020204" pitchFamily="34" charset="-122"/>
                </a:rPr>
                <a:t>A  </a:t>
              </a:r>
              <a:r>
                <a:rPr lang="zh-CN" altLang="en-US" sz="3200" b="1" dirty="0">
                  <a:solidFill>
                    <a:schemeClr val="bg1"/>
                  </a:solidFill>
                  <a:latin typeface="微软雅黑" panose="020B0503020204020204" pitchFamily="34" charset="-122"/>
                  <a:ea typeface="微软雅黑" panose="020B0503020204020204" pitchFamily="34" charset="-122"/>
                </a:rPr>
                <a:t>安全作业票样式 </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94" name="文本框 88108"/>
            <p:cNvSpPr txBox="1">
              <a:spLocks noChangeArrowheads="1"/>
            </p:cNvSpPr>
            <p:nvPr/>
          </p:nvSpPr>
          <p:spPr bwMode="auto">
            <a:xfrm>
              <a:off x="10148" y="9383"/>
              <a:ext cx="7337" cy="837"/>
            </a:xfrm>
            <a:prstGeom prst="rect">
              <a:avLst/>
            </a:prstGeom>
            <a:solidFill>
              <a:schemeClr val="accent1"/>
            </a:solidFill>
            <a:ln w="57150">
              <a:solidFill>
                <a:srgbClr val="008080"/>
              </a:solidFill>
              <a:miter lim="800000"/>
            </a:ln>
          </p:spPr>
          <p:txBody>
            <a:bodyPr wrap="none" lIns="90170" tIns="46990" rIns="90170" bIns="46990" anchor="ctr" anchorCtr="1"/>
            <a:lstStyle/>
            <a:p>
              <a:pPr algn="l"/>
              <a:r>
                <a:rPr lang="zh-CN" altLang="en-US" sz="3200" b="1" dirty="0">
                  <a:solidFill>
                    <a:schemeClr val="bg1"/>
                  </a:solidFill>
                  <a:latin typeface="微软雅黑" panose="020B0503020204020204" pitchFamily="34" charset="-122"/>
                  <a:ea typeface="微软雅黑" panose="020B0503020204020204" pitchFamily="34" charset="-122"/>
                  <a:sym typeface="+mn-ea"/>
                </a:rPr>
                <a:t>附录</a:t>
              </a:r>
              <a:r>
                <a:rPr lang="en-US" altLang="zh-CN" sz="3200" b="1" dirty="0">
                  <a:solidFill>
                    <a:schemeClr val="bg1"/>
                  </a:solidFill>
                  <a:latin typeface="微软雅黑" panose="020B0503020204020204" pitchFamily="34" charset="-122"/>
                  <a:ea typeface="微软雅黑" panose="020B0503020204020204" pitchFamily="34" charset="-122"/>
                  <a:sym typeface="+mn-ea"/>
                </a:rPr>
                <a:t>B  </a:t>
              </a:r>
              <a:r>
                <a:rPr lang="zh-CN" altLang="en-US" sz="3200" b="1" dirty="0">
                  <a:solidFill>
                    <a:schemeClr val="bg1"/>
                  </a:solidFill>
                  <a:latin typeface="微软雅黑" panose="020B0503020204020204" pitchFamily="34" charset="-122"/>
                  <a:ea typeface="微软雅黑" panose="020B0503020204020204" pitchFamily="34" charset="-122"/>
                  <a:sym typeface="+mn-ea"/>
                </a:rPr>
                <a:t>安全作业票管理</a:t>
              </a:r>
              <a:r>
                <a:rPr lang="zh-CN" altLang="en-US" sz="3200" b="1">
                  <a:solidFill>
                    <a:schemeClr val="bg1"/>
                  </a:solidFill>
                  <a:latin typeface="微软雅黑" panose="020B0503020204020204" pitchFamily="34" charset="-122"/>
                  <a:ea typeface="微软雅黑" panose="020B0503020204020204" pitchFamily="34" charset="-122"/>
                </a:rPr>
                <a:t> </a:t>
              </a:r>
              <a:endParaRPr lang="zh-CN" altLang="en-US" sz="3200" b="1">
                <a:solidFill>
                  <a:schemeClr val="bg1"/>
                </a:solidFill>
                <a:latin typeface="微软雅黑" panose="020B0503020204020204" pitchFamily="34" charset="-122"/>
                <a:ea typeface="微软雅黑" panose="020B0503020204020204" pitchFamily="34" charset="-122"/>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9" advClick="0" advTm="20000">
        <p:wheel spokes="1"/>
      </p:transition>
    </mc:Choice>
    <mc:Fallback>
      <p:transition advClick="0" advTm="20000">
        <p:wheel spokes="1"/>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01</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范</a:t>
            </a:r>
            <a:r>
              <a:rPr lang="en-US" altLang="zh-CN" sz="8000" b="1" dirty="0">
                <a:solidFill>
                  <a:srgbClr val="C00000"/>
                </a:solidFill>
                <a:latin typeface="微软雅黑" panose="020B0503020204020204" pitchFamily="34" charset="-122"/>
                <a:ea typeface="微软雅黑" panose="020B0503020204020204" pitchFamily="34" charset="-122"/>
                <a:sym typeface="+mn-ea"/>
              </a:rPr>
              <a:t>    </a:t>
            </a:r>
            <a:r>
              <a:rPr lang="zh-CN" altLang="en-US" sz="8000" b="1" dirty="0">
                <a:solidFill>
                  <a:srgbClr val="C00000"/>
                </a:solidFill>
                <a:latin typeface="微软雅黑" panose="020B0503020204020204" pitchFamily="34" charset="-122"/>
                <a:ea typeface="微软雅黑" panose="020B0503020204020204" pitchFamily="34" charset="-122"/>
                <a:sym typeface="+mn-ea"/>
              </a:rPr>
              <a:t>围</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59255" y="1861185"/>
            <a:ext cx="3677920" cy="4300220"/>
            <a:chOff x="3706622" y="1702991"/>
            <a:chExt cx="2056861" cy="2632003"/>
          </a:xfrm>
        </p:grpSpPr>
        <p:sp>
          <p:nvSpPr>
            <p:cNvPr id="10" name="椭圆 9"/>
            <p:cNvSpPr/>
            <p:nvPr/>
          </p:nvSpPr>
          <p:spPr>
            <a:xfrm>
              <a:off x="3706622" y="1735827"/>
              <a:ext cx="1730756" cy="1730756"/>
            </a:xfrm>
            <a:prstGeom prst="ellipse">
              <a:avLst/>
            </a:prstGeom>
            <a:gradFill flip="none" rotWithShape="1">
              <a:gsLst>
                <a:gs pos="0">
                  <a:schemeClr val="bg1">
                    <a:lumMod val="85000"/>
                  </a:schemeClr>
                </a:gs>
                <a:gs pos="100000">
                  <a:schemeClr val="bg1"/>
                </a:gs>
              </a:gsLst>
              <a:lin ang="2700000" scaled="1"/>
              <a:tileRect/>
            </a:gradFill>
            <a:ln w="19050">
              <a:gradFill flip="none" rotWithShape="1">
                <a:gsLst>
                  <a:gs pos="0">
                    <a:schemeClr val="bg1"/>
                  </a:gs>
                  <a:gs pos="100000">
                    <a:schemeClr val="bg1">
                      <a:lumMod val="75000"/>
                    </a:schemeClr>
                  </a:gs>
                </a:gsLst>
                <a:lin ang="2700000" scaled="1"/>
                <a:tileRect/>
              </a:gradFill>
            </a:ln>
            <a:effectLst>
              <a:outerShdw blurRad="368300" dist="1397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1" name="圆角矩形 10"/>
            <p:cNvSpPr/>
            <p:nvPr/>
          </p:nvSpPr>
          <p:spPr>
            <a:xfrm rot="2700000">
              <a:off x="3664932" y="2236443"/>
              <a:ext cx="2632003" cy="1565099"/>
            </a:xfrm>
            <a:prstGeom prst="roundRect">
              <a:avLst>
                <a:gd name="adj" fmla="val 50000"/>
              </a:avLst>
            </a:prstGeom>
            <a:gradFill>
              <a:gsLst>
                <a:gs pos="0">
                  <a:schemeClr val="tx1">
                    <a:alpha val="40000"/>
                  </a:schemeClr>
                </a:gs>
                <a:gs pos="100000">
                  <a:srgbClr val="F2F2F2">
                    <a:alpha val="0"/>
                  </a:srgbClr>
                </a:gs>
              </a:gsLst>
              <a:lin ang="0" scaled="0"/>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dirty="0"/>
            </a:p>
          </p:txBody>
        </p:sp>
        <p:sp>
          <p:nvSpPr>
            <p:cNvPr id="12" name="椭圆 11"/>
            <p:cNvSpPr/>
            <p:nvPr/>
          </p:nvSpPr>
          <p:spPr>
            <a:xfrm>
              <a:off x="3841081" y="1870286"/>
              <a:ext cx="1461839" cy="1461839"/>
            </a:xfrm>
            <a:prstGeom prst="ellipse">
              <a:avLst/>
            </a:prstGeom>
            <a:gradFill>
              <a:gsLst>
                <a:gs pos="0">
                  <a:schemeClr val="bg1"/>
                </a:gs>
                <a:gs pos="100000">
                  <a:schemeClr val="bg1">
                    <a:lumMod val="75000"/>
                  </a:schemeClr>
                </a:gs>
              </a:gsLst>
              <a:lin ang="2700000" scaled="1"/>
            </a:gradFill>
            <a:ln>
              <a:noFill/>
            </a:ln>
            <a:effectLst>
              <a:outerShdw blurRad="3048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5" name="Freeform 44"/>
            <p:cNvSpPr/>
            <p:nvPr/>
          </p:nvSpPr>
          <p:spPr bwMode="auto">
            <a:xfrm>
              <a:off x="5234245" y="2786297"/>
              <a:ext cx="12959" cy="18514"/>
            </a:xfrm>
            <a:custGeom>
              <a:avLst/>
              <a:gdLst>
                <a:gd name="T0" fmla="*/ 1 w 3"/>
                <a:gd name="T1" fmla="*/ 0 h 4"/>
                <a:gd name="T2" fmla="*/ 0 w 3"/>
                <a:gd name="T3" fmla="*/ 1 h 4"/>
                <a:gd name="T4" fmla="*/ 0 w 3"/>
                <a:gd name="T5" fmla="*/ 2 h 4"/>
                <a:gd name="T6" fmla="*/ 1 w 3"/>
                <a:gd name="T7" fmla="*/ 3 h 4"/>
                <a:gd name="T8" fmla="*/ 1 w 3"/>
                <a:gd name="T9" fmla="*/ 4 h 4"/>
                <a:gd name="T10" fmla="*/ 2 w 3"/>
                <a:gd name="T11" fmla="*/ 4 h 4"/>
                <a:gd name="T12" fmla="*/ 2 w 3"/>
                <a:gd name="T13" fmla="*/ 3 h 4"/>
                <a:gd name="T14" fmla="*/ 3 w 3"/>
                <a:gd name="T15" fmla="*/ 2 h 4"/>
                <a:gd name="T16" fmla="*/ 2 w 3"/>
                <a:gd name="T17" fmla="*/ 1 h 4"/>
                <a:gd name="T18" fmla="*/ 2 w 3"/>
                <a:gd name="T19" fmla="*/ 1 h 4"/>
                <a:gd name="T20" fmla="*/ 1 w 3"/>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 h="4">
                  <a:moveTo>
                    <a:pt x="1" y="0"/>
                  </a:moveTo>
                  <a:cubicBezTo>
                    <a:pt x="0" y="1"/>
                    <a:pt x="0" y="1"/>
                    <a:pt x="0" y="1"/>
                  </a:cubicBezTo>
                  <a:cubicBezTo>
                    <a:pt x="0" y="2"/>
                    <a:pt x="0" y="2"/>
                    <a:pt x="0" y="2"/>
                  </a:cubicBezTo>
                  <a:cubicBezTo>
                    <a:pt x="0" y="2"/>
                    <a:pt x="0" y="3"/>
                    <a:pt x="1" y="3"/>
                  </a:cubicBezTo>
                  <a:cubicBezTo>
                    <a:pt x="1" y="4"/>
                    <a:pt x="1" y="4"/>
                    <a:pt x="1" y="4"/>
                  </a:cubicBezTo>
                  <a:cubicBezTo>
                    <a:pt x="2" y="4"/>
                    <a:pt x="2" y="4"/>
                    <a:pt x="2" y="4"/>
                  </a:cubicBezTo>
                  <a:cubicBezTo>
                    <a:pt x="2" y="3"/>
                    <a:pt x="2" y="3"/>
                    <a:pt x="2" y="3"/>
                  </a:cubicBezTo>
                  <a:cubicBezTo>
                    <a:pt x="3" y="3"/>
                    <a:pt x="3" y="3"/>
                    <a:pt x="3" y="2"/>
                  </a:cubicBezTo>
                  <a:cubicBezTo>
                    <a:pt x="3" y="2"/>
                    <a:pt x="2" y="2"/>
                    <a:pt x="2" y="1"/>
                  </a:cubicBezTo>
                  <a:cubicBezTo>
                    <a:pt x="2" y="1"/>
                    <a:pt x="2" y="1"/>
                    <a:pt x="2" y="1"/>
                  </a:cubicBezTo>
                  <a:cubicBezTo>
                    <a:pt x="2" y="1"/>
                    <a:pt x="1" y="1"/>
                    <a:pt x="1" y="0"/>
                  </a:cubicBezTo>
                </a:path>
              </a:pathLst>
            </a:custGeom>
            <a:solidFill>
              <a:schemeClr val="bg1">
                <a:lumMod val="65000"/>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 name="TextBox 41"/>
          <p:cNvSpPr txBox="1"/>
          <p:nvPr/>
        </p:nvSpPr>
        <p:spPr>
          <a:xfrm>
            <a:off x="2190750" y="2709545"/>
            <a:ext cx="2032000" cy="1076325"/>
          </a:xfrm>
          <a:prstGeom prst="rect">
            <a:avLst/>
          </a:prstGeom>
          <a:noFill/>
        </p:spPr>
        <p:txBody>
          <a:bodyPr wrap="square" rtlCol="0">
            <a:spAutoFit/>
          </a:bodyPr>
          <a:lstStyle/>
          <a:p>
            <a:pPr algn="ctr"/>
            <a:r>
              <a:rPr lang="zh-CN" altLang="en-US" sz="3200" b="1" spc="300" dirty="0">
                <a:solidFill>
                  <a:srgbClr val="C00000"/>
                </a:solidFill>
                <a:latin typeface="微软雅黑" panose="020B0503020204020204" pitchFamily="34" charset="-122"/>
                <a:ea typeface="微软雅黑" panose="020B0503020204020204" pitchFamily="34" charset="-122"/>
              </a:rPr>
              <a:t>危险化学品企业</a:t>
            </a:r>
            <a:endParaRPr lang="zh-CN" altLang="en-US" sz="3200" b="1" spc="300" dirty="0">
              <a:solidFill>
                <a:srgbClr val="C00000"/>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5001895" y="775335"/>
            <a:ext cx="5681980" cy="5327650"/>
            <a:chOff x="7877" y="1221"/>
            <a:chExt cx="8948" cy="8390"/>
          </a:xfrm>
        </p:grpSpPr>
        <p:grpSp>
          <p:nvGrpSpPr>
            <p:cNvPr id="9" name="组合 8"/>
            <p:cNvGrpSpPr/>
            <p:nvPr/>
          </p:nvGrpSpPr>
          <p:grpSpPr>
            <a:xfrm>
              <a:off x="11278" y="6458"/>
              <a:ext cx="4410" cy="1034"/>
              <a:chOff x="2921001" y="2698056"/>
              <a:chExt cx="2835809" cy="668760"/>
            </a:xfrm>
            <a:solidFill>
              <a:schemeClr val="accent1"/>
            </a:solidFill>
          </p:grpSpPr>
          <p:sp>
            <p:nvSpPr>
              <p:cNvPr id="13" name="MH_SubTitle_1"/>
              <p:cNvSpPr>
                <a:spLocks noChangeArrowheads="1"/>
              </p:cNvSpPr>
              <p:nvPr>
                <p:custDataLst>
                  <p:tags r:id="rId1"/>
                </p:custDataLst>
              </p:nvPr>
            </p:nvSpPr>
            <p:spPr bwMode="auto">
              <a:xfrm>
                <a:off x="3187408" y="2743330"/>
                <a:ext cx="2569402" cy="566570"/>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b="1" dirty="0">
                    <a:solidFill>
                      <a:srgbClr val="FFFFFF"/>
                    </a:solidFill>
                    <a:latin typeface="微软雅黑" panose="020B0503020204020204" pitchFamily="34" charset="-122"/>
                    <a:ea typeface="微软雅黑" panose="020B0503020204020204" pitchFamily="34" charset="-122"/>
                    <a:sym typeface="+mn-ea"/>
                  </a:rPr>
                  <a:t>临时用电</a:t>
                </a:r>
                <a:endParaRPr lang="zh-CN" altLang="en-US"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14" name="MH_Other_10"/>
              <p:cNvSpPr>
                <a:spLocks noChangeArrowheads="1"/>
              </p:cNvSpPr>
              <p:nvPr>
                <p:custDataLst>
                  <p:tags r:id="rId2"/>
                </p:custDataLst>
              </p:nvPr>
            </p:nvSpPr>
            <p:spPr bwMode="auto">
              <a:xfrm>
                <a:off x="2921001" y="2698056"/>
                <a:ext cx="712280" cy="66876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06</a:t>
                </a:r>
                <a:endParaRPr lang="zh-CN" altLang="en-US" sz="3200" b="1" dirty="0">
                  <a:solidFill>
                    <a:srgbClr val="C00000"/>
                  </a:solidFill>
                  <a:ea typeface="微软雅黑" panose="020B0503020204020204" pitchFamily="34" charset="-122"/>
                </a:endParaRPr>
              </a:p>
            </p:txBody>
          </p:sp>
        </p:grpSp>
        <p:grpSp>
          <p:nvGrpSpPr>
            <p:cNvPr id="23" name="组合 22"/>
            <p:cNvGrpSpPr/>
            <p:nvPr/>
          </p:nvGrpSpPr>
          <p:grpSpPr>
            <a:xfrm>
              <a:off x="8532" y="2255"/>
              <a:ext cx="4503" cy="1106"/>
              <a:chOff x="2921001" y="2686323"/>
              <a:chExt cx="2895886" cy="715690"/>
            </a:xfrm>
            <a:solidFill>
              <a:schemeClr val="accent1"/>
            </a:solidFill>
          </p:grpSpPr>
          <p:sp>
            <p:nvSpPr>
              <p:cNvPr id="24" name="MH_SubTitle_1"/>
              <p:cNvSpPr>
                <a:spLocks noChangeArrowheads="1"/>
              </p:cNvSpPr>
              <p:nvPr>
                <p:custDataLst>
                  <p:tags r:id="rId3"/>
                </p:custDataLst>
              </p:nvPr>
            </p:nvSpPr>
            <p:spPr bwMode="auto">
              <a:xfrm>
                <a:off x="3187408" y="2743268"/>
                <a:ext cx="2629479" cy="566858"/>
              </a:xfrm>
              <a:prstGeom prst="roundRect">
                <a:avLst>
                  <a:gd name="adj" fmla="val 50000"/>
                </a:avLst>
              </a:prstGeom>
              <a:grpFill/>
              <a:ln w="9525">
                <a:noFill/>
                <a:round/>
              </a:ln>
            </p:spPr>
            <p:txBody>
              <a:bodyPr lIns="216000" tIns="0" rIns="0" bIns="0" anchor="ctr"/>
              <a:lstStyle/>
              <a:p>
                <a:pPr defTabSz="913765">
                  <a:lnSpc>
                    <a:spcPct val="120000"/>
                  </a:lnSpc>
                </a:pPr>
                <a:r>
                  <a:rPr lang="zh-CN" altLang="en-US" sz="2400" dirty="0">
                    <a:solidFill>
                      <a:srgbClr val="FFFFFF"/>
                    </a:solidFill>
                    <a:latin typeface="微软雅黑" panose="020B0503020204020204" pitchFamily="34" charset="-122"/>
                    <a:ea typeface="微软雅黑" panose="020B0503020204020204" pitchFamily="34" charset="-122"/>
                  </a:rPr>
                  <a:t>     </a:t>
                </a:r>
                <a:r>
                  <a:rPr lang="zh-CN" altLang="en-US" sz="2400" b="1" dirty="0">
                    <a:solidFill>
                      <a:srgbClr val="FFFFFF"/>
                    </a:solidFill>
                    <a:latin typeface="微软雅黑" panose="020B0503020204020204" pitchFamily="34" charset="-122"/>
                    <a:ea typeface="微软雅黑" panose="020B0503020204020204" pitchFamily="34" charset="-122"/>
                  </a:rPr>
                  <a:t>受限空间</a:t>
                </a:r>
                <a:endParaRPr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25" name="MH_Other_10"/>
              <p:cNvSpPr>
                <a:spLocks noChangeArrowheads="1"/>
              </p:cNvSpPr>
              <p:nvPr>
                <p:custDataLst>
                  <p:tags r:id="rId4"/>
                </p:custDataLst>
              </p:nvPr>
            </p:nvSpPr>
            <p:spPr bwMode="auto">
              <a:xfrm>
                <a:off x="2921001" y="2686323"/>
                <a:ext cx="712280" cy="71569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02</a:t>
                </a:r>
                <a:endParaRPr lang="zh-CN" altLang="en-US" sz="3200" b="1" dirty="0">
                  <a:solidFill>
                    <a:srgbClr val="C00000"/>
                  </a:solidFill>
                  <a:ea typeface="微软雅黑" panose="020B0503020204020204" pitchFamily="34" charset="-122"/>
                </a:endParaRPr>
              </a:p>
            </p:txBody>
          </p:sp>
        </p:grpSp>
        <p:grpSp>
          <p:nvGrpSpPr>
            <p:cNvPr id="26" name="组合 25"/>
            <p:cNvGrpSpPr/>
            <p:nvPr/>
          </p:nvGrpSpPr>
          <p:grpSpPr>
            <a:xfrm>
              <a:off x="9203" y="3285"/>
              <a:ext cx="4450" cy="1125"/>
              <a:chOff x="2921001" y="2674590"/>
              <a:chExt cx="2861297" cy="727423"/>
            </a:xfrm>
            <a:solidFill>
              <a:schemeClr val="accent1"/>
            </a:solidFill>
          </p:grpSpPr>
          <p:sp>
            <p:nvSpPr>
              <p:cNvPr id="27" name="MH_SubTitle_1"/>
              <p:cNvSpPr>
                <a:spLocks noChangeArrowheads="1"/>
              </p:cNvSpPr>
              <p:nvPr>
                <p:custDataLst>
                  <p:tags r:id="rId5"/>
                </p:custDataLst>
              </p:nvPr>
            </p:nvSpPr>
            <p:spPr bwMode="auto">
              <a:xfrm>
                <a:off x="3187408" y="2743129"/>
                <a:ext cx="2594890" cy="566420"/>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b="1" dirty="0">
                    <a:solidFill>
                      <a:srgbClr val="FFFFFF"/>
                    </a:solidFill>
                    <a:latin typeface="微软雅黑" panose="020B0503020204020204" pitchFamily="34" charset="-122"/>
                    <a:ea typeface="微软雅黑" panose="020B0503020204020204" pitchFamily="34" charset="-122"/>
                  </a:rPr>
                  <a:t>盲板抽堵</a:t>
                </a:r>
                <a:endParaRPr lang="zh-CN" altLang="zh-CN"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16" name="MH_Other_10"/>
              <p:cNvSpPr>
                <a:spLocks noChangeArrowheads="1"/>
              </p:cNvSpPr>
              <p:nvPr>
                <p:custDataLst>
                  <p:tags r:id="rId6"/>
                </p:custDataLst>
              </p:nvPr>
            </p:nvSpPr>
            <p:spPr bwMode="auto">
              <a:xfrm>
                <a:off x="2921001" y="2674590"/>
                <a:ext cx="712280" cy="727423"/>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03</a:t>
                </a:r>
                <a:endParaRPr lang="zh-CN" altLang="en-US" sz="3200" b="1" dirty="0">
                  <a:solidFill>
                    <a:srgbClr val="C00000"/>
                  </a:solidFill>
                  <a:ea typeface="微软雅黑" panose="020B0503020204020204" pitchFamily="34" charset="-122"/>
                </a:endParaRPr>
              </a:p>
            </p:txBody>
          </p:sp>
        </p:grpSp>
        <p:grpSp>
          <p:nvGrpSpPr>
            <p:cNvPr id="29" name="组合 28"/>
            <p:cNvGrpSpPr/>
            <p:nvPr/>
          </p:nvGrpSpPr>
          <p:grpSpPr>
            <a:xfrm>
              <a:off x="9869" y="4390"/>
              <a:ext cx="4448" cy="1070"/>
              <a:chOff x="2921001" y="2709788"/>
              <a:chExt cx="2860082" cy="692225"/>
            </a:xfrm>
            <a:solidFill>
              <a:schemeClr val="accent1"/>
            </a:solidFill>
          </p:grpSpPr>
          <p:sp>
            <p:nvSpPr>
              <p:cNvPr id="30" name="MH_SubTitle_1"/>
              <p:cNvSpPr>
                <a:spLocks noChangeArrowheads="1"/>
              </p:cNvSpPr>
              <p:nvPr>
                <p:custDataLst>
                  <p:tags r:id="rId7"/>
                </p:custDataLst>
              </p:nvPr>
            </p:nvSpPr>
            <p:spPr bwMode="auto">
              <a:xfrm>
                <a:off x="3187408" y="2743429"/>
                <a:ext cx="2593675" cy="566719"/>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b="1" dirty="0">
                    <a:solidFill>
                      <a:srgbClr val="FFFFFF"/>
                    </a:solidFill>
                    <a:latin typeface="微软雅黑" panose="020B0503020204020204" pitchFamily="34" charset="-122"/>
                    <a:ea typeface="微软雅黑" panose="020B0503020204020204" pitchFamily="34" charset="-122"/>
                    <a:sym typeface="+mn-ea"/>
                  </a:rPr>
                  <a:t>高处作业</a:t>
                </a:r>
                <a:endParaRPr lang="zh-CN" altLang="zh-CN"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31" name="MH_Other_10"/>
              <p:cNvSpPr>
                <a:spLocks noChangeArrowheads="1"/>
              </p:cNvSpPr>
              <p:nvPr>
                <p:custDataLst>
                  <p:tags r:id="rId8"/>
                </p:custDataLst>
              </p:nvPr>
            </p:nvSpPr>
            <p:spPr bwMode="auto">
              <a:xfrm>
                <a:off x="2921001" y="2709788"/>
                <a:ext cx="712280" cy="692225"/>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04</a:t>
                </a:r>
                <a:endParaRPr lang="zh-CN" altLang="en-US" sz="3200" b="1" dirty="0">
                  <a:solidFill>
                    <a:srgbClr val="C00000"/>
                  </a:solidFill>
                  <a:ea typeface="微软雅黑" panose="020B0503020204020204" pitchFamily="34" charset="-122"/>
                </a:endParaRPr>
              </a:p>
            </p:txBody>
          </p:sp>
        </p:grpSp>
        <p:grpSp>
          <p:nvGrpSpPr>
            <p:cNvPr id="32" name="组合 31"/>
            <p:cNvGrpSpPr/>
            <p:nvPr/>
          </p:nvGrpSpPr>
          <p:grpSpPr>
            <a:xfrm>
              <a:off x="10547" y="5386"/>
              <a:ext cx="4470" cy="1034"/>
              <a:chOff x="2896727" y="2674592"/>
              <a:chExt cx="2874041" cy="668760"/>
            </a:xfrm>
            <a:solidFill>
              <a:schemeClr val="accent1"/>
            </a:solidFill>
          </p:grpSpPr>
          <p:sp>
            <p:nvSpPr>
              <p:cNvPr id="33" name="MH_SubTitle_1"/>
              <p:cNvSpPr>
                <a:spLocks noChangeArrowheads="1"/>
              </p:cNvSpPr>
              <p:nvPr>
                <p:custDataLst>
                  <p:tags r:id="rId9"/>
                </p:custDataLst>
              </p:nvPr>
            </p:nvSpPr>
            <p:spPr bwMode="auto">
              <a:xfrm>
                <a:off x="3187408" y="2743150"/>
                <a:ext cx="2583360" cy="566570"/>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b="1" dirty="0">
                    <a:solidFill>
                      <a:srgbClr val="FFFFFF"/>
                    </a:solidFill>
                    <a:latin typeface="微软雅黑" panose="020B0503020204020204" pitchFamily="34" charset="-122"/>
                    <a:ea typeface="微软雅黑" panose="020B0503020204020204" pitchFamily="34" charset="-122"/>
                  </a:rPr>
                  <a:t>吊装</a:t>
                </a:r>
                <a:r>
                  <a:rPr lang="zh-CN" altLang="en-US" sz="2400" b="1" dirty="0">
                    <a:solidFill>
                      <a:srgbClr val="FFFFFF"/>
                    </a:solidFill>
                    <a:latin typeface="微软雅黑" panose="020B0503020204020204" pitchFamily="34" charset="-122"/>
                    <a:ea typeface="微软雅黑" panose="020B0503020204020204" pitchFamily="34" charset="-122"/>
                    <a:sym typeface="+mn-ea"/>
                  </a:rPr>
                  <a:t>作</a:t>
                </a:r>
                <a:r>
                  <a:rPr lang="zh-CN" altLang="zh-CN" sz="2400" b="1" dirty="0">
                    <a:solidFill>
                      <a:srgbClr val="FFFFFF"/>
                    </a:solidFill>
                    <a:latin typeface="微软雅黑" panose="020B0503020204020204" pitchFamily="34" charset="-122"/>
                    <a:ea typeface="微软雅黑" panose="020B0503020204020204" pitchFamily="34" charset="-122"/>
                    <a:sym typeface="+mn-ea"/>
                  </a:rPr>
                  <a:t>业</a:t>
                </a:r>
                <a:endParaRPr lang="zh-CN" altLang="zh-CN"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34" name="MH_Other_10"/>
              <p:cNvSpPr>
                <a:spLocks noChangeArrowheads="1"/>
              </p:cNvSpPr>
              <p:nvPr>
                <p:custDataLst>
                  <p:tags r:id="rId10"/>
                </p:custDataLst>
              </p:nvPr>
            </p:nvSpPr>
            <p:spPr bwMode="auto">
              <a:xfrm>
                <a:off x="2896727" y="2674592"/>
                <a:ext cx="712280" cy="66876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05</a:t>
                </a:r>
                <a:endParaRPr lang="zh-CN" altLang="en-US" sz="3200" b="1" dirty="0">
                  <a:solidFill>
                    <a:srgbClr val="C00000"/>
                  </a:solidFill>
                  <a:ea typeface="微软雅黑" panose="020B0503020204020204" pitchFamily="34" charset="-122"/>
                </a:endParaRPr>
              </a:p>
            </p:txBody>
          </p:sp>
        </p:grpSp>
        <p:grpSp>
          <p:nvGrpSpPr>
            <p:cNvPr id="17" name="组合 16"/>
            <p:cNvGrpSpPr/>
            <p:nvPr/>
          </p:nvGrpSpPr>
          <p:grpSpPr>
            <a:xfrm>
              <a:off x="7877" y="1221"/>
              <a:ext cx="4537" cy="1106"/>
              <a:chOff x="2921001" y="2686323"/>
              <a:chExt cx="2917733" cy="715690"/>
            </a:xfrm>
            <a:solidFill>
              <a:schemeClr val="accent1"/>
            </a:solidFill>
          </p:grpSpPr>
          <p:sp>
            <p:nvSpPr>
              <p:cNvPr id="18" name="MH_SubTitle_1"/>
              <p:cNvSpPr>
                <a:spLocks noChangeArrowheads="1"/>
              </p:cNvSpPr>
              <p:nvPr>
                <p:custDataLst>
                  <p:tags r:id="rId11"/>
                </p:custDataLst>
              </p:nvPr>
            </p:nvSpPr>
            <p:spPr bwMode="auto">
              <a:xfrm>
                <a:off x="3187408" y="2743268"/>
                <a:ext cx="2651326" cy="566858"/>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dirty="0">
                    <a:solidFill>
                      <a:srgbClr val="FFFFFF"/>
                    </a:solidFill>
                    <a:latin typeface="微软雅黑" panose="020B0503020204020204" pitchFamily="34" charset="-122"/>
                    <a:ea typeface="微软雅黑" panose="020B0503020204020204" pitchFamily="34" charset="-122"/>
                  </a:rPr>
                  <a:t> </a:t>
                </a:r>
                <a:r>
                  <a:rPr lang="zh-CN" altLang="en-US" sz="2400" b="1" dirty="0">
                    <a:solidFill>
                      <a:srgbClr val="FFFFFF"/>
                    </a:solidFill>
                    <a:latin typeface="微软雅黑" panose="020B0503020204020204" pitchFamily="34" charset="-122"/>
                    <a:ea typeface="微软雅黑" panose="020B0503020204020204" pitchFamily="34" charset="-122"/>
                  </a:rPr>
                  <a:t>动火作业</a:t>
                </a:r>
                <a:endParaRPr lang="zh-CN" altLang="en-US"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19" name="MH_Other_10"/>
              <p:cNvSpPr>
                <a:spLocks noChangeArrowheads="1"/>
              </p:cNvSpPr>
              <p:nvPr>
                <p:custDataLst>
                  <p:tags r:id="rId12"/>
                </p:custDataLst>
              </p:nvPr>
            </p:nvSpPr>
            <p:spPr bwMode="auto">
              <a:xfrm>
                <a:off x="2921001" y="2686323"/>
                <a:ext cx="712280" cy="71569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01</a:t>
                </a:r>
                <a:endParaRPr lang="zh-CN" altLang="en-US" sz="3200" b="1" dirty="0">
                  <a:solidFill>
                    <a:srgbClr val="C00000"/>
                  </a:solidFill>
                  <a:ea typeface="微软雅黑" panose="020B0503020204020204" pitchFamily="34" charset="-122"/>
                </a:endParaRPr>
              </a:p>
            </p:txBody>
          </p:sp>
        </p:grpSp>
        <p:grpSp>
          <p:nvGrpSpPr>
            <p:cNvPr id="20" name="组合 19"/>
            <p:cNvGrpSpPr/>
            <p:nvPr/>
          </p:nvGrpSpPr>
          <p:grpSpPr>
            <a:xfrm>
              <a:off x="11981" y="7515"/>
              <a:ext cx="4324" cy="1034"/>
              <a:chOff x="2921001" y="2698056"/>
              <a:chExt cx="2780585" cy="668760"/>
            </a:xfrm>
            <a:solidFill>
              <a:schemeClr val="accent1"/>
            </a:solidFill>
          </p:grpSpPr>
          <p:sp>
            <p:nvSpPr>
              <p:cNvPr id="21" name="MH_SubTitle_1"/>
              <p:cNvSpPr>
                <a:spLocks noChangeArrowheads="1"/>
              </p:cNvSpPr>
              <p:nvPr>
                <p:custDataLst>
                  <p:tags r:id="rId13"/>
                </p:custDataLst>
              </p:nvPr>
            </p:nvSpPr>
            <p:spPr bwMode="auto">
              <a:xfrm>
                <a:off x="3187408" y="2743330"/>
                <a:ext cx="2514178" cy="566570"/>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en-US" sz="2400" b="1" dirty="0">
                    <a:solidFill>
                      <a:srgbClr val="FFFFFF"/>
                    </a:solidFill>
                    <a:latin typeface="微软雅黑" panose="020B0503020204020204" pitchFamily="34" charset="-122"/>
                    <a:ea typeface="微软雅黑" panose="020B0503020204020204" pitchFamily="34" charset="-122"/>
                    <a:sym typeface="+mn-ea"/>
                  </a:rPr>
                  <a:t>动土作业</a:t>
                </a:r>
                <a:endParaRPr lang="zh-CN" altLang="zh-CN"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22" name="MH_Other_10"/>
              <p:cNvSpPr>
                <a:spLocks noChangeArrowheads="1"/>
              </p:cNvSpPr>
              <p:nvPr>
                <p:custDataLst>
                  <p:tags r:id="rId14"/>
                </p:custDataLst>
              </p:nvPr>
            </p:nvSpPr>
            <p:spPr bwMode="auto">
              <a:xfrm>
                <a:off x="2921001" y="2698056"/>
                <a:ext cx="712280" cy="66876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a:t>
                </a:r>
                <a:r>
                  <a:rPr lang="en-US" sz="3200" b="1" dirty="0">
                    <a:solidFill>
                      <a:srgbClr val="C00000"/>
                    </a:solidFill>
                    <a:ea typeface="微软雅黑" panose="020B0503020204020204" pitchFamily="34" charset="-122"/>
                  </a:rPr>
                  <a:t>7</a:t>
                </a:r>
                <a:endParaRPr lang="en-US" sz="3200" b="1" dirty="0">
                  <a:solidFill>
                    <a:srgbClr val="C00000"/>
                  </a:solidFill>
                  <a:ea typeface="微软雅黑" panose="020B0503020204020204" pitchFamily="34" charset="-122"/>
                </a:endParaRPr>
              </a:p>
            </p:txBody>
          </p:sp>
        </p:grpSp>
        <p:grpSp>
          <p:nvGrpSpPr>
            <p:cNvPr id="28" name="组合 27"/>
            <p:cNvGrpSpPr/>
            <p:nvPr/>
          </p:nvGrpSpPr>
          <p:grpSpPr>
            <a:xfrm>
              <a:off x="12685" y="8577"/>
              <a:ext cx="4141" cy="1034"/>
              <a:chOff x="2921001" y="2698056"/>
              <a:chExt cx="2775519" cy="668760"/>
            </a:xfrm>
            <a:solidFill>
              <a:schemeClr val="accent1"/>
            </a:solidFill>
          </p:grpSpPr>
          <p:sp>
            <p:nvSpPr>
              <p:cNvPr id="35" name="MH_SubTitle_1"/>
              <p:cNvSpPr>
                <a:spLocks noChangeArrowheads="1"/>
              </p:cNvSpPr>
              <p:nvPr>
                <p:custDataLst>
                  <p:tags r:id="rId15"/>
                </p:custDataLst>
              </p:nvPr>
            </p:nvSpPr>
            <p:spPr bwMode="auto">
              <a:xfrm>
                <a:off x="3187222" y="2743330"/>
                <a:ext cx="2509298" cy="566570"/>
              </a:xfrm>
              <a:prstGeom prst="roundRect">
                <a:avLst>
                  <a:gd name="adj" fmla="val 50000"/>
                </a:avLst>
              </a:prstGeom>
              <a:grpFill/>
              <a:ln w="9525">
                <a:noFill/>
                <a:round/>
              </a:ln>
            </p:spPr>
            <p:txBody>
              <a:bodyPr lIns="216000" tIns="0" rIns="0" bIns="0" anchor="ctr"/>
              <a:lstStyle/>
              <a:p>
                <a:pPr algn="ctr" defTabSz="913765">
                  <a:lnSpc>
                    <a:spcPct val="120000"/>
                  </a:lnSpc>
                </a:pPr>
                <a:r>
                  <a:rPr lang="zh-CN" altLang="zh-CN" sz="2400" b="1" dirty="0">
                    <a:solidFill>
                      <a:srgbClr val="FFFFFF"/>
                    </a:solidFill>
                    <a:latin typeface="微软雅黑" panose="020B0503020204020204" pitchFamily="34" charset="-122"/>
                    <a:ea typeface="微软雅黑" panose="020B0503020204020204" pitchFamily="34" charset="-122"/>
                    <a:sym typeface="+mn-ea"/>
                  </a:rPr>
                  <a:t>断路作业</a:t>
                </a:r>
                <a:endParaRPr lang="zh-CN" altLang="zh-CN" sz="2400" b="1" dirty="0">
                  <a:solidFill>
                    <a:srgbClr val="FFFFFF"/>
                  </a:solidFill>
                  <a:latin typeface="微软雅黑" panose="020B0503020204020204" pitchFamily="34" charset="-122"/>
                  <a:ea typeface="微软雅黑" panose="020B0503020204020204" pitchFamily="34" charset="-122"/>
                  <a:sym typeface="+mn-ea"/>
                </a:endParaRPr>
              </a:p>
            </p:txBody>
          </p:sp>
          <p:sp>
            <p:nvSpPr>
              <p:cNvPr id="36" name="MH_Other_10"/>
              <p:cNvSpPr>
                <a:spLocks noChangeArrowheads="1"/>
              </p:cNvSpPr>
              <p:nvPr>
                <p:custDataLst>
                  <p:tags r:id="rId16"/>
                </p:custDataLst>
              </p:nvPr>
            </p:nvSpPr>
            <p:spPr bwMode="auto">
              <a:xfrm>
                <a:off x="2921001" y="2698056"/>
                <a:ext cx="712280" cy="668760"/>
              </a:xfrm>
              <a:prstGeom prst="ellipse">
                <a:avLst/>
              </a:prstGeom>
              <a:solidFill>
                <a:schemeClr val="bg1"/>
              </a:solidFill>
              <a:ln w="9525">
                <a:noFill/>
                <a:round/>
              </a:ln>
            </p:spPr>
            <p:txBody>
              <a:bodyPr lIns="0" tIns="0" rIns="0" bIns="0" anchor="ctr"/>
              <a:lstStyle/>
              <a:p>
                <a:pPr algn="ctr" eaLnBrk="1" hangingPunct="1"/>
                <a:r>
                  <a:rPr lang="en-US" altLang="zh-CN" sz="3200" b="1" dirty="0">
                    <a:solidFill>
                      <a:srgbClr val="C00000"/>
                    </a:solidFill>
                    <a:ea typeface="微软雅黑" panose="020B0503020204020204" pitchFamily="34" charset="-122"/>
                  </a:rPr>
                  <a:t>08</a:t>
                </a:r>
                <a:endParaRPr lang="zh-CN" altLang="en-US" sz="3200" b="1" dirty="0">
                  <a:solidFill>
                    <a:srgbClr val="C00000"/>
                  </a:solidFill>
                  <a:ea typeface="微软雅黑" panose="020B0503020204020204" pitchFamily="34" charset="-122"/>
                </a:endParaRPr>
              </a:p>
            </p:txBody>
          </p:sp>
        </p:grpSp>
      </p:grpSp>
    </p:spTree>
    <p:custDataLst>
      <p:tags r:id="rId17"/>
    </p:custDataLst>
  </p:cSld>
  <p:clrMapOvr>
    <a:masterClrMapping/>
  </p:clrMapOvr>
  <mc:AlternateContent xmlns:mc="http://schemas.openxmlformats.org/markup-compatibility/2006">
    <mc:Choice xmlns:p14="http://schemas.microsoft.com/office/powerpoint/2010/main" Requires="p14">
      <p:transition p14:dur="9" advClick="0" advTm="20000">
        <p:wheel spokes="1"/>
      </p:transition>
    </mc:Choice>
    <mc:Fallback>
      <p:transition advClick="0" advTm="20000">
        <p:wheel spokes="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02</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规范性引用文件</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0855" y="949960"/>
            <a:ext cx="8178800" cy="5128895"/>
          </a:xfrm>
          <a:prstGeom prst="rect">
            <a:avLst/>
          </a:prstGeom>
          <a:noFill/>
          <a:ln w="9525">
            <a:noFill/>
          </a:ln>
        </p:spPr>
        <p:txBody>
          <a:bodyPr wrap="square">
            <a:spAutoFit/>
          </a:bodyPr>
          <a:lstStyle/>
          <a:p>
            <a:pPr algn="l">
              <a:lnSpc>
                <a:spcPct val="130000"/>
              </a:lnSpc>
              <a:buClrTx/>
              <a:buSzTx/>
              <a:buNone/>
            </a:pPr>
            <a:r>
              <a:rPr sz="2800" b="1" dirty="0">
                <a:latin typeface="微软雅黑" panose="020B0503020204020204" pitchFamily="34" charset="-122"/>
                <a:ea typeface="微软雅黑" panose="020B0503020204020204" pitchFamily="34" charset="-122"/>
              </a:rPr>
              <a:t>GB 2894 </a:t>
            </a:r>
            <a:r>
              <a:rPr lang="en-US" sz="2800" b="1" dirty="0">
                <a:latin typeface="微软雅黑" panose="020B0503020204020204" pitchFamily="34" charset="-122"/>
                <a:ea typeface="微软雅黑" panose="020B0503020204020204" pitchFamily="34" charset="-122"/>
              </a:rPr>
              <a:t> </a:t>
            </a:r>
            <a:r>
              <a:rPr sz="2800" b="1" dirty="0">
                <a:latin typeface="微软雅黑" panose="020B0503020204020204" pitchFamily="34" charset="-122"/>
                <a:ea typeface="微软雅黑" panose="020B0503020204020204" pitchFamily="34" charset="-122"/>
              </a:rPr>
              <a:t>安全标志及其使用导则</a:t>
            </a:r>
            <a:endParaRPr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a:t>
            </a:r>
            <a:r>
              <a:rPr lang="en-US" sz="2800" b="1" dirty="0">
                <a:latin typeface="微软雅黑" panose="020B0503020204020204" pitchFamily="34" charset="-122"/>
                <a:ea typeface="微软雅黑" panose="020B0503020204020204" pitchFamily="34" charset="-122"/>
                <a:sym typeface="+mn-ea"/>
              </a:rPr>
              <a:t>/T 3608</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高处作业分级</a:t>
            </a:r>
            <a:endParaRPr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rPr>
              <a:t>GB</a:t>
            </a:r>
            <a:r>
              <a:rPr lang="en-US" sz="2800" b="1" dirty="0">
                <a:latin typeface="微软雅黑" panose="020B0503020204020204" pitchFamily="34" charset="-122"/>
                <a:ea typeface="微软雅黑" panose="020B0503020204020204" pitchFamily="34" charset="-122"/>
                <a:sym typeface="+mn-ea"/>
              </a:rPr>
              <a:t>/T </a:t>
            </a:r>
            <a:r>
              <a:rPr sz="2800" b="1" dirty="0">
                <a:latin typeface="微软雅黑" panose="020B0503020204020204" pitchFamily="34" charset="-122"/>
                <a:ea typeface="微软雅黑" panose="020B0503020204020204" pitchFamily="34" charset="-122"/>
              </a:rPr>
              <a:t>5082 </a:t>
            </a:r>
            <a:r>
              <a:rPr lang="en-US" sz="2800" b="1" dirty="0">
                <a:latin typeface="微软雅黑" panose="020B0503020204020204" pitchFamily="34" charset="-122"/>
                <a:ea typeface="微软雅黑" panose="020B0503020204020204" pitchFamily="34" charset="-122"/>
              </a:rPr>
              <a:t> </a:t>
            </a:r>
            <a:r>
              <a:rPr sz="2800" b="1" dirty="0">
                <a:latin typeface="微软雅黑" panose="020B0503020204020204" pitchFamily="34" charset="-122"/>
                <a:ea typeface="微软雅黑" panose="020B0503020204020204" pitchFamily="34" charset="-122"/>
              </a:rPr>
              <a:t>起重</a:t>
            </a:r>
            <a:r>
              <a:rPr lang="zh-CN" sz="2800" b="1" dirty="0">
                <a:latin typeface="微软雅黑" panose="020B0503020204020204" pitchFamily="34" charset="-122"/>
                <a:ea typeface="微软雅黑" panose="020B0503020204020204" pitchFamily="34" charset="-122"/>
              </a:rPr>
              <a:t>机</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手势</a:t>
            </a:r>
            <a:r>
              <a:rPr sz="2800" b="1" dirty="0">
                <a:latin typeface="微软雅黑" panose="020B0503020204020204" pitchFamily="34" charset="-122"/>
                <a:ea typeface="微软雅黑" panose="020B0503020204020204" pitchFamily="34" charset="-122"/>
              </a:rPr>
              <a:t>信号</a:t>
            </a:r>
            <a:endParaRPr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rPr>
              <a:t>GB 6095 </a:t>
            </a:r>
            <a:r>
              <a:rPr lang="en-US" sz="2800" b="1" dirty="0">
                <a:latin typeface="微软雅黑" panose="020B0503020204020204" pitchFamily="34" charset="-122"/>
                <a:ea typeface="微软雅黑" panose="020B0503020204020204" pitchFamily="34" charset="-122"/>
              </a:rPr>
              <a:t> </a:t>
            </a:r>
            <a:r>
              <a:rPr lang="zh-CN" sz="2800" b="1" dirty="0">
                <a:latin typeface="微软雅黑" panose="020B0503020204020204" pitchFamily="34" charset="-122"/>
                <a:ea typeface="微软雅黑" panose="020B0503020204020204" pitchFamily="34" charset="-122"/>
              </a:rPr>
              <a:t>坠落防护</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安全带</a:t>
            </a:r>
            <a:endParaRPr lang="zh-CN" altLang="en-US"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15322.3  </a:t>
            </a:r>
            <a:r>
              <a:rPr lang="zh-CN" sz="2800" b="1" dirty="0">
                <a:latin typeface="微软雅黑" panose="020B0503020204020204" pitchFamily="34" charset="-122"/>
                <a:ea typeface="微软雅黑" panose="020B0503020204020204" pitchFamily="34" charset="-122"/>
                <a:sym typeface="+mn-ea"/>
              </a:rPr>
              <a:t>可燃气体探测器</a:t>
            </a:r>
            <a:r>
              <a:rPr lang="en-US" altLang="zh-CN" sz="2800" b="1" dirty="0">
                <a:latin typeface="微软雅黑" panose="020B0503020204020204" pitchFamily="34" charset="-122"/>
                <a:ea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sym typeface="+mn-ea"/>
              </a:rPr>
              <a:t>第</a:t>
            </a:r>
            <a:r>
              <a:rPr lang="en-US" altLang="zh-CN" sz="2800" b="1" dirty="0">
                <a:latin typeface="微软雅黑" panose="020B0503020204020204" pitchFamily="34" charset="-122"/>
                <a:ea typeface="微软雅黑" panose="020B0503020204020204" pitchFamily="34" charset="-122"/>
                <a:sym typeface="+mn-ea"/>
              </a:rPr>
              <a:t>3</a:t>
            </a:r>
            <a:r>
              <a:rPr lang="zh-CN" altLang="en-US" sz="2800" b="1" dirty="0">
                <a:latin typeface="微软雅黑" panose="020B0503020204020204" pitchFamily="34" charset="-122"/>
                <a:ea typeface="微软雅黑" panose="020B0503020204020204" pitchFamily="34" charset="-122"/>
                <a:sym typeface="+mn-ea"/>
              </a:rPr>
              <a:t>部分：工业及商业用途便携式可燃气体探测器</a:t>
            </a:r>
            <a:endParaRPr lang="zh-CN" altLang="en-US"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15577</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粉尘防爆安全规程</a:t>
            </a:r>
            <a:endParaRPr lang="zh-CN"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a:t>
            </a:r>
            <a:r>
              <a:rPr lang="en-US" sz="2800" b="1" dirty="0">
                <a:latin typeface="微软雅黑" panose="020B0503020204020204" pitchFamily="34" charset="-122"/>
                <a:ea typeface="微软雅黑" panose="020B0503020204020204" pitchFamily="34" charset="-122"/>
                <a:sym typeface="+mn-ea"/>
              </a:rPr>
              <a:t>/T 18664</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呼吸防护用品的选择、</a:t>
            </a:r>
            <a:r>
              <a:rPr lang="zh-CN" altLang="en-US" sz="2800" b="1" dirty="0">
                <a:latin typeface="微软雅黑" panose="020B0503020204020204" pitchFamily="34" charset="-122"/>
                <a:ea typeface="微软雅黑" panose="020B0503020204020204" pitchFamily="34" charset="-122"/>
                <a:sym typeface="+mn-ea"/>
              </a:rPr>
              <a:t>使用和维护</a:t>
            </a:r>
            <a:endParaRPr lang="zh-CN"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24543</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坠落防护</a:t>
            </a:r>
            <a:r>
              <a:rPr lang="en-US" altLang="zh-CN" sz="2800" b="1" dirty="0">
                <a:latin typeface="微软雅黑" panose="020B0503020204020204" pitchFamily="34" charset="-122"/>
                <a:ea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sym typeface="+mn-ea"/>
              </a:rPr>
              <a:t>安全绳</a:t>
            </a:r>
            <a:endParaRPr lang="zh-CN" altLang="en-US" sz="2800" b="1" dirty="0">
              <a:latin typeface="微软雅黑" panose="020B0503020204020204" pitchFamily="34" charset="-122"/>
              <a:ea typeface="微软雅黑" panose="020B0503020204020204" pitchFamily="34" charset="-122"/>
            </a:endParaRPr>
          </a:p>
        </p:txBody>
      </p:sp>
      <p:pic>
        <p:nvPicPr>
          <p:cNvPr id="3" name="图片 30" descr="未标题-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21675" y="1754505"/>
            <a:ext cx="3159125" cy="3898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45135" y="799465"/>
            <a:ext cx="11301095" cy="5688965"/>
          </a:xfrm>
          <a:prstGeom prst="rect">
            <a:avLst/>
          </a:prstGeom>
          <a:noFill/>
          <a:ln w="9525">
            <a:noFill/>
          </a:ln>
        </p:spPr>
        <p:txBody>
          <a:bodyPr wrap="square">
            <a:spAutoFit/>
          </a:bodyPr>
          <a:lstStyle/>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30077</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危险化学品单位应急救援物资配备要求</a:t>
            </a:r>
            <a:endParaRPr lang="zh-CN" altLang="en-US"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39800.1</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sz="2800" b="1" dirty="0">
                <a:latin typeface="微软雅黑" panose="020B0503020204020204" pitchFamily="34" charset="-122"/>
                <a:ea typeface="微软雅黑" panose="020B0503020204020204" pitchFamily="34" charset="-122"/>
                <a:sym typeface="+mn-ea"/>
              </a:rPr>
              <a:t>个体防护装备配</a:t>
            </a:r>
            <a:r>
              <a:rPr lang="zh-CN" sz="2800" b="1" dirty="0">
                <a:latin typeface="微软雅黑" panose="020B0503020204020204" pitchFamily="34" charset="-122"/>
                <a:ea typeface="微软雅黑" panose="020B0503020204020204" pitchFamily="34" charset="-122"/>
                <a:sym typeface="+mn-ea"/>
              </a:rPr>
              <a:t>规范</a:t>
            </a:r>
            <a:r>
              <a:rPr lang="en-US" altLang="zh-CN" sz="2800" b="1" dirty="0">
                <a:latin typeface="微软雅黑" panose="020B0503020204020204" pitchFamily="34" charset="-122"/>
                <a:ea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sym typeface="+mn-ea"/>
              </a:rPr>
              <a:t>第一部分：总则</a:t>
            </a:r>
            <a:endParaRPr lang="zh-CN" altLang="en-US"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a:t>
            </a:r>
            <a:r>
              <a:rPr lang="en-US" sz="2800" b="1" dirty="0">
                <a:latin typeface="微软雅黑" panose="020B0503020204020204" pitchFamily="34" charset="-122"/>
                <a:ea typeface="微软雅黑" panose="020B0503020204020204" pitchFamily="34" charset="-122"/>
                <a:sym typeface="+mn-ea"/>
              </a:rPr>
              <a:t>50194</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 </a:t>
            </a:r>
            <a:r>
              <a:rPr lang="zh-CN" sz="2800" b="1" dirty="0">
                <a:latin typeface="微软雅黑" panose="020B0503020204020204" pitchFamily="34" charset="-122"/>
                <a:ea typeface="微软雅黑" panose="020B0503020204020204" pitchFamily="34" charset="-122"/>
                <a:sym typeface="+mn-ea"/>
              </a:rPr>
              <a:t>建设工程施工现场供用电安全规范</a:t>
            </a:r>
            <a:endParaRPr lang="zh-CN"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a:t>
            </a:r>
            <a:r>
              <a:rPr lang="en-US" sz="2800" b="1" dirty="0">
                <a:latin typeface="微软雅黑" panose="020B0503020204020204" pitchFamily="34" charset="-122"/>
                <a:ea typeface="微软雅黑" panose="020B0503020204020204" pitchFamily="34" charset="-122"/>
                <a:sym typeface="+mn-ea"/>
              </a:rPr>
              <a:t>/T </a:t>
            </a:r>
            <a:r>
              <a:rPr sz="2800" b="1" dirty="0">
                <a:latin typeface="微软雅黑" panose="020B0503020204020204" pitchFamily="34" charset="-122"/>
                <a:ea typeface="微软雅黑" panose="020B0503020204020204" pitchFamily="34" charset="-122"/>
                <a:sym typeface="+mn-ea"/>
              </a:rPr>
              <a:t> 50493</a:t>
            </a:r>
            <a:r>
              <a:rPr lang="en-US" sz="2800" b="1" dirty="0">
                <a:latin typeface="微软雅黑" panose="020B0503020204020204" pitchFamily="34" charset="-122"/>
                <a:ea typeface="微软雅黑" panose="020B0503020204020204" pitchFamily="34" charset="-122"/>
                <a:sym typeface="+mn-ea"/>
              </a:rPr>
              <a:t>-2019 </a:t>
            </a:r>
            <a:r>
              <a:rPr sz="2800" b="1" dirty="0">
                <a:latin typeface="微软雅黑" panose="020B0503020204020204" pitchFamily="34" charset="-122"/>
                <a:ea typeface="微软雅黑" panose="020B0503020204020204" pitchFamily="34" charset="-122"/>
                <a:sym typeface="+mn-ea"/>
              </a:rPr>
              <a:t> 石油化工可燃气体和有毒气体检测报警设计</a:t>
            </a:r>
            <a:r>
              <a:rPr lang="zh-CN" sz="2800" b="1" dirty="0">
                <a:latin typeface="微软雅黑" panose="020B0503020204020204" pitchFamily="34" charset="-122"/>
                <a:ea typeface="微软雅黑" panose="020B0503020204020204" pitchFamily="34" charset="-122"/>
                <a:sym typeface="+mn-ea"/>
              </a:rPr>
              <a:t>标准</a:t>
            </a:r>
            <a:endParaRPr lang="zh-CN"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 51210 建筑施工脚手架安全技术统一标准</a:t>
            </a:r>
            <a:endParaRPr lang="zh-CN"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DL 409 电业安全工作规程(电力线路部分)</a:t>
            </a:r>
            <a:endParaRPr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rPr>
              <a:t>GBZ 2.1 工作场所有害因素职业接触限值 第 1 部分：化学有害因素</a:t>
            </a:r>
            <a:endParaRPr sz="2800" b="1" dirty="0">
              <a:latin typeface="微软雅黑" panose="020B0503020204020204" pitchFamily="34" charset="-122"/>
              <a:ea typeface="微软雅黑" panose="020B0503020204020204" pitchFamily="34" charset="-122"/>
            </a:endParaRPr>
          </a:p>
          <a:p>
            <a:pPr algn="l">
              <a:lnSpc>
                <a:spcPct val="130000"/>
              </a:lnSpc>
              <a:buClrTx/>
              <a:buSzTx/>
              <a:buNone/>
            </a:pPr>
            <a:r>
              <a:rPr sz="2800" b="1" dirty="0">
                <a:latin typeface="微软雅黑" panose="020B0503020204020204" pitchFamily="34" charset="-122"/>
                <a:ea typeface="微软雅黑" panose="020B0503020204020204" pitchFamily="34" charset="-122"/>
                <a:sym typeface="+mn-ea"/>
              </a:rPr>
              <a:t>GBZ</a:t>
            </a:r>
            <a:r>
              <a:rPr lang="en-US" sz="2800" b="1" dirty="0">
                <a:latin typeface="微软雅黑" panose="020B0503020204020204" pitchFamily="34" charset="-122"/>
                <a:ea typeface="微软雅黑" panose="020B0503020204020204" pitchFamily="34" charset="-122"/>
                <a:sym typeface="+mn-ea"/>
              </a:rPr>
              <a:t>/T</a:t>
            </a:r>
            <a:r>
              <a:rPr sz="2800" b="1" dirty="0">
                <a:latin typeface="微软雅黑" panose="020B0503020204020204" pitchFamily="34" charset="-122"/>
                <a:ea typeface="微软雅黑" panose="020B0503020204020204" pitchFamily="34" charset="-122"/>
                <a:sym typeface="+mn-ea"/>
              </a:rPr>
              <a:t> </a:t>
            </a:r>
            <a:r>
              <a:rPr lang="en-US" sz="2800" b="1" dirty="0">
                <a:latin typeface="微软雅黑" panose="020B0503020204020204" pitchFamily="34" charset="-122"/>
                <a:ea typeface="微软雅黑" panose="020B0503020204020204" pitchFamily="34" charset="-122"/>
                <a:sym typeface="+mn-ea"/>
              </a:rPr>
              <a:t>260  </a:t>
            </a:r>
            <a:r>
              <a:rPr lang="zh-CN" altLang="en-US" sz="2800" b="1" dirty="0">
                <a:latin typeface="微软雅黑" panose="020B0503020204020204" pitchFamily="34" charset="-122"/>
                <a:ea typeface="微软雅黑" panose="020B0503020204020204" pitchFamily="34" charset="-122"/>
                <a:sym typeface="+mn-ea"/>
              </a:rPr>
              <a:t>职业禁忌症界定导则</a:t>
            </a:r>
            <a:endParaRPr lang="zh-CN" altLang="en-US" sz="2800" b="1" dirty="0">
              <a:latin typeface="微软雅黑" panose="020B0503020204020204" pitchFamily="34" charset="-122"/>
              <a:ea typeface="微软雅黑" panose="020B0503020204020204" pitchFamily="34" charset="-122"/>
              <a:sym typeface="+mn-ea"/>
            </a:endParaRPr>
          </a:p>
          <a:p>
            <a:pPr algn="l">
              <a:lnSpc>
                <a:spcPct val="130000"/>
              </a:lnSpc>
              <a:buClrTx/>
              <a:buSzTx/>
              <a:buNone/>
            </a:pPr>
            <a:r>
              <a:rPr lang="en-US" sz="2800" b="1" dirty="0">
                <a:latin typeface="微软雅黑" panose="020B0503020204020204" pitchFamily="34" charset="-122"/>
                <a:ea typeface="微软雅黑" panose="020B0503020204020204" pitchFamily="34" charset="-122"/>
              </a:rPr>
              <a:t>HG/T 21547  </a:t>
            </a:r>
            <a:r>
              <a:rPr lang="zh-CN" altLang="en-US" sz="2800" b="1" dirty="0">
                <a:latin typeface="微软雅黑" panose="020B0503020204020204" pitchFamily="34" charset="-122"/>
                <a:ea typeface="微软雅黑" panose="020B0503020204020204" pitchFamily="34" charset="-122"/>
              </a:rPr>
              <a:t>管道用钢制插板、垫环、</a:t>
            </a:r>
            <a:r>
              <a:rPr lang="en-US" altLang="zh-CN" sz="2800" b="1" dirty="0">
                <a:latin typeface="微软雅黑" panose="020B0503020204020204" pitchFamily="34" charset="-122"/>
                <a:ea typeface="微软雅黑" panose="020B0503020204020204" pitchFamily="34" charset="-122"/>
              </a:rPr>
              <a:t>8</a:t>
            </a:r>
            <a:r>
              <a:rPr lang="zh-CN" altLang="en-US" sz="2800" b="1" dirty="0">
                <a:latin typeface="微软雅黑" panose="020B0503020204020204" pitchFamily="34" charset="-122"/>
                <a:ea typeface="微软雅黑" panose="020B0503020204020204" pitchFamily="34" charset="-122"/>
              </a:rPr>
              <a:t>字盲板系列</a:t>
            </a:r>
            <a:endParaRPr lang="zh-CN" altLang="en-US" sz="2800" b="1" dirty="0">
              <a:latin typeface="微软雅黑" panose="020B0503020204020204" pitchFamily="34" charset="-122"/>
              <a:ea typeface="微软雅黑" panose="020B0503020204020204" pitchFamily="34" charset="-122"/>
            </a:endParaRPr>
          </a:p>
          <a:p>
            <a:pPr algn="l">
              <a:lnSpc>
                <a:spcPct val="130000"/>
              </a:lnSpc>
              <a:buClrTx/>
              <a:buSzTx/>
              <a:buNone/>
            </a:pPr>
            <a:r>
              <a:rPr lang="en-US" altLang="zh-CN" sz="2800" b="1" dirty="0">
                <a:latin typeface="微软雅黑" panose="020B0503020204020204" pitchFamily="34" charset="-122"/>
                <a:ea typeface="微软雅黑" panose="020B0503020204020204" pitchFamily="34" charset="-122"/>
              </a:rPr>
              <a:t>JB/T 2772  </a:t>
            </a:r>
            <a:r>
              <a:rPr lang="zh-CN" altLang="en-US" sz="2800" b="1" dirty="0">
                <a:latin typeface="微软雅黑" panose="020B0503020204020204" pitchFamily="34" charset="-122"/>
                <a:ea typeface="微软雅黑" panose="020B0503020204020204" pitchFamily="34" charset="-122"/>
              </a:rPr>
              <a:t>阀门零部件</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高压盲板</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03</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术语和定义</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27076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特殊作业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1271270" y="1826260"/>
            <a:ext cx="5575300" cy="3449955"/>
          </a:xfrm>
          <a:prstGeom prst="rect">
            <a:avLst/>
          </a:prstGeom>
          <a:noFill/>
          <a:ln w="9525">
            <a:noFill/>
          </a:ln>
        </p:spPr>
        <p:txBody>
          <a:bodyPr wrap="square">
            <a:spAutoFit/>
          </a:bodyPr>
          <a:lstStyle/>
          <a:p>
            <a:pPr algn="l">
              <a:lnSpc>
                <a:spcPct val="130000"/>
              </a:lnSpc>
              <a:buClrTx/>
              <a:buSzTx/>
              <a:buNone/>
            </a:pPr>
            <a:r>
              <a:rPr lang="zh-CN" sz="2800" b="1" dirty="0">
                <a:latin typeface="微软雅黑" panose="020B0503020204020204" pitchFamily="34" charset="-122"/>
                <a:ea typeface="微软雅黑" panose="020B0503020204020204" pitchFamily="34" charset="-122"/>
              </a:rPr>
              <a:t>危险</a:t>
            </a:r>
            <a:r>
              <a:rPr sz="2800" b="1" dirty="0">
                <a:latin typeface="微软雅黑" panose="020B0503020204020204" pitchFamily="34" charset="-122"/>
                <a:ea typeface="微软雅黑" panose="020B0503020204020204" pitchFamily="34" charset="-122"/>
              </a:rPr>
              <a:t>化学品</a:t>
            </a:r>
            <a:r>
              <a:rPr lang="zh-CN" sz="2800" b="1" dirty="0">
                <a:latin typeface="微软雅黑" panose="020B0503020204020204" pitchFamily="34" charset="-122"/>
                <a:ea typeface="微软雅黑" panose="020B0503020204020204" pitchFamily="34" charset="-122"/>
              </a:rPr>
              <a:t>企业生产经营过程中可能</a:t>
            </a:r>
            <a:r>
              <a:rPr sz="2800" b="1" dirty="0">
                <a:latin typeface="微软雅黑" panose="020B0503020204020204" pitchFamily="34" charset="-122"/>
                <a:ea typeface="微软雅黑" panose="020B0503020204020204" pitchFamily="34" charset="-122"/>
              </a:rPr>
              <a:t>涉及的动火、进入受限空间、盲板抽堵、高处作业、吊装、临时用电、动土</a:t>
            </a:r>
            <a:r>
              <a:rPr lang="zh-CN" sz="2800" b="1" dirty="0">
                <a:latin typeface="微软雅黑" panose="020B0503020204020204" pitchFamily="34" charset="-122"/>
                <a:ea typeface="微软雅黑" panose="020B0503020204020204" pitchFamily="34" charset="-122"/>
              </a:rPr>
              <a:t>、</a:t>
            </a:r>
            <a:r>
              <a:rPr sz="2800" b="1" dirty="0">
                <a:latin typeface="微软雅黑" panose="020B0503020204020204" pitchFamily="34" charset="-122"/>
                <a:ea typeface="微软雅黑" panose="020B0503020204020204" pitchFamily="34" charset="-122"/>
              </a:rPr>
              <a:t>断</a:t>
            </a:r>
            <a:r>
              <a:rPr lang="zh-CN" sz="2800" b="1" dirty="0">
                <a:latin typeface="微软雅黑" panose="020B0503020204020204" pitchFamily="34" charset="-122"/>
                <a:ea typeface="微软雅黑" panose="020B0503020204020204" pitchFamily="34" charset="-122"/>
              </a:rPr>
              <a:t>路等，对作业者</a:t>
            </a:r>
            <a:r>
              <a:rPr lang="zh-CN" sz="2800" b="1" dirty="0">
                <a:solidFill>
                  <a:srgbClr val="C00000"/>
                </a:solidFill>
                <a:latin typeface="微软雅黑" panose="020B0503020204020204" pitchFamily="34" charset="-122"/>
                <a:ea typeface="微软雅黑" panose="020B0503020204020204" pitchFamily="34" charset="-122"/>
              </a:rPr>
              <a:t>本人、他人</a:t>
            </a:r>
            <a:r>
              <a:rPr lang="zh-CN" sz="2800" b="1" dirty="0">
                <a:latin typeface="微软雅黑" panose="020B0503020204020204" pitchFamily="34" charset="-122"/>
                <a:ea typeface="微软雅黑" panose="020B0503020204020204" pitchFamily="34" charset="-122"/>
              </a:rPr>
              <a:t>及周围建（</a:t>
            </a:r>
            <a:r>
              <a:rPr lang="zh-CN" sz="2800" b="1" dirty="0">
                <a:latin typeface="微软雅黑" panose="020B0503020204020204" pitchFamily="34" charset="-122"/>
                <a:ea typeface="微软雅黑" panose="020B0503020204020204" pitchFamily="34" charset="-122"/>
                <a:sym typeface="+mn-ea"/>
              </a:rPr>
              <a:t>构</a:t>
            </a:r>
            <a:r>
              <a:rPr lang="zh-CN" sz="2800" b="1" dirty="0">
                <a:latin typeface="微软雅黑" panose="020B0503020204020204" pitchFamily="34" charset="-122"/>
                <a:ea typeface="微软雅黑" panose="020B0503020204020204" pitchFamily="34" charset="-122"/>
              </a:rPr>
              <a:t>）筑物、设备设施可能造成危害或损毁的作业。</a:t>
            </a:r>
            <a:endParaRPr lang="zh-CN" sz="2800" b="1" dirty="0">
              <a:latin typeface="微软雅黑" panose="020B0503020204020204" pitchFamily="34" charset="-122"/>
              <a:ea typeface="微软雅黑" panose="020B0503020204020204" pitchFamily="34" charset="-122"/>
            </a:endParaRPr>
          </a:p>
        </p:txBody>
      </p:sp>
      <p:sp>
        <p:nvSpPr>
          <p:cNvPr id="30" name="Cloud Callout 11"/>
          <p:cNvSpPr/>
          <p:nvPr/>
        </p:nvSpPr>
        <p:spPr bwMode="auto">
          <a:xfrm>
            <a:off x="8340725" y="2023745"/>
            <a:ext cx="2346325" cy="1814195"/>
          </a:xfrm>
          <a:prstGeom prst="cloudCallout">
            <a:avLst>
              <a:gd name="adj1" fmla="val -87031"/>
              <a:gd name="adj2" fmla="val 92479"/>
            </a:avLst>
          </a:prstGeom>
          <a:solidFill>
            <a:srgbClr val="C00000"/>
          </a:solidFill>
          <a:ln>
            <a:solidFill>
              <a:schemeClr val="accent1"/>
            </a:solidFill>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2"/>
          </a:lnRef>
          <a:fillRef idx="3">
            <a:schemeClr val="accent2"/>
          </a:fillRef>
          <a:effectRef idx="2">
            <a:schemeClr val="accent2"/>
          </a:effectRef>
          <a:fontRef idx="minor">
            <a:schemeClr val="lt1"/>
          </a:fontRef>
        </p:style>
        <p:txBody>
          <a:bodyPr wrap="none" lIns="0" tIns="38086" rIns="38086" bIns="76165" anchor="b"/>
          <a:lstStyle/>
          <a:p>
            <a:pPr algn="ctr" defTabSz="1289685">
              <a:defRPr/>
            </a:pP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rPr>
              <a:t>   </a:t>
            </a: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rPr>
              <a:t>能造成哪些</a:t>
            </a:r>
            <a:endPar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endParaRPr>
          </a:p>
          <a:p>
            <a:pPr algn="ctr" defTabSz="1289685">
              <a:defRPr/>
            </a:pP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rPr>
              <a:t>  </a:t>
            </a: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rPr>
              <a:t>事故</a:t>
            </a:r>
            <a:endPar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3507105"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火灾爆炸危险场所</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863600" y="2096135"/>
            <a:ext cx="4443730" cy="3449955"/>
          </a:xfrm>
          <a:prstGeom prst="rect">
            <a:avLst/>
          </a:prstGeom>
          <a:noFill/>
          <a:ln w="9525">
            <a:noFill/>
          </a:ln>
        </p:spPr>
        <p:txBody>
          <a:bodyPr wrap="square">
            <a:spAutoFit/>
          </a:bodyPr>
          <a:lstStyle/>
          <a:p>
            <a:pPr algn="l">
              <a:lnSpc>
                <a:spcPct val="130000"/>
              </a:lnSpc>
              <a:buClrTx/>
              <a:buSzTx/>
              <a:buNone/>
            </a:pPr>
            <a:r>
              <a:rPr lang="zh-CN" sz="2800" b="1" dirty="0">
                <a:latin typeface="微软雅黑" panose="020B0503020204020204" pitchFamily="34" charset="-122"/>
                <a:ea typeface="微软雅黑" panose="020B0503020204020204" pitchFamily="34" charset="-122"/>
              </a:rPr>
              <a:t>能够与空气形成爆炸性混合物的气体</a:t>
            </a:r>
            <a:r>
              <a:rPr lang="zh-CN" altLang="en-US" sz="2800" b="1" dirty="0">
                <a:latin typeface="微软雅黑" panose="020B0503020204020204" pitchFamily="34" charset="-122"/>
                <a:ea typeface="微软雅黑" panose="020B0503020204020204" pitchFamily="34" charset="-122"/>
              </a:rPr>
              <a:t>、蒸汽、粉尘等介质环境以及在高温、受热、摩擦、撞击、自燃等情况下可能引发火灾、爆炸的场所。</a:t>
            </a:r>
            <a:endParaRPr lang="zh-CN" altLang="en-US" sz="2800" b="1" dirty="0">
              <a:latin typeface="微软雅黑" panose="020B0503020204020204" pitchFamily="34" charset="-122"/>
              <a:ea typeface="微软雅黑" panose="020B0503020204020204" pitchFamily="34" charset="-122"/>
            </a:endParaRPr>
          </a:p>
        </p:txBody>
      </p:sp>
      <p:grpSp>
        <p:nvGrpSpPr>
          <p:cNvPr id="3" name="组合 13"/>
          <p:cNvGrpSpPr/>
          <p:nvPr/>
        </p:nvGrpSpPr>
        <p:grpSpPr>
          <a:xfrm>
            <a:off x="5164455" y="1648460"/>
            <a:ext cx="2081530" cy="1099820"/>
            <a:chOff x="2544233" y="4448176"/>
            <a:chExt cx="4929718" cy="1546225"/>
          </a:xfrm>
        </p:grpSpPr>
        <p:sp>
          <p:nvSpPr>
            <p:cNvPr id="21" name="MH_Other_2"/>
            <p:cNvSpPr/>
            <p:nvPr>
              <p:custDataLst>
                <p:tags r:id="rId2"/>
              </p:custDataLst>
            </p:nvPr>
          </p:nvSpPr>
          <p:spPr bwMode="auto">
            <a:xfrm flipH="1">
              <a:off x="2973918" y="4799014"/>
              <a:ext cx="1119716" cy="776287"/>
            </a:xfrm>
            <a:custGeom>
              <a:avLst/>
              <a:gdLst>
                <a:gd name="T0" fmla="*/ 48 w 132"/>
                <a:gd name="T1" fmla="*/ 132 h 132"/>
                <a:gd name="T2" fmla="*/ 54 w 132"/>
                <a:gd name="T3" fmla="*/ 132 h 132"/>
                <a:gd name="T4" fmla="*/ 57 w 132"/>
                <a:gd name="T5" fmla="*/ 132 h 132"/>
                <a:gd name="T6" fmla="*/ 63 w 132"/>
                <a:gd name="T7" fmla="*/ 132 h 132"/>
                <a:gd name="T8" fmla="*/ 67 w 132"/>
                <a:gd name="T9" fmla="*/ 131 h 132"/>
                <a:gd name="T10" fmla="*/ 76 w 132"/>
                <a:gd name="T11" fmla="*/ 131 h 132"/>
                <a:gd name="T12" fmla="*/ 79 w 132"/>
                <a:gd name="T13" fmla="*/ 131 h 132"/>
                <a:gd name="T14" fmla="*/ 85 w 132"/>
                <a:gd name="T15" fmla="*/ 130 h 132"/>
                <a:gd name="T16" fmla="*/ 87 w 132"/>
                <a:gd name="T17" fmla="*/ 130 h 132"/>
                <a:gd name="T18" fmla="*/ 94 w 132"/>
                <a:gd name="T19" fmla="*/ 129 h 132"/>
                <a:gd name="T20" fmla="*/ 100 w 132"/>
                <a:gd name="T21" fmla="*/ 128 h 132"/>
                <a:gd name="T22" fmla="*/ 103 w 132"/>
                <a:gd name="T23" fmla="*/ 128 h 132"/>
                <a:gd name="T24" fmla="*/ 107 w 132"/>
                <a:gd name="T25" fmla="*/ 127 h 132"/>
                <a:gd name="T26" fmla="*/ 110 w 132"/>
                <a:gd name="T27" fmla="*/ 126 h 132"/>
                <a:gd name="T28" fmla="*/ 114 w 132"/>
                <a:gd name="T29" fmla="*/ 125 h 132"/>
                <a:gd name="T30" fmla="*/ 121 w 132"/>
                <a:gd name="T31" fmla="*/ 123 h 132"/>
                <a:gd name="T32" fmla="*/ 126 w 132"/>
                <a:gd name="T33" fmla="*/ 121 h 132"/>
                <a:gd name="T34" fmla="*/ 130 w 132"/>
                <a:gd name="T35" fmla="*/ 118 h 132"/>
                <a:gd name="T36" fmla="*/ 132 w 132"/>
                <a:gd name="T37" fmla="*/ 115 h 132"/>
                <a:gd name="T38" fmla="*/ 130 w 132"/>
                <a:gd name="T39" fmla="*/ 3 h 132"/>
                <a:gd name="T40" fmla="*/ 127 w 132"/>
                <a:gd name="T41" fmla="*/ 6 h 132"/>
                <a:gd name="T42" fmla="*/ 121 w 132"/>
                <a:gd name="T43" fmla="*/ 8 h 132"/>
                <a:gd name="T44" fmla="*/ 115 w 132"/>
                <a:gd name="T45" fmla="*/ 10 h 132"/>
                <a:gd name="T46" fmla="*/ 110 w 132"/>
                <a:gd name="T47" fmla="*/ 12 h 132"/>
                <a:gd name="T48" fmla="*/ 105 w 132"/>
                <a:gd name="T49" fmla="*/ 13 h 132"/>
                <a:gd name="T50" fmla="*/ 99 w 132"/>
                <a:gd name="T51" fmla="*/ 13 h 132"/>
                <a:gd name="T52" fmla="*/ 86 w 132"/>
                <a:gd name="T53" fmla="*/ 15 h 132"/>
                <a:gd name="T54" fmla="*/ 78 w 132"/>
                <a:gd name="T55" fmla="*/ 16 h 132"/>
                <a:gd name="T56" fmla="*/ 62 w 132"/>
                <a:gd name="T57" fmla="*/ 17 h 132"/>
                <a:gd name="T58" fmla="*/ 54 w 132"/>
                <a:gd name="T59" fmla="*/ 17 h 132"/>
                <a:gd name="T60" fmla="*/ 0 w 132"/>
                <a:gd name="T61" fmla="*/ 17 h 132"/>
                <a:gd name="T62" fmla="*/ 45 w 132"/>
                <a:gd name="T6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32">
                  <a:moveTo>
                    <a:pt x="45" y="132"/>
                  </a:moveTo>
                  <a:cubicBezTo>
                    <a:pt x="46" y="132"/>
                    <a:pt x="48" y="132"/>
                    <a:pt x="48" y="132"/>
                  </a:cubicBezTo>
                  <a:cubicBezTo>
                    <a:pt x="50" y="132"/>
                    <a:pt x="51" y="132"/>
                    <a:pt x="53" y="132"/>
                  </a:cubicBezTo>
                  <a:cubicBezTo>
                    <a:pt x="53" y="132"/>
                    <a:pt x="54" y="132"/>
                    <a:pt x="54" y="132"/>
                  </a:cubicBezTo>
                  <a:cubicBezTo>
                    <a:pt x="54" y="132"/>
                    <a:pt x="54" y="132"/>
                    <a:pt x="55" y="132"/>
                  </a:cubicBezTo>
                  <a:cubicBezTo>
                    <a:pt x="56" y="132"/>
                    <a:pt x="57" y="132"/>
                    <a:pt x="57" y="132"/>
                  </a:cubicBezTo>
                  <a:cubicBezTo>
                    <a:pt x="59" y="132"/>
                    <a:pt x="61" y="132"/>
                    <a:pt x="62" y="132"/>
                  </a:cubicBezTo>
                  <a:cubicBezTo>
                    <a:pt x="62" y="132"/>
                    <a:pt x="62" y="132"/>
                    <a:pt x="63" y="132"/>
                  </a:cubicBezTo>
                  <a:cubicBezTo>
                    <a:pt x="63" y="132"/>
                    <a:pt x="63" y="132"/>
                    <a:pt x="63" y="132"/>
                  </a:cubicBezTo>
                  <a:cubicBezTo>
                    <a:pt x="64" y="132"/>
                    <a:pt x="65" y="132"/>
                    <a:pt x="67" y="131"/>
                  </a:cubicBezTo>
                  <a:cubicBezTo>
                    <a:pt x="68" y="131"/>
                    <a:pt x="70" y="131"/>
                    <a:pt x="71" y="131"/>
                  </a:cubicBezTo>
                  <a:cubicBezTo>
                    <a:pt x="73" y="131"/>
                    <a:pt x="74" y="131"/>
                    <a:pt x="76" y="131"/>
                  </a:cubicBezTo>
                  <a:cubicBezTo>
                    <a:pt x="77" y="131"/>
                    <a:pt x="78" y="131"/>
                    <a:pt x="78" y="131"/>
                  </a:cubicBezTo>
                  <a:cubicBezTo>
                    <a:pt x="79" y="131"/>
                    <a:pt x="79" y="131"/>
                    <a:pt x="79" y="131"/>
                  </a:cubicBezTo>
                  <a:cubicBezTo>
                    <a:pt x="80" y="131"/>
                    <a:pt x="80" y="131"/>
                    <a:pt x="80" y="131"/>
                  </a:cubicBezTo>
                  <a:cubicBezTo>
                    <a:pt x="82" y="130"/>
                    <a:pt x="83" y="130"/>
                    <a:pt x="85" y="130"/>
                  </a:cubicBezTo>
                  <a:cubicBezTo>
                    <a:pt x="85" y="130"/>
                    <a:pt x="86" y="130"/>
                    <a:pt x="86" y="130"/>
                  </a:cubicBezTo>
                  <a:cubicBezTo>
                    <a:pt x="86" y="130"/>
                    <a:pt x="87" y="130"/>
                    <a:pt x="87" y="130"/>
                  </a:cubicBezTo>
                  <a:cubicBezTo>
                    <a:pt x="88" y="130"/>
                    <a:pt x="89" y="130"/>
                    <a:pt x="89" y="130"/>
                  </a:cubicBezTo>
                  <a:cubicBezTo>
                    <a:pt x="91" y="129"/>
                    <a:pt x="92" y="129"/>
                    <a:pt x="94" y="129"/>
                  </a:cubicBezTo>
                  <a:cubicBezTo>
                    <a:pt x="95" y="129"/>
                    <a:pt x="97" y="129"/>
                    <a:pt x="98" y="128"/>
                  </a:cubicBezTo>
                  <a:cubicBezTo>
                    <a:pt x="99" y="128"/>
                    <a:pt x="99" y="128"/>
                    <a:pt x="100" y="128"/>
                  </a:cubicBezTo>
                  <a:cubicBezTo>
                    <a:pt x="100" y="128"/>
                    <a:pt x="101" y="128"/>
                    <a:pt x="101" y="128"/>
                  </a:cubicBezTo>
                  <a:cubicBezTo>
                    <a:pt x="102" y="128"/>
                    <a:pt x="103" y="128"/>
                    <a:pt x="103" y="128"/>
                  </a:cubicBezTo>
                  <a:cubicBezTo>
                    <a:pt x="104" y="127"/>
                    <a:pt x="104" y="127"/>
                    <a:pt x="105" y="127"/>
                  </a:cubicBezTo>
                  <a:cubicBezTo>
                    <a:pt x="106" y="127"/>
                    <a:pt x="107" y="127"/>
                    <a:pt x="107" y="127"/>
                  </a:cubicBezTo>
                  <a:cubicBezTo>
                    <a:pt x="108" y="127"/>
                    <a:pt x="108" y="127"/>
                    <a:pt x="108" y="127"/>
                  </a:cubicBezTo>
                  <a:cubicBezTo>
                    <a:pt x="109" y="126"/>
                    <a:pt x="109" y="126"/>
                    <a:pt x="110" y="126"/>
                  </a:cubicBezTo>
                  <a:cubicBezTo>
                    <a:pt x="111" y="126"/>
                    <a:pt x="112" y="126"/>
                    <a:pt x="113" y="126"/>
                  </a:cubicBezTo>
                  <a:cubicBezTo>
                    <a:pt x="113" y="125"/>
                    <a:pt x="114" y="125"/>
                    <a:pt x="114" y="125"/>
                  </a:cubicBezTo>
                  <a:cubicBezTo>
                    <a:pt x="114" y="125"/>
                    <a:pt x="115" y="125"/>
                    <a:pt x="115" y="125"/>
                  </a:cubicBezTo>
                  <a:cubicBezTo>
                    <a:pt x="117" y="124"/>
                    <a:pt x="119" y="124"/>
                    <a:pt x="121" y="123"/>
                  </a:cubicBezTo>
                  <a:cubicBezTo>
                    <a:pt x="122" y="123"/>
                    <a:pt x="122" y="123"/>
                    <a:pt x="122" y="123"/>
                  </a:cubicBezTo>
                  <a:cubicBezTo>
                    <a:pt x="124" y="122"/>
                    <a:pt x="125" y="122"/>
                    <a:pt x="126" y="121"/>
                  </a:cubicBezTo>
                  <a:cubicBezTo>
                    <a:pt x="127" y="121"/>
                    <a:pt x="127" y="121"/>
                    <a:pt x="127" y="120"/>
                  </a:cubicBezTo>
                  <a:cubicBezTo>
                    <a:pt x="128" y="120"/>
                    <a:pt x="129" y="119"/>
                    <a:pt x="130" y="118"/>
                  </a:cubicBezTo>
                  <a:cubicBezTo>
                    <a:pt x="130" y="118"/>
                    <a:pt x="130" y="118"/>
                    <a:pt x="131" y="118"/>
                  </a:cubicBezTo>
                  <a:cubicBezTo>
                    <a:pt x="131" y="117"/>
                    <a:pt x="132" y="116"/>
                    <a:pt x="132" y="115"/>
                  </a:cubicBezTo>
                  <a:cubicBezTo>
                    <a:pt x="131" y="0"/>
                    <a:pt x="131" y="0"/>
                    <a:pt x="131" y="0"/>
                  </a:cubicBezTo>
                  <a:cubicBezTo>
                    <a:pt x="131" y="1"/>
                    <a:pt x="131" y="2"/>
                    <a:pt x="130" y="3"/>
                  </a:cubicBezTo>
                  <a:cubicBezTo>
                    <a:pt x="130" y="3"/>
                    <a:pt x="130" y="3"/>
                    <a:pt x="130" y="3"/>
                  </a:cubicBezTo>
                  <a:cubicBezTo>
                    <a:pt x="129" y="4"/>
                    <a:pt x="128" y="5"/>
                    <a:pt x="127" y="6"/>
                  </a:cubicBezTo>
                  <a:cubicBezTo>
                    <a:pt x="127" y="6"/>
                    <a:pt x="126" y="6"/>
                    <a:pt x="126" y="6"/>
                  </a:cubicBezTo>
                  <a:cubicBezTo>
                    <a:pt x="125" y="7"/>
                    <a:pt x="123" y="8"/>
                    <a:pt x="121" y="8"/>
                  </a:cubicBezTo>
                  <a:cubicBezTo>
                    <a:pt x="121" y="8"/>
                    <a:pt x="121" y="8"/>
                    <a:pt x="121" y="8"/>
                  </a:cubicBezTo>
                  <a:cubicBezTo>
                    <a:pt x="119" y="9"/>
                    <a:pt x="117" y="10"/>
                    <a:pt x="115" y="10"/>
                  </a:cubicBezTo>
                  <a:cubicBezTo>
                    <a:pt x="114" y="10"/>
                    <a:pt x="113" y="11"/>
                    <a:pt x="113" y="11"/>
                  </a:cubicBezTo>
                  <a:cubicBezTo>
                    <a:pt x="112" y="11"/>
                    <a:pt x="111" y="11"/>
                    <a:pt x="110" y="12"/>
                  </a:cubicBezTo>
                  <a:cubicBezTo>
                    <a:pt x="109" y="12"/>
                    <a:pt x="108" y="12"/>
                    <a:pt x="107" y="12"/>
                  </a:cubicBezTo>
                  <a:cubicBezTo>
                    <a:pt x="106" y="12"/>
                    <a:pt x="105" y="12"/>
                    <a:pt x="105" y="13"/>
                  </a:cubicBezTo>
                  <a:cubicBezTo>
                    <a:pt x="104" y="13"/>
                    <a:pt x="102" y="13"/>
                    <a:pt x="101" y="13"/>
                  </a:cubicBezTo>
                  <a:cubicBezTo>
                    <a:pt x="100" y="13"/>
                    <a:pt x="100" y="13"/>
                    <a:pt x="99" y="13"/>
                  </a:cubicBezTo>
                  <a:cubicBezTo>
                    <a:pt x="96" y="14"/>
                    <a:pt x="91" y="15"/>
                    <a:pt x="87" y="15"/>
                  </a:cubicBezTo>
                  <a:cubicBezTo>
                    <a:pt x="87" y="15"/>
                    <a:pt x="86" y="15"/>
                    <a:pt x="86" y="15"/>
                  </a:cubicBezTo>
                  <a:cubicBezTo>
                    <a:pt x="83" y="15"/>
                    <a:pt x="81" y="16"/>
                    <a:pt x="79" y="16"/>
                  </a:cubicBezTo>
                  <a:cubicBezTo>
                    <a:pt x="79" y="16"/>
                    <a:pt x="78" y="16"/>
                    <a:pt x="78" y="16"/>
                  </a:cubicBezTo>
                  <a:cubicBezTo>
                    <a:pt x="73" y="16"/>
                    <a:pt x="68" y="17"/>
                    <a:pt x="63" y="17"/>
                  </a:cubicBezTo>
                  <a:cubicBezTo>
                    <a:pt x="63" y="17"/>
                    <a:pt x="63" y="17"/>
                    <a:pt x="62" y="17"/>
                  </a:cubicBezTo>
                  <a:cubicBezTo>
                    <a:pt x="60" y="17"/>
                    <a:pt x="57" y="17"/>
                    <a:pt x="55" y="17"/>
                  </a:cubicBezTo>
                  <a:cubicBezTo>
                    <a:pt x="54" y="17"/>
                    <a:pt x="54" y="17"/>
                    <a:pt x="54" y="17"/>
                  </a:cubicBezTo>
                  <a:cubicBezTo>
                    <a:pt x="51" y="17"/>
                    <a:pt x="48" y="17"/>
                    <a:pt x="45" y="17"/>
                  </a:cubicBezTo>
                  <a:cubicBezTo>
                    <a:pt x="0" y="17"/>
                    <a:pt x="0" y="17"/>
                    <a:pt x="0" y="17"/>
                  </a:cubicBezTo>
                  <a:cubicBezTo>
                    <a:pt x="0" y="132"/>
                    <a:pt x="0" y="132"/>
                    <a:pt x="0" y="132"/>
                  </a:cubicBezTo>
                  <a:lnTo>
                    <a:pt x="45" y="132"/>
                  </a:lnTo>
                  <a:close/>
                </a:path>
              </a:pathLst>
            </a:custGeom>
            <a:solidFill>
              <a:schemeClr val="accent4">
                <a:lumMod val="75000"/>
              </a:schemeClr>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pic>
          <p:nvPicPr>
            <p:cNvPr id="22" name="MH_Other_6"/>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2544233" y="4448176"/>
              <a:ext cx="2051051"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MH_Other_12"/>
            <p:cNvSpPr/>
            <p:nvPr>
              <p:custDataLst>
                <p:tags r:id="rId5"/>
              </p:custDataLst>
            </p:nvPr>
          </p:nvSpPr>
          <p:spPr bwMode="auto">
            <a:xfrm flipH="1">
              <a:off x="2957047" y="4522471"/>
              <a:ext cx="4490781" cy="1052195"/>
            </a:xfrm>
            <a:custGeom>
              <a:avLst/>
              <a:gdLst>
                <a:gd name="T0" fmla="*/ 593 w 594"/>
                <a:gd name="T1" fmla="*/ 157 h 179"/>
                <a:gd name="T2" fmla="*/ 592 w 594"/>
                <a:gd name="T3" fmla="*/ 156 h 179"/>
                <a:gd name="T4" fmla="*/ 577 w 594"/>
                <a:gd name="T5" fmla="*/ 149 h 179"/>
                <a:gd name="T6" fmla="*/ 576 w 594"/>
                <a:gd name="T7" fmla="*/ 148 h 179"/>
                <a:gd name="T8" fmla="*/ 572 w 594"/>
                <a:gd name="T9" fmla="*/ 147 h 179"/>
                <a:gd name="T10" fmla="*/ 572 w 594"/>
                <a:gd name="T11" fmla="*/ 148 h 179"/>
                <a:gd name="T12" fmla="*/ 566 w 594"/>
                <a:gd name="T13" fmla="*/ 147 h 179"/>
                <a:gd name="T14" fmla="*/ 566 w 594"/>
                <a:gd name="T15" fmla="*/ 146 h 179"/>
                <a:gd name="T16" fmla="*/ 565 w 594"/>
                <a:gd name="T17" fmla="*/ 146 h 179"/>
                <a:gd name="T18" fmla="*/ 564 w 594"/>
                <a:gd name="T19" fmla="*/ 146 h 179"/>
                <a:gd name="T20" fmla="*/ 557 w 594"/>
                <a:gd name="T21" fmla="*/ 145 h 179"/>
                <a:gd name="T22" fmla="*/ 557 w 594"/>
                <a:gd name="T23" fmla="*/ 145 h 179"/>
                <a:gd name="T24" fmla="*/ 557 w 594"/>
                <a:gd name="T25" fmla="*/ 145 h 179"/>
                <a:gd name="T26" fmla="*/ 548 w 594"/>
                <a:gd name="T27" fmla="*/ 144 h 179"/>
                <a:gd name="T28" fmla="*/ 549 w 594"/>
                <a:gd name="T29" fmla="*/ 143 h 179"/>
                <a:gd name="T30" fmla="*/ 548 w 594"/>
                <a:gd name="T31" fmla="*/ 144 h 179"/>
                <a:gd name="T32" fmla="*/ 506 w 594"/>
                <a:gd name="T33" fmla="*/ 142 h 179"/>
                <a:gd name="T34" fmla="*/ 139 w 594"/>
                <a:gd name="T35" fmla="*/ 143 h 179"/>
                <a:gd name="T36" fmla="*/ 139 w 594"/>
                <a:gd name="T37" fmla="*/ 166 h 179"/>
                <a:gd name="T38" fmla="*/ 134 w 594"/>
                <a:gd name="T39" fmla="*/ 178 h 179"/>
                <a:gd name="T40" fmla="*/ 124 w 594"/>
                <a:gd name="T41" fmla="*/ 176 h 179"/>
                <a:gd name="T42" fmla="*/ 6 w 594"/>
                <a:gd name="T43" fmla="*/ 100 h 179"/>
                <a:gd name="T44" fmla="*/ 0 w 594"/>
                <a:gd name="T45" fmla="*/ 90 h 179"/>
                <a:gd name="T46" fmla="*/ 6 w 594"/>
                <a:gd name="T47" fmla="*/ 80 h 179"/>
                <a:gd name="T48" fmla="*/ 124 w 594"/>
                <a:gd name="T49" fmla="*/ 3 h 179"/>
                <a:gd name="T50" fmla="*/ 134 w 594"/>
                <a:gd name="T51" fmla="*/ 1 h 179"/>
                <a:gd name="T52" fmla="*/ 139 w 594"/>
                <a:gd name="T53" fmla="*/ 13 h 179"/>
                <a:gd name="T54" fmla="*/ 139 w 594"/>
                <a:gd name="T55" fmla="*/ 31 h 179"/>
                <a:gd name="T56" fmla="*/ 512 w 594"/>
                <a:gd name="T57" fmla="*/ 30 h 179"/>
                <a:gd name="T58" fmla="*/ 518 w 594"/>
                <a:gd name="T59" fmla="*/ 30 h 179"/>
                <a:gd name="T60" fmla="*/ 533 w 594"/>
                <a:gd name="T61" fmla="*/ 31 h 179"/>
                <a:gd name="T62" fmla="*/ 547 w 594"/>
                <a:gd name="T63" fmla="*/ 32 h 179"/>
                <a:gd name="T64" fmla="*/ 558 w 594"/>
                <a:gd name="T65" fmla="*/ 33 h 179"/>
                <a:gd name="T66" fmla="*/ 569 w 594"/>
                <a:gd name="T67" fmla="*/ 35 h 179"/>
                <a:gd name="T68" fmla="*/ 573 w 594"/>
                <a:gd name="T69" fmla="*/ 36 h 179"/>
                <a:gd name="T70" fmla="*/ 577 w 594"/>
                <a:gd name="T71" fmla="*/ 37 h 179"/>
                <a:gd name="T72" fmla="*/ 582 w 594"/>
                <a:gd name="T73" fmla="*/ 38 h 179"/>
                <a:gd name="T74" fmla="*/ 586 w 594"/>
                <a:gd name="T75" fmla="*/ 39 h 179"/>
                <a:gd name="T76" fmla="*/ 587 w 594"/>
                <a:gd name="T77" fmla="*/ 40 h 179"/>
                <a:gd name="T78" fmla="*/ 589 w 594"/>
                <a:gd name="T79" fmla="*/ 41 h 179"/>
                <a:gd name="T80" fmla="*/ 591 w 594"/>
                <a:gd name="T81" fmla="*/ 42 h 179"/>
                <a:gd name="T82" fmla="*/ 592 w 594"/>
                <a:gd name="T83" fmla="*/ 43 h 179"/>
                <a:gd name="T84" fmla="*/ 593 w 594"/>
                <a:gd name="T85" fmla="*/ 44 h 179"/>
                <a:gd name="T86" fmla="*/ 594 w 594"/>
                <a:gd name="T87" fmla="*/ 156 h 179"/>
                <a:gd name="T88" fmla="*/ 593 w 594"/>
                <a:gd name="T89" fmla="*/ 15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4" h="179">
                  <a:moveTo>
                    <a:pt x="593" y="157"/>
                  </a:moveTo>
                  <a:cubicBezTo>
                    <a:pt x="592" y="156"/>
                    <a:pt x="592" y="156"/>
                    <a:pt x="592" y="156"/>
                  </a:cubicBezTo>
                  <a:cubicBezTo>
                    <a:pt x="589" y="153"/>
                    <a:pt x="584" y="151"/>
                    <a:pt x="577" y="149"/>
                  </a:cubicBezTo>
                  <a:cubicBezTo>
                    <a:pt x="576" y="148"/>
                    <a:pt x="576" y="148"/>
                    <a:pt x="576" y="148"/>
                  </a:cubicBezTo>
                  <a:cubicBezTo>
                    <a:pt x="572" y="147"/>
                    <a:pt x="572" y="147"/>
                    <a:pt x="572" y="147"/>
                  </a:cubicBezTo>
                  <a:cubicBezTo>
                    <a:pt x="572" y="148"/>
                    <a:pt x="572" y="148"/>
                    <a:pt x="572" y="148"/>
                  </a:cubicBezTo>
                  <a:cubicBezTo>
                    <a:pt x="570" y="147"/>
                    <a:pt x="568" y="147"/>
                    <a:pt x="566" y="147"/>
                  </a:cubicBezTo>
                  <a:cubicBezTo>
                    <a:pt x="566" y="146"/>
                    <a:pt x="566" y="146"/>
                    <a:pt x="566" y="146"/>
                  </a:cubicBezTo>
                  <a:cubicBezTo>
                    <a:pt x="565" y="146"/>
                    <a:pt x="565" y="146"/>
                    <a:pt x="565" y="146"/>
                  </a:cubicBezTo>
                  <a:cubicBezTo>
                    <a:pt x="564" y="146"/>
                    <a:pt x="564" y="146"/>
                    <a:pt x="564" y="146"/>
                  </a:cubicBezTo>
                  <a:cubicBezTo>
                    <a:pt x="562" y="146"/>
                    <a:pt x="560" y="145"/>
                    <a:pt x="557" y="145"/>
                  </a:cubicBezTo>
                  <a:cubicBezTo>
                    <a:pt x="557" y="145"/>
                    <a:pt x="557" y="145"/>
                    <a:pt x="557" y="145"/>
                  </a:cubicBezTo>
                  <a:cubicBezTo>
                    <a:pt x="557" y="145"/>
                    <a:pt x="557" y="145"/>
                    <a:pt x="557" y="145"/>
                  </a:cubicBezTo>
                  <a:cubicBezTo>
                    <a:pt x="554" y="145"/>
                    <a:pt x="551" y="144"/>
                    <a:pt x="548" y="144"/>
                  </a:cubicBezTo>
                  <a:cubicBezTo>
                    <a:pt x="549" y="143"/>
                    <a:pt x="549" y="143"/>
                    <a:pt x="549" y="143"/>
                  </a:cubicBezTo>
                  <a:cubicBezTo>
                    <a:pt x="548" y="144"/>
                    <a:pt x="548" y="144"/>
                    <a:pt x="548" y="144"/>
                  </a:cubicBezTo>
                  <a:cubicBezTo>
                    <a:pt x="536" y="143"/>
                    <a:pt x="521" y="142"/>
                    <a:pt x="506" y="142"/>
                  </a:cubicBezTo>
                  <a:cubicBezTo>
                    <a:pt x="139" y="143"/>
                    <a:pt x="139" y="143"/>
                    <a:pt x="139" y="143"/>
                  </a:cubicBezTo>
                  <a:cubicBezTo>
                    <a:pt x="139" y="166"/>
                    <a:pt x="139" y="166"/>
                    <a:pt x="139" y="166"/>
                  </a:cubicBezTo>
                  <a:cubicBezTo>
                    <a:pt x="139" y="172"/>
                    <a:pt x="138" y="176"/>
                    <a:pt x="134" y="178"/>
                  </a:cubicBezTo>
                  <a:cubicBezTo>
                    <a:pt x="132" y="179"/>
                    <a:pt x="128" y="179"/>
                    <a:pt x="124" y="176"/>
                  </a:cubicBezTo>
                  <a:cubicBezTo>
                    <a:pt x="6" y="100"/>
                    <a:pt x="6" y="100"/>
                    <a:pt x="6" y="100"/>
                  </a:cubicBezTo>
                  <a:cubicBezTo>
                    <a:pt x="2" y="97"/>
                    <a:pt x="0" y="93"/>
                    <a:pt x="0" y="90"/>
                  </a:cubicBezTo>
                  <a:cubicBezTo>
                    <a:pt x="0" y="86"/>
                    <a:pt x="2" y="82"/>
                    <a:pt x="6" y="80"/>
                  </a:cubicBezTo>
                  <a:cubicBezTo>
                    <a:pt x="124" y="3"/>
                    <a:pt x="124" y="3"/>
                    <a:pt x="124" y="3"/>
                  </a:cubicBezTo>
                  <a:cubicBezTo>
                    <a:pt x="128" y="1"/>
                    <a:pt x="132" y="0"/>
                    <a:pt x="134" y="1"/>
                  </a:cubicBezTo>
                  <a:cubicBezTo>
                    <a:pt x="138" y="3"/>
                    <a:pt x="139" y="7"/>
                    <a:pt x="139" y="13"/>
                  </a:cubicBezTo>
                  <a:cubicBezTo>
                    <a:pt x="139" y="31"/>
                    <a:pt x="139" y="31"/>
                    <a:pt x="139" y="31"/>
                  </a:cubicBezTo>
                  <a:cubicBezTo>
                    <a:pt x="512" y="30"/>
                    <a:pt x="512" y="30"/>
                    <a:pt x="512" y="30"/>
                  </a:cubicBezTo>
                  <a:cubicBezTo>
                    <a:pt x="518" y="30"/>
                    <a:pt x="518" y="30"/>
                    <a:pt x="518" y="30"/>
                  </a:cubicBezTo>
                  <a:cubicBezTo>
                    <a:pt x="524" y="30"/>
                    <a:pt x="529" y="30"/>
                    <a:pt x="533" y="31"/>
                  </a:cubicBezTo>
                  <a:cubicBezTo>
                    <a:pt x="547" y="32"/>
                    <a:pt x="547" y="32"/>
                    <a:pt x="547" y="32"/>
                  </a:cubicBezTo>
                  <a:cubicBezTo>
                    <a:pt x="550" y="32"/>
                    <a:pt x="558" y="33"/>
                    <a:pt x="558" y="33"/>
                  </a:cubicBezTo>
                  <a:cubicBezTo>
                    <a:pt x="569" y="35"/>
                    <a:pt x="569" y="35"/>
                    <a:pt x="569" y="35"/>
                  </a:cubicBezTo>
                  <a:cubicBezTo>
                    <a:pt x="570" y="35"/>
                    <a:pt x="572" y="35"/>
                    <a:pt x="573" y="36"/>
                  </a:cubicBezTo>
                  <a:cubicBezTo>
                    <a:pt x="577" y="37"/>
                    <a:pt x="577" y="37"/>
                    <a:pt x="577" y="37"/>
                  </a:cubicBezTo>
                  <a:cubicBezTo>
                    <a:pt x="582" y="38"/>
                    <a:pt x="582" y="38"/>
                    <a:pt x="582" y="38"/>
                  </a:cubicBezTo>
                  <a:cubicBezTo>
                    <a:pt x="586" y="39"/>
                    <a:pt x="586" y="39"/>
                    <a:pt x="586" y="39"/>
                  </a:cubicBezTo>
                  <a:cubicBezTo>
                    <a:pt x="587" y="40"/>
                    <a:pt x="587" y="40"/>
                    <a:pt x="587" y="40"/>
                  </a:cubicBezTo>
                  <a:cubicBezTo>
                    <a:pt x="589" y="41"/>
                    <a:pt x="589" y="41"/>
                    <a:pt x="589" y="41"/>
                  </a:cubicBezTo>
                  <a:cubicBezTo>
                    <a:pt x="591" y="42"/>
                    <a:pt x="591" y="42"/>
                    <a:pt x="591" y="42"/>
                  </a:cubicBezTo>
                  <a:cubicBezTo>
                    <a:pt x="592" y="43"/>
                    <a:pt x="592" y="43"/>
                    <a:pt x="592" y="43"/>
                  </a:cubicBezTo>
                  <a:cubicBezTo>
                    <a:pt x="593" y="44"/>
                    <a:pt x="593" y="44"/>
                    <a:pt x="593" y="44"/>
                  </a:cubicBezTo>
                  <a:cubicBezTo>
                    <a:pt x="594" y="156"/>
                    <a:pt x="594" y="156"/>
                    <a:pt x="594" y="156"/>
                  </a:cubicBezTo>
                  <a:lnTo>
                    <a:pt x="593" y="157"/>
                  </a:lnTo>
                  <a:close/>
                </a:path>
              </a:pathLst>
            </a:custGeom>
            <a:solidFill>
              <a:srgbClr val="C00000"/>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cxnSp>
          <p:nvCxnSpPr>
            <p:cNvPr id="26" name="MH_Other_19"/>
            <p:cNvCxnSpPr>
              <a:cxnSpLocks noChangeShapeType="1"/>
            </p:cNvCxnSpPr>
            <p:nvPr>
              <p:custDataLst>
                <p:tags r:id="rId6"/>
              </p:custDataLst>
            </p:nvPr>
          </p:nvCxnSpPr>
          <p:spPr bwMode="auto">
            <a:xfrm>
              <a:off x="7473951" y="4857750"/>
              <a:ext cx="0" cy="425450"/>
            </a:xfrm>
            <a:prstGeom prst="line">
              <a:avLst/>
            </a:prstGeom>
            <a:noFill/>
            <a:ln w="19050" algn="ctr">
              <a:solidFill>
                <a:srgbClr val="F2F2F2"/>
              </a:solidFill>
              <a:miter lim="800000"/>
            </a:ln>
            <a:extLst>
              <a:ext uri="{909E8E84-426E-40DD-AFC4-6F175D3DCCD1}">
                <a14:hiddenFill xmlns:a14="http://schemas.microsoft.com/office/drawing/2010/main">
                  <a:noFill/>
                </a14:hiddenFill>
              </a:ext>
            </a:extLst>
          </p:spPr>
        </p:cxnSp>
        <p:sp>
          <p:nvSpPr>
            <p:cNvPr id="30" name="MH_SubTitle_4"/>
            <p:cNvSpPr txBox="1">
              <a:spLocks noChangeArrowheads="1"/>
            </p:cNvSpPr>
            <p:nvPr>
              <p:custDataLst>
                <p:tags r:id="rId7"/>
              </p:custDataLst>
            </p:nvPr>
          </p:nvSpPr>
          <p:spPr bwMode="auto">
            <a:xfrm>
              <a:off x="2874130" y="4726941"/>
              <a:ext cx="375633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algn="ctr" eaLnBrk="1" hangingPunct="1"/>
              <a:r>
                <a:rPr lang="zh-CN" altLang="en-US" sz="2400" b="1" dirty="0">
                  <a:solidFill>
                    <a:schemeClr val="bg1"/>
                  </a:solidFill>
                  <a:latin typeface="微软雅黑" panose="020B0503020204020204" pitchFamily="34" charset="-122"/>
                  <a:sym typeface="+mn-lt"/>
                </a:rPr>
                <a:t>可燃物</a:t>
              </a:r>
              <a:endParaRPr lang="zh-CN" altLang="en-US" sz="2400" b="1" dirty="0">
                <a:solidFill>
                  <a:schemeClr val="bg1"/>
                </a:solidFill>
                <a:latin typeface="微软雅黑" panose="020B0503020204020204" pitchFamily="34" charset="-122"/>
                <a:sym typeface="+mn-lt"/>
              </a:endParaRPr>
            </a:p>
          </p:txBody>
        </p:sp>
      </p:grpSp>
      <p:grpSp>
        <p:nvGrpSpPr>
          <p:cNvPr id="4" name="组合 13"/>
          <p:cNvGrpSpPr/>
          <p:nvPr/>
        </p:nvGrpSpPr>
        <p:grpSpPr>
          <a:xfrm>
            <a:off x="7283450" y="1648460"/>
            <a:ext cx="2081530" cy="1099820"/>
            <a:chOff x="2544233" y="4448176"/>
            <a:chExt cx="4929718" cy="1546225"/>
          </a:xfrm>
        </p:grpSpPr>
        <p:sp>
          <p:nvSpPr>
            <p:cNvPr id="5" name="MH_Other_2"/>
            <p:cNvSpPr/>
            <p:nvPr>
              <p:custDataLst>
                <p:tags r:id="rId8"/>
              </p:custDataLst>
            </p:nvPr>
          </p:nvSpPr>
          <p:spPr bwMode="auto">
            <a:xfrm flipH="1">
              <a:off x="2973918" y="4799014"/>
              <a:ext cx="1119716" cy="776287"/>
            </a:xfrm>
            <a:custGeom>
              <a:avLst/>
              <a:gdLst>
                <a:gd name="T0" fmla="*/ 48 w 132"/>
                <a:gd name="T1" fmla="*/ 132 h 132"/>
                <a:gd name="T2" fmla="*/ 54 w 132"/>
                <a:gd name="T3" fmla="*/ 132 h 132"/>
                <a:gd name="T4" fmla="*/ 57 w 132"/>
                <a:gd name="T5" fmla="*/ 132 h 132"/>
                <a:gd name="T6" fmla="*/ 63 w 132"/>
                <a:gd name="T7" fmla="*/ 132 h 132"/>
                <a:gd name="T8" fmla="*/ 67 w 132"/>
                <a:gd name="T9" fmla="*/ 131 h 132"/>
                <a:gd name="T10" fmla="*/ 76 w 132"/>
                <a:gd name="T11" fmla="*/ 131 h 132"/>
                <a:gd name="T12" fmla="*/ 79 w 132"/>
                <a:gd name="T13" fmla="*/ 131 h 132"/>
                <a:gd name="T14" fmla="*/ 85 w 132"/>
                <a:gd name="T15" fmla="*/ 130 h 132"/>
                <a:gd name="T16" fmla="*/ 87 w 132"/>
                <a:gd name="T17" fmla="*/ 130 h 132"/>
                <a:gd name="T18" fmla="*/ 94 w 132"/>
                <a:gd name="T19" fmla="*/ 129 h 132"/>
                <a:gd name="T20" fmla="*/ 100 w 132"/>
                <a:gd name="T21" fmla="*/ 128 h 132"/>
                <a:gd name="T22" fmla="*/ 103 w 132"/>
                <a:gd name="T23" fmla="*/ 128 h 132"/>
                <a:gd name="T24" fmla="*/ 107 w 132"/>
                <a:gd name="T25" fmla="*/ 127 h 132"/>
                <a:gd name="T26" fmla="*/ 110 w 132"/>
                <a:gd name="T27" fmla="*/ 126 h 132"/>
                <a:gd name="T28" fmla="*/ 114 w 132"/>
                <a:gd name="T29" fmla="*/ 125 h 132"/>
                <a:gd name="T30" fmla="*/ 121 w 132"/>
                <a:gd name="T31" fmla="*/ 123 h 132"/>
                <a:gd name="T32" fmla="*/ 126 w 132"/>
                <a:gd name="T33" fmla="*/ 121 h 132"/>
                <a:gd name="T34" fmla="*/ 130 w 132"/>
                <a:gd name="T35" fmla="*/ 118 h 132"/>
                <a:gd name="T36" fmla="*/ 132 w 132"/>
                <a:gd name="T37" fmla="*/ 115 h 132"/>
                <a:gd name="T38" fmla="*/ 130 w 132"/>
                <a:gd name="T39" fmla="*/ 3 h 132"/>
                <a:gd name="T40" fmla="*/ 127 w 132"/>
                <a:gd name="T41" fmla="*/ 6 h 132"/>
                <a:gd name="T42" fmla="*/ 121 w 132"/>
                <a:gd name="T43" fmla="*/ 8 h 132"/>
                <a:gd name="T44" fmla="*/ 115 w 132"/>
                <a:gd name="T45" fmla="*/ 10 h 132"/>
                <a:gd name="T46" fmla="*/ 110 w 132"/>
                <a:gd name="T47" fmla="*/ 12 h 132"/>
                <a:gd name="T48" fmla="*/ 105 w 132"/>
                <a:gd name="T49" fmla="*/ 13 h 132"/>
                <a:gd name="T50" fmla="*/ 99 w 132"/>
                <a:gd name="T51" fmla="*/ 13 h 132"/>
                <a:gd name="T52" fmla="*/ 86 w 132"/>
                <a:gd name="T53" fmla="*/ 15 h 132"/>
                <a:gd name="T54" fmla="*/ 78 w 132"/>
                <a:gd name="T55" fmla="*/ 16 h 132"/>
                <a:gd name="T56" fmla="*/ 62 w 132"/>
                <a:gd name="T57" fmla="*/ 17 h 132"/>
                <a:gd name="T58" fmla="*/ 54 w 132"/>
                <a:gd name="T59" fmla="*/ 17 h 132"/>
                <a:gd name="T60" fmla="*/ 0 w 132"/>
                <a:gd name="T61" fmla="*/ 17 h 132"/>
                <a:gd name="T62" fmla="*/ 45 w 132"/>
                <a:gd name="T6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32">
                  <a:moveTo>
                    <a:pt x="45" y="132"/>
                  </a:moveTo>
                  <a:cubicBezTo>
                    <a:pt x="46" y="132"/>
                    <a:pt x="48" y="132"/>
                    <a:pt x="48" y="132"/>
                  </a:cubicBezTo>
                  <a:cubicBezTo>
                    <a:pt x="50" y="132"/>
                    <a:pt x="51" y="132"/>
                    <a:pt x="53" y="132"/>
                  </a:cubicBezTo>
                  <a:cubicBezTo>
                    <a:pt x="53" y="132"/>
                    <a:pt x="54" y="132"/>
                    <a:pt x="54" y="132"/>
                  </a:cubicBezTo>
                  <a:cubicBezTo>
                    <a:pt x="54" y="132"/>
                    <a:pt x="54" y="132"/>
                    <a:pt x="55" y="132"/>
                  </a:cubicBezTo>
                  <a:cubicBezTo>
                    <a:pt x="56" y="132"/>
                    <a:pt x="57" y="132"/>
                    <a:pt x="57" y="132"/>
                  </a:cubicBezTo>
                  <a:cubicBezTo>
                    <a:pt x="59" y="132"/>
                    <a:pt x="61" y="132"/>
                    <a:pt x="62" y="132"/>
                  </a:cubicBezTo>
                  <a:cubicBezTo>
                    <a:pt x="62" y="132"/>
                    <a:pt x="62" y="132"/>
                    <a:pt x="63" y="132"/>
                  </a:cubicBezTo>
                  <a:cubicBezTo>
                    <a:pt x="63" y="132"/>
                    <a:pt x="63" y="132"/>
                    <a:pt x="63" y="132"/>
                  </a:cubicBezTo>
                  <a:cubicBezTo>
                    <a:pt x="64" y="132"/>
                    <a:pt x="65" y="132"/>
                    <a:pt x="67" y="131"/>
                  </a:cubicBezTo>
                  <a:cubicBezTo>
                    <a:pt x="68" y="131"/>
                    <a:pt x="70" y="131"/>
                    <a:pt x="71" y="131"/>
                  </a:cubicBezTo>
                  <a:cubicBezTo>
                    <a:pt x="73" y="131"/>
                    <a:pt x="74" y="131"/>
                    <a:pt x="76" y="131"/>
                  </a:cubicBezTo>
                  <a:cubicBezTo>
                    <a:pt x="77" y="131"/>
                    <a:pt x="78" y="131"/>
                    <a:pt x="78" y="131"/>
                  </a:cubicBezTo>
                  <a:cubicBezTo>
                    <a:pt x="79" y="131"/>
                    <a:pt x="79" y="131"/>
                    <a:pt x="79" y="131"/>
                  </a:cubicBezTo>
                  <a:cubicBezTo>
                    <a:pt x="80" y="131"/>
                    <a:pt x="80" y="131"/>
                    <a:pt x="80" y="131"/>
                  </a:cubicBezTo>
                  <a:cubicBezTo>
                    <a:pt x="82" y="130"/>
                    <a:pt x="83" y="130"/>
                    <a:pt x="85" y="130"/>
                  </a:cubicBezTo>
                  <a:cubicBezTo>
                    <a:pt x="85" y="130"/>
                    <a:pt x="86" y="130"/>
                    <a:pt x="86" y="130"/>
                  </a:cubicBezTo>
                  <a:cubicBezTo>
                    <a:pt x="86" y="130"/>
                    <a:pt x="87" y="130"/>
                    <a:pt x="87" y="130"/>
                  </a:cubicBezTo>
                  <a:cubicBezTo>
                    <a:pt x="88" y="130"/>
                    <a:pt x="89" y="130"/>
                    <a:pt x="89" y="130"/>
                  </a:cubicBezTo>
                  <a:cubicBezTo>
                    <a:pt x="91" y="129"/>
                    <a:pt x="92" y="129"/>
                    <a:pt x="94" y="129"/>
                  </a:cubicBezTo>
                  <a:cubicBezTo>
                    <a:pt x="95" y="129"/>
                    <a:pt x="97" y="129"/>
                    <a:pt x="98" y="128"/>
                  </a:cubicBezTo>
                  <a:cubicBezTo>
                    <a:pt x="99" y="128"/>
                    <a:pt x="99" y="128"/>
                    <a:pt x="100" y="128"/>
                  </a:cubicBezTo>
                  <a:cubicBezTo>
                    <a:pt x="100" y="128"/>
                    <a:pt x="101" y="128"/>
                    <a:pt x="101" y="128"/>
                  </a:cubicBezTo>
                  <a:cubicBezTo>
                    <a:pt x="102" y="128"/>
                    <a:pt x="103" y="128"/>
                    <a:pt x="103" y="128"/>
                  </a:cubicBezTo>
                  <a:cubicBezTo>
                    <a:pt x="104" y="127"/>
                    <a:pt x="104" y="127"/>
                    <a:pt x="105" y="127"/>
                  </a:cubicBezTo>
                  <a:cubicBezTo>
                    <a:pt x="106" y="127"/>
                    <a:pt x="107" y="127"/>
                    <a:pt x="107" y="127"/>
                  </a:cubicBezTo>
                  <a:cubicBezTo>
                    <a:pt x="108" y="127"/>
                    <a:pt x="108" y="127"/>
                    <a:pt x="108" y="127"/>
                  </a:cubicBezTo>
                  <a:cubicBezTo>
                    <a:pt x="109" y="126"/>
                    <a:pt x="109" y="126"/>
                    <a:pt x="110" y="126"/>
                  </a:cubicBezTo>
                  <a:cubicBezTo>
                    <a:pt x="111" y="126"/>
                    <a:pt x="112" y="126"/>
                    <a:pt x="113" y="126"/>
                  </a:cubicBezTo>
                  <a:cubicBezTo>
                    <a:pt x="113" y="125"/>
                    <a:pt x="114" y="125"/>
                    <a:pt x="114" y="125"/>
                  </a:cubicBezTo>
                  <a:cubicBezTo>
                    <a:pt x="114" y="125"/>
                    <a:pt x="115" y="125"/>
                    <a:pt x="115" y="125"/>
                  </a:cubicBezTo>
                  <a:cubicBezTo>
                    <a:pt x="117" y="124"/>
                    <a:pt x="119" y="124"/>
                    <a:pt x="121" y="123"/>
                  </a:cubicBezTo>
                  <a:cubicBezTo>
                    <a:pt x="122" y="123"/>
                    <a:pt x="122" y="123"/>
                    <a:pt x="122" y="123"/>
                  </a:cubicBezTo>
                  <a:cubicBezTo>
                    <a:pt x="124" y="122"/>
                    <a:pt x="125" y="122"/>
                    <a:pt x="126" y="121"/>
                  </a:cubicBezTo>
                  <a:cubicBezTo>
                    <a:pt x="127" y="121"/>
                    <a:pt x="127" y="121"/>
                    <a:pt x="127" y="120"/>
                  </a:cubicBezTo>
                  <a:cubicBezTo>
                    <a:pt x="128" y="120"/>
                    <a:pt x="129" y="119"/>
                    <a:pt x="130" y="118"/>
                  </a:cubicBezTo>
                  <a:cubicBezTo>
                    <a:pt x="130" y="118"/>
                    <a:pt x="130" y="118"/>
                    <a:pt x="131" y="118"/>
                  </a:cubicBezTo>
                  <a:cubicBezTo>
                    <a:pt x="131" y="117"/>
                    <a:pt x="132" y="116"/>
                    <a:pt x="132" y="115"/>
                  </a:cubicBezTo>
                  <a:cubicBezTo>
                    <a:pt x="131" y="0"/>
                    <a:pt x="131" y="0"/>
                    <a:pt x="131" y="0"/>
                  </a:cubicBezTo>
                  <a:cubicBezTo>
                    <a:pt x="131" y="1"/>
                    <a:pt x="131" y="2"/>
                    <a:pt x="130" y="3"/>
                  </a:cubicBezTo>
                  <a:cubicBezTo>
                    <a:pt x="130" y="3"/>
                    <a:pt x="130" y="3"/>
                    <a:pt x="130" y="3"/>
                  </a:cubicBezTo>
                  <a:cubicBezTo>
                    <a:pt x="129" y="4"/>
                    <a:pt x="128" y="5"/>
                    <a:pt x="127" y="6"/>
                  </a:cubicBezTo>
                  <a:cubicBezTo>
                    <a:pt x="127" y="6"/>
                    <a:pt x="126" y="6"/>
                    <a:pt x="126" y="6"/>
                  </a:cubicBezTo>
                  <a:cubicBezTo>
                    <a:pt x="125" y="7"/>
                    <a:pt x="123" y="8"/>
                    <a:pt x="121" y="8"/>
                  </a:cubicBezTo>
                  <a:cubicBezTo>
                    <a:pt x="121" y="8"/>
                    <a:pt x="121" y="8"/>
                    <a:pt x="121" y="8"/>
                  </a:cubicBezTo>
                  <a:cubicBezTo>
                    <a:pt x="119" y="9"/>
                    <a:pt x="117" y="10"/>
                    <a:pt x="115" y="10"/>
                  </a:cubicBezTo>
                  <a:cubicBezTo>
                    <a:pt x="114" y="10"/>
                    <a:pt x="113" y="11"/>
                    <a:pt x="113" y="11"/>
                  </a:cubicBezTo>
                  <a:cubicBezTo>
                    <a:pt x="112" y="11"/>
                    <a:pt x="111" y="11"/>
                    <a:pt x="110" y="12"/>
                  </a:cubicBezTo>
                  <a:cubicBezTo>
                    <a:pt x="109" y="12"/>
                    <a:pt x="108" y="12"/>
                    <a:pt x="107" y="12"/>
                  </a:cubicBezTo>
                  <a:cubicBezTo>
                    <a:pt x="106" y="12"/>
                    <a:pt x="105" y="12"/>
                    <a:pt x="105" y="13"/>
                  </a:cubicBezTo>
                  <a:cubicBezTo>
                    <a:pt x="104" y="13"/>
                    <a:pt x="102" y="13"/>
                    <a:pt x="101" y="13"/>
                  </a:cubicBezTo>
                  <a:cubicBezTo>
                    <a:pt x="100" y="13"/>
                    <a:pt x="100" y="13"/>
                    <a:pt x="99" y="13"/>
                  </a:cubicBezTo>
                  <a:cubicBezTo>
                    <a:pt x="96" y="14"/>
                    <a:pt x="91" y="15"/>
                    <a:pt x="87" y="15"/>
                  </a:cubicBezTo>
                  <a:cubicBezTo>
                    <a:pt x="87" y="15"/>
                    <a:pt x="86" y="15"/>
                    <a:pt x="86" y="15"/>
                  </a:cubicBezTo>
                  <a:cubicBezTo>
                    <a:pt x="83" y="15"/>
                    <a:pt x="81" y="16"/>
                    <a:pt x="79" y="16"/>
                  </a:cubicBezTo>
                  <a:cubicBezTo>
                    <a:pt x="79" y="16"/>
                    <a:pt x="78" y="16"/>
                    <a:pt x="78" y="16"/>
                  </a:cubicBezTo>
                  <a:cubicBezTo>
                    <a:pt x="73" y="16"/>
                    <a:pt x="68" y="17"/>
                    <a:pt x="63" y="17"/>
                  </a:cubicBezTo>
                  <a:cubicBezTo>
                    <a:pt x="63" y="17"/>
                    <a:pt x="63" y="17"/>
                    <a:pt x="62" y="17"/>
                  </a:cubicBezTo>
                  <a:cubicBezTo>
                    <a:pt x="60" y="17"/>
                    <a:pt x="57" y="17"/>
                    <a:pt x="55" y="17"/>
                  </a:cubicBezTo>
                  <a:cubicBezTo>
                    <a:pt x="54" y="17"/>
                    <a:pt x="54" y="17"/>
                    <a:pt x="54" y="17"/>
                  </a:cubicBezTo>
                  <a:cubicBezTo>
                    <a:pt x="51" y="17"/>
                    <a:pt x="48" y="17"/>
                    <a:pt x="45" y="17"/>
                  </a:cubicBezTo>
                  <a:cubicBezTo>
                    <a:pt x="0" y="17"/>
                    <a:pt x="0" y="17"/>
                    <a:pt x="0" y="17"/>
                  </a:cubicBezTo>
                  <a:cubicBezTo>
                    <a:pt x="0" y="132"/>
                    <a:pt x="0" y="132"/>
                    <a:pt x="0" y="132"/>
                  </a:cubicBezTo>
                  <a:lnTo>
                    <a:pt x="45" y="132"/>
                  </a:lnTo>
                  <a:close/>
                </a:path>
              </a:pathLst>
            </a:custGeom>
            <a:solidFill>
              <a:schemeClr val="accent4">
                <a:lumMod val="75000"/>
              </a:schemeClr>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pic>
          <p:nvPicPr>
            <p:cNvPr id="6" name="MH_Other_6"/>
            <p:cNvPicPr>
              <a:picLocks noChangeAspect="1"/>
            </p:cNvPicPr>
            <p:nvPr>
              <p:custDataLst>
                <p:tags r:id="rId9"/>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2544233" y="4448176"/>
              <a:ext cx="2051051"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MH_Other_12"/>
            <p:cNvSpPr/>
            <p:nvPr>
              <p:custDataLst>
                <p:tags r:id="rId10"/>
              </p:custDataLst>
            </p:nvPr>
          </p:nvSpPr>
          <p:spPr bwMode="auto">
            <a:xfrm flipH="1">
              <a:off x="2957047" y="4522471"/>
              <a:ext cx="4490781" cy="1052195"/>
            </a:xfrm>
            <a:custGeom>
              <a:avLst/>
              <a:gdLst>
                <a:gd name="T0" fmla="*/ 593 w 594"/>
                <a:gd name="T1" fmla="*/ 157 h 179"/>
                <a:gd name="T2" fmla="*/ 592 w 594"/>
                <a:gd name="T3" fmla="*/ 156 h 179"/>
                <a:gd name="T4" fmla="*/ 577 w 594"/>
                <a:gd name="T5" fmla="*/ 149 h 179"/>
                <a:gd name="T6" fmla="*/ 576 w 594"/>
                <a:gd name="T7" fmla="*/ 148 h 179"/>
                <a:gd name="T8" fmla="*/ 572 w 594"/>
                <a:gd name="T9" fmla="*/ 147 h 179"/>
                <a:gd name="T10" fmla="*/ 572 w 594"/>
                <a:gd name="T11" fmla="*/ 148 h 179"/>
                <a:gd name="T12" fmla="*/ 566 w 594"/>
                <a:gd name="T13" fmla="*/ 147 h 179"/>
                <a:gd name="T14" fmla="*/ 566 w 594"/>
                <a:gd name="T15" fmla="*/ 146 h 179"/>
                <a:gd name="T16" fmla="*/ 565 w 594"/>
                <a:gd name="T17" fmla="*/ 146 h 179"/>
                <a:gd name="T18" fmla="*/ 564 w 594"/>
                <a:gd name="T19" fmla="*/ 146 h 179"/>
                <a:gd name="T20" fmla="*/ 557 w 594"/>
                <a:gd name="T21" fmla="*/ 145 h 179"/>
                <a:gd name="T22" fmla="*/ 557 w 594"/>
                <a:gd name="T23" fmla="*/ 145 h 179"/>
                <a:gd name="T24" fmla="*/ 557 w 594"/>
                <a:gd name="T25" fmla="*/ 145 h 179"/>
                <a:gd name="T26" fmla="*/ 548 w 594"/>
                <a:gd name="T27" fmla="*/ 144 h 179"/>
                <a:gd name="T28" fmla="*/ 549 w 594"/>
                <a:gd name="T29" fmla="*/ 143 h 179"/>
                <a:gd name="T30" fmla="*/ 548 w 594"/>
                <a:gd name="T31" fmla="*/ 144 h 179"/>
                <a:gd name="T32" fmla="*/ 506 w 594"/>
                <a:gd name="T33" fmla="*/ 142 h 179"/>
                <a:gd name="T34" fmla="*/ 139 w 594"/>
                <a:gd name="T35" fmla="*/ 143 h 179"/>
                <a:gd name="T36" fmla="*/ 139 w 594"/>
                <a:gd name="T37" fmla="*/ 166 h 179"/>
                <a:gd name="T38" fmla="*/ 134 w 594"/>
                <a:gd name="T39" fmla="*/ 178 h 179"/>
                <a:gd name="T40" fmla="*/ 124 w 594"/>
                <a:gd name="T41" fmla="*/ 176 h 179"/>
                <a:gd name="T42" fmla="*/ 6 w 594"/>
                <a:gd name="T43" fmla="*/ 100 h 179"/>
                <a:gd name="T44" fmla="*/ 0 w 594"/>
                <a:gd name="T45" fmla="*/ 90 h 179"/>
                <a:gd name="T46" fmla="*/ 6 w 594"/>
                <a:gd name="T47" fmla="*/ 80 h 179"/>
                <a:gd name="T48" fmla="*/ 124 w 594"/>
                <a:gd name="T49" fmla="*/ 3 h 179"/>
                <a:gd name="T50" fmla="*/ 134 w 594"/>
                <a:gd name="T51" fmla="*/ 1 h 179"/>
                <a:gd name="T52" fmla="*/ 139 w 594"/>
                <a:gd name="T53" fmla="*/ 13 h 179"/>
                <a:gd name="T54" fmla="*/ 139 w 594"/>
                <a:gd name="T55" fmla="*/ 31 h 179"/>
                <a:gd name="T56" fmla="*/ 512 w 594"/>
                <a:gd name="T57" fmla="*/ 30 h 179"/>
                <a:gd name="T58" fmla="*/ 518 w 594"/>
                <a:gd name="T59" fmla="*/ 30 h 179"/>
                <a:gd name="T60" fmla="*/ 533 w 594"/>
                <a:gd name="T61" fmla="*/ 31 h 179"/>
                <a:gd name="T62" fmla="*/ 547 w 594"/>
                <a:gd name="T63" fmla="*/ 32 h 179"/>
                <a:gd name="T64" fmla="*/ 558 w 594"/>
                <a:gd name="T65" fmla="*/ 33 h 179"/>
                <a:gd name="T66" fmla="*/ 569 w 594"/>
                <a:gd name="T67" fmla="*/ 35 h 179"/>
                <a:gd name="T68" fmla="*/ 573 w 594"/>
                <a:gd name="T69" fmla="*/ 36 h 179"/>
                <a:gd name="T70" fmla="*/ 577 w 594"/>
                <a:gd name="T71" fmla="*/ 37 h 179"/>
                <a:gd name="T72" fmla="*/ 582 w 594"/>
                <a:gd name="T73" fmla="*/ 38 h 179"/>
                <a:gd name="T74" fmla="*/ 586 w 594"/>
                <a:gd name="T75" fmla="*/ 39 h 179"/>
                <a:gd name="T76" fmla="*/ 587 w 594"/>
                <a:gd name="T77" fmla="*/ 40 h 179"/>
                <a:gd name="T78" fmla="*/ 589 w 594"/>
                <a:gd name="T79" fmla="*/ 41 h 179"/>
                <a:gd name="T80" fmla="*/ 591 w 594"/>
                <a:gd name="T81" fmla="*/ 42 h 179"/>
                <a:gd name="T82" fmla="*/ 592 w 594"/>
                <a:gd name="T83" fmla="*/ 43 h 179"/>
                <a:gd name="T84" fmla="*/ 593 w 594"/>
                <a:gd name="T85" fmla="*/ 44 h 179"/>
                <a:gd name="T86" fmla="*/ 594 w 594"/>
                <a:gd name="T87" fmla="*/ 156 h 179"/>
                <a:gd name="T88" fmla="*/ 593 w 594"/>
                <a:gd name="T89" fmla="*/ 15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4" h="179">
                  <a:moveTo>
                    <a:pt x="593" y="157"/>
                  </a:moveTo>
                  <a:cubicBezTo>
                    <a:pt x="592" y="156"/>
                    <a:pt x="592" y="156"/>
                    <a:pt x="592" y="156"/>
                  </a:cubicBezTo>
                  <a:cubicBezTo>
                    <a:pt x="589" y="153"/>
                    <a:pt x="584" y="151"/>
                    <a:pt x="577" y="149"/>
                  </a:cubicBezTo>
                  <a:cubicBezTo>
                    <a:pt x="576" y="148"/>
                    <a:pt x="576" y="148"/>
                    <a:pt x="576" y="148"/>
                  </a:cubicBezTo>
                  <a:cubicBezTo>
                    <a:pt x="572" y="147"/>
                    <a:pt x="572" y="147"/>
                    <a:pt x="572" y="147"/>
                  </a:cubicBezTo>
                  <a:cubicBezTo>
                    <a:pt x="572" y="148"/>
                    <a:pt x="572" y="148"/>
                    <a:pt x="572" y="148"/>
                  </a:cubicBezTo>
                  <a:cubicBezTo>
                    <a:pt x="570" y="147"/>
                    <a:pt x="568" y="147"/>
                    <a:pt x="566" y="147"/>
                  </a:cubicBezTo>
                  <a:cubicBezTo>
                    <a:pt x="566" y="146"/>
                    <a:pt x="566" y="146"/>
                    <a:pt x="566" y="146"/>
                  </a:cubicBezTo>
                  <a:cubicBezTo>
                    <a:pt x="565" y="146"/>
                    <a:pt x="565" y="146"/>
                    <a:pt x="565" y="146"/>
                  </a:cubicBezTo>
                  <a:cubicBezTo>
                    <a:pt x="564" y="146"/>
                    <a:pt x="564" y="146"/>
                    <a:pt x="564" y="146"/>
                  </a:cubicBezTo>
                  <a:cubicBezTo>
                    <a:pt x="562" y="146"/>
                    <a:pt x="560" y="145"/>
                    <a:pt x="557" y="145"/>
                  </a:cubicBezTo>
                  <a:cubicBezTo>
                    <a:pt x="557" y="145"/>
                    <a:pt x="557" y="145"/>
                    <a:pt x="557" y="145"/>
                  </a:cubicBezTo>
                  <a:cubicBezTo>
                    <a:pt x="557" y="145"/>
                    <a:pt x="557" y="145"/>
                    <a:pt x="557" y="145"/>
                  </a:cubicBezTo>
                  <a:cubicBezTo>
                    <a:pt x="554" y="145"/>
                    <a:pt x="551" y="144"/>
                    <a:pt x="548" y="144"/>
                  </a:cubicBezTo>
                  <a:cubicBezTo>
                    <a:pt x="549" y="143"/>
                    <a:pt x="549" y="143"/>
                    <a:pt x="549" y="143"/>
                  </a:cubicBezTo>
                  <a:cubicBezTo>
                    <a:pt x="548" y="144"/>
                    <a:pt x="548" y="144"/>
                    <a:pt x="548" y="144"/>
                  </a:cubicBezTo>
                  <a:cubicBezTo>
                    <a:pt x="536" y="143"/>
                    <a:pt x="521" y="142"/>
                    <a:pt x="506" y="142"/>
                  </a:cubicBezTo>
                  <a:cubicBezTo>
                    <a:pt x="139" y="143"/>
                    <a:pt x="139" y="143"/>
                    <a:pt x="139" y="143"/>
                  </a:cubicBezTo>
                  <a:cubicBezTo>
                    <a:pt x="139" y="166"/>
                    <a:pt x="139" y="166"/>
                    <a:pt x="139" y="166"/>
                  </a:cubicBezTo>
                  <a:cubicBezTo>
                    <a:pt x="139" y="172"/>
                    <a:pt x="138" y="176"/>
                    <a:pt x="134" y="178"/>
                  </a:cubicBezTo>
                  <a:cubicBezTo>
                    <a:pt x="132" y="179"/>
                    <a:pt x="128" y="179"/>
                    <a:pt x="124" y="176"/>
                  </a:cubicBezTo>
                  <a:cubicBezTo>
                    <a:pt x="6" y="100"/>
                    <a:pt x="6" y="100"/>
                    <a:pt x="6" y="100"/>
                  </a:cubicBezTo>
                  <a:cubicBezTo>
                    <a:pt x="2" y="97"/>
                    <a:pt x="0" y="93"/>
                    <a:pt x="0" y="90"/>
                  </a:cubicBezTo>
                  <a:cubicBezTo>
                    <a:pt x="0" y="86"/>
                    <a:pt x="2" y="82"/>
                    <a:pt x="6" y="80"/>
                  </a:cubicBezTo>
                  <a:cubicBezTo>
                    <a:pt x="124" y="3"/>
                    <a:pt x="124" y="3"/>
                    <a:pt x="124" y="3"/>
                  </a:cubicBezTo>
                  <a:cubicBezTo>
                    <a:pt x="128" y="1"/>
                    <a:pt x="132" y="0"/>
                    <a:pt x="134" y="1"/>
                  </a:cubicBezTo>
                  <a:cubicBezTo>
                    <a:pt x="138" y="3"/>
                    <a:pt x="139" y="7"/>
                    <a:pt x="139" y="13"/>
                  </a:cubicBezTo>
                  <a:cubicBezTo>
                    <a:pt x="139" y="31"/>
                    <a:pt x="139" y="31"/>
                    <a:pt x="139" y="31"/>
                  </a:cubicBezTo>
                  <a:cubicBezTo>
                    <a:pt x="512" y="30"/>
                    <a:pt x="512" y="30"/>
                    <a:pt x="512" y="30"/>
                  </a:cubicBezTo>
                  <a:cubicBezTo>
                    <a:pt x="518" y="30"/>
                    <a:pt x="518" y="30"/>
                    <a:pt x="518" y="30"/>
                  </a:cubicBezTo>
                  <a:cubicBezTo>
                    <a:pt x="524" y="30"/>
                    <a:pt x="529" y="30"/>
                    <a:pt x="533" y="31"/>
                  </a:cubicBezTo>
                  <a:cubicBezTo>
                    <a:pt x="547" y="32"/>
                    <a:pt x="547" y="32"/>
                    <a:pt x="547" y="32"/>
                  </a:cubicBezTo>
                  <a:cubicBezTo>
                    <a:pt x="550" y="32"/>
                    <a:pt x="558" y="33"/>
                    <a:pt x="558" y="33"/>
                  </a:cubicBezTo>
                  <a:cubicBezTo>
                    <a:pt x="569" y="35"/>
                    <a:pt x="569" y="35"/>
                    <a:pt x="569" y="35"/>
                  </a:cubicBezTo>
                  <a:cubicBezTo>
                    <a:pt x="570" y="35"/>
                    <a:pt x="572" y="35"/>
                    <a:pt x="573" y="36"/>
                  </a:cubicBezTo>
                  <a:cubicBezTo>
                    <a:pt x="577" y="37"/>
                    <a:pt x="577" y="37"/>
                    <a:pt x="577" y="37"/>
                  </a:cubicBezTo>
                  <a:cubicBezTo>
                    <a:pt x="582" y="38"/>
                    <a:pt x="582" y="38"/>
                    <a:pt x="582" y="38"/>
                  </a:cubicBezTo>
                  <a:cubicBezTo>
                    <a:pt x="586" y="39"/>
                    <a:pt x="586" y="39"/>
                    <a:pt x="586" y="39"/>
                  </a:cubicBezTo>
                  <a:cubicBezTo>
                    <a:pt x="587" y="40"/>
                    <a:pt x="587" y="40"/>
                    <a:pt x="587" y="40"/>
                  </a:cubicBezTo>
                  <a:cubicBezTo>
                    <a:pt x="589" y="41"/>
                    <a:pt x="589" y="41"/>
                    <a:pt x="589" y="41"/>
                  </a:cubicBezTo>
                  <a:cubicBezTo>
                    <a:pt x="591" y="42"/>
                    <a:pt x="591" y="42"/>
                    <a:pt x="591" y="42"/>
                  </a:cubicBezTo>
                  <a:cubicBezTo>
                    <a:pt x="592" y="43"/>
                    <a:pt x="592" y="43"/>
                    <a:pt x="592" y="43"/>
                  </a:cubicBezTo>
                  <a:cubicBezTo>
                    <a:pt x="593" y="44"/>
                    <a:pt x="593" y="44"/>
                    <a:pt x="593" y="44"/>
                  </a:cubicBezTo>
                  <a:cubicBezTo>
                    <a:pt x="594" y="156"/>
                    <a:pt x="594" y="156"/>
                    <a:pt x="594" y="156"/>
                  </a:cubicBezTo>
                  <a:lnTo>
                    <a:pt x="593" y="157"/>
                  </a:lnTo>
                  <a:close/>
                </a:path>
              </a:pathLst>
            </a:custGeom>
            <a:solidFill>
              <a:srgbClr val="C00000"/>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cxnSp>
          <p:nvCxnSpPr>
            <p:cNvPr id="8" name="MH_Other_19"/>
            <p:cNvCxnSpPr>
              <a:cxnSpLocks noChangeShapeType="1"/>
            </p:cNvCxnSpPr>
            <p:nvPr>
              <p:custDataLst>
                <p:tags r:id="rId11"/>
              </p:custDataLst>
            </p:nvPr>
          </p:nvCxnSpPr>
          <p:spPr bwMode="auto">
            <a:xfrm>
              <a:off x="7473951" y="4857750"/>
              <a:ext cx="0" cy="425450"/>
            </a:xfrm>
            <a:prstGeom prst="line">
              <a:avLst/>
            </a:prstGeom>
            <a:noFill/>
            <a:ln w="19050" algn="ctr">
              <a:solidFill>
                <a:srgbClr val="F2F2F2"/>
              </a:solidFill>
              <a:miter lim="800000"/>
            </a:ln>
            <a:extLst>
              <a:ext uri="{909E8E84-426E-40DD-AFC4-6F175D3DCCD1}">
                <a14:hiddenFill xmlns:a14="http://schemas.microsoft.com/office/drawing/2010/main">
                  <a:noFill/>
                </a14:hiddenFill>
              </a:ext>
            </a:extLst>
          </p:spPr>
        </p:cxnSp>
        <p:sp>
          <p:nvSpPr>
            <p:cNvPr id="9" name="MH_SubTitle_4"/>
            <p:cNvSpPr txBox="1">
              <a:spLocks noChangeArrowheads="1"/>
            </p:cNvSpPr>
            <p:nvPr>
              <p:custDataLst>
                <p:tags r:id="rId12"/>
              </p:custDataLst>
            </p:nvPr>
          </p:nvSpPr>
          <p:spPr bwMode="auto">
            <a:xfrm>
              <a:off x="2874130" y="4726941"/>
              <a:ext cx="375633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algn="ctr" eaLnBrk="1" hangingPunct="1"/>
              <a:r>
                <a:rPr lang="zh-CN" altLang="en-US" sz="2400" b="1" dirty="0">
                  <a:solidFill>
                    <a:schemeClr val="bg1"/>
                  </a:solidFill>
                  <a:latin typeface="微软雅黑" panose="020B0503020204020204" pitchFamily="34" charset="-122"/>
                  <a:sym typeface="+mn-lt"/>
                </a:rPr>
                <a:t>助燃物</a:t>
              </a:r>
              <a:endParaRPr lang="zh-CN" altLang="en-US" sz="2400" b="1" dirty="0">
                <a:solidFill>
                  <a:schemeClr val="bg1"/>
                </a:solidFill>
                <a:latin typeface="微软雅黑" panose="020B0503020204020204" pitchFamily="34" charset="-122"/>
                <a:sym typeface="+mn-lt"/>
              </a:endParaRPr>
            </a:p>
          </p:txBody>
        </p:sp>
      </p:grpSp>
      <p:grpSp>
        <p:nvGrpSpPr>
          <p:cNvPr id="10" name="组合 13"/>
          <p:cNvGrpSpPr/>
          <p:nvPr/>
        </p:nvGrpSpPr>
        <p:grpSpPr>
          <a:xfrm>
            <a:off x="9334500" y="1648460"/>
            <a:ext cx="2081530" cy="1099820"/>
            <a:chOff x="2544233" y="4448176"/>
            <a:chExt cx="4929718" cy="1546225"/>
          </a:xfrm>
        </p:grpSpPr>
        <p:sp>
          <p:nvSpPr>
            <p:cNvPr id="11" name="MH_Other_2"/>
            <p:cNvSpPr/>
            <p:nvPr>
              <p:custDataLst>
                <p:tags r:id="rId13"/>
              </p:custDataLst>
            </p:nvPr>
          </p:nvSpPr>
          <p:spPr bwMode="auto">
            <a:xfrm flipH="1">
              <a:off x="2973918" y="4799014"/>
              <a:ext cx="1119716" cy="776287"/>
            </a:xfrm>
            <a:custGeom>
              <a:avLst/>
              <a:gdLst>
                <a:gd name="T0" fmla="*/ 48 w 132"/>
                <a:gd name="T1" fmla="*/ 132 h 132"/>
                <a:gd name="T2" fmla="*/ 54 w 132"/>
                <a:gd name="T3" fmla="*/ 132 h 132"/>
                <a:gd name="T4" fmla="*/ 57 w 132"/>
                <a:gd name="T5" fmla="*/ 132 h 132"/>
                <a:gd name="T6" fmla="*/ 63 w 132"/>
                <a:gd name="T7" fmla="*/ 132 h 132"/>
                <a:gd name="T8" fmla="*/ 67 w 132"/>
                <a:gd name="T9" fmla="*/ 131 h 132"/>
                <a:gd name="T10" fmla="*/ 76 w 132"/>
                <a:gd name="T11" fmla="*/ 131 h 132"/>
                <a:gd name="T12" fmla="*/ 79 w 132"/>
                <a:gd name="T13" fmla="*/ 131 h 132"/>
                <a:gd name="T14" fmla="*/ 85 w 132"/>
                <a:gd name="T15" fmla="*/ 130 h 132"/>
                <a:gd name="T16" fmla="*/ 87 w 132"/>
                <a:gd name="T17" fmla="*/ 130 h 132"/>
                <a:gd name="T18" fmla="*/ 94 w 132"/>
                <a:gd name="T19" fmla="*/ 129 h 132"/>
                <a:gd name="T20" fmla="*/ 100 w 132"/>
                <a:gd name="T21" fmla="*/ 128 h 132"/>
                <a:gd name="T22" fmla="*/ 103 w 132"/>
                <a:gd name="T23" fmla="*/ 128 h 132"/>
                <a:gd name="T24" fmla="*/ 107 w 132"/>
                <a:gd name="T25" fmla="*/ 127 h 132"/>
                <a:gd name="T26" fmla="*/ 110 w 132"/>
                <a:gd name="T27" fmla="*/ 126 h 132"/>
                <a:gd name="T28" fmla="*/ 114 w 132"/>
                <a:gd name="T29" fmla="*/ 125 h 132"/>
                <a:gd name="T30" fmla="*/ 121 w 132"/>
                <a:gd name="T31" fmla="*/ 123 h 132"/>
                <a:gd name="T32" fmla="*/ 126 w 132"/>
                <a:gd name="T33" fmla="*/ 121 h 132"/>
                <a:gd name="T34" fmla="*/ 130 w 132"/>
                <a:gd name="T35" fmla="*/ 118 h 132"/>
                <a:gd name="T36" fmla="*/ 132 w 132"/>
                <a:gd name="T37" fmla="*/ 115 h 132"/>
                <a:gd name="T38" fmla="*/ 130 w 132"/>
                <a:gd name="T39" fmla="*/ 3 h 132"/>
                <a:gd name="T40" fmla="*/ 127 w 132"/>
                <a:gd name="T41" fmla="*/ 6 h 132"/>
                <a:gd name="T42" fmla="*/ 121 w 132"/>
                <a:gd name="T43" fmla="*/ 8 h 132"/>
                <a:gd name="T44" fmla="*/ 115 w 132"/>
                <a:gd name="T45" fmla="*/ 10 h 132"/>
                <a:gd name="T46" fmla="*/ 110 w 132"/>
                <a:gd name="T47" fmla="*/ 12 h 132"/>
                <a:gd name="T48" fmla="*/ 105 w 132"/>
                <a:gd name="T49" fmla="*/ 13 h 132"/>
                <a:gd name="T50" fmla="*/ 99 w 132"/>
                <a:gd name="T51" fmla="*/ 13 h 132"/>
                <a:gd name="T52" fmla="*/ 86 w 132"/>
                <a:gd name="T53" fmla="*/ 15 h 132"/>
                <a:gd name="T54" fmla="*/ 78 w 132"/>
                <a:gd name="T55" fmla="*/ 16 h 132"/>
                <a:gd name="T56" fmla="*/ 62 w 132"/>
                <a:gd name="T57" fmla="*/ 17 h 132"/>
                <a:gd name="T58" fmla="*/ 54 w 132"/>
                <a:gd name="T59" fmla="*/ 17 h 132"/>
                <a:gd name="T60" fmla="*/ 0 w 132"/>
                <a:gd name="T61" fmla="*/ 17 h 132"/>
                <a:gd name="T62" fmla="*/ 45 w 132"/>
                <a:gd name="T6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32">
                  <a:moveTo>
                    <a:pt x="45" y="132"/>
                  </a:moveTo>
                  <a:cubicBezTo>
                    <a:pt x="46" y="132"/>
                    <a:pt x="48" y="132"/>
                    <a:pt x="48" y="132"/>
                  </a:cubicBezTo>
                  <a:cubicBezTo>
                    <a:pt x="50" y="132"/>
                    <a:pt x="51" y="132"/>
                    <a:pt x="53" y="132"/>
                  </a:cubicBezTo>
                  <a:cubicBezTo>
                    <a:pt x="53" y="132"/>
                    <a:pt x="54" y="132"/>
                    <a:pt x="54" y="132"/>
                  </a:cubicBezTo>
                  <a:cubicBezTo>
                    <a:pt x="54" y="132"/>
                    <a:pt x="54" y="132"/>
                    <a:pt x="55" y="132"/>
                  </a:cubicBezTo>
                  <a:cubicBezTo>
                    <a:pt x="56" y="132"/>
                    <a:pt x="57" y="132"/>
                    <a:pt x="57" y="132"/>
                  </a:cubicBezTo>
                  <a:cubicBezTo>
                    <a:pt x="59" y="132"/>
                    <a:pt x="61" y="132"/>
                    <a:pt x="62" y="132"/>
                  </a:cubicBezTo>
                  <a:cubicBezTo>
                    <a:pt x="62" y="132"/>
                    <a:pt x="62" y="132"/>
                    <a:pt x="63" y="132"/>
                  </a:cubicBezTo>
                  <a:cubicBezTo>
                    <a:pt x="63" y="132"/>
                    <a:pt x="63" y="132"/>
                    <a:pt x="63" y="132"/>
                  </a:cubicBezTo>
                  <a:cubicBezTo>
                    <a:pt x="64" y="132"/>
                    <a:pt x="65" y="132"/>
                    <a:pt x="67" y="131"/>
                  </a:cubicBezTo>
                  <a:cubicBezTo>
                    <a:pt x="68" y="131"/>
                    <a:pt x="70" y="131"/>
                    <a:pt x="71" y="131"/>
                  </a:cubicBezTo>
                  <a:cubicBezTo>
                    <a:pt x="73" y="131"/>
                    <a:pt x="74" y="131"/>
                    <a:pt x="76" y="131"/>
                  </a:cubicBezTo>
                  <a:cubicBezTo>
                    <a:pt x="77" y="131"/>
                    <a:pt x="78" y="131"/>
                    <a:pt x="78" y="131"/>
                  </a:cubicBezTo>
                  <a:cubicBezTo>
                    <a:pt x="79" y="131"/>
                    <a:pt x="79" y="131"/>
                    <a:pt x="79" y="131"/>
                  </a:cubicBezTo>
                  <a:cubicBezTo>
                    <a:pt x="80" y="131"/>
                    <a:pt x="80" y="131"/>
                    <a:pt x="80" y="131"/>
                  </a:cubicBezTo>
                  <a:cubicBezTo>
                    <a:pt x="82" y="130"/>
                    <a:pt x="83" y="130"/>
                    <a:pt x="85" y="130"/>
                  </a:cubicBezTo>
                  <a:cubicBezTo>
                    <a:pt x="85" y="130"/>
                    <a:pt x="86" y="130"/>
                    <a:pt x="86" y="130"/>
                  </a:cubicBezTo>
                  <a:cubicBezTo>
                    <a:pt x="86" y="130"/>
                    <a:pt x="87" y="130"/>
                    <a:pt x="87" y="130"/>
                  </a:cubicBezTo>
                  <a:cubicBezTo>
                    <a:pt x="88" y="130"/>
                    <a:pt x="89" y="130"/>
                    <a:pt x="89" y="130"/>
                  </a:cubicBezTo>
                  <a:cubicBezTo>
                    <a:pt x="91" y="129"/>
                    <a:pt x="92" y="129"/>
                    <a:pt x="94" y="129"/>
                  </a:cubicBezTo>
                  <a:cubicBezTo>
                    <a:pt x="95" y="129"/>
                    <a:pt x="97" y="129"/>
                    <a:pt x="98" y="128"/>
                  </a:cubicBezTo>
                  <a:cubicBezTo>
                    <a:pt x="99" y="128"/>
                    <a:pt x="99" y="128"/>
                    <a:pt x="100" y="128"/>
                  </a:cubicBezTo>
                  <a:cubicBezTo>
                    <a:pt x="100" y="128"/>
                    <a:pt x="101" y="128"/>
                    <a:pt x="101" y="128"/>
                  </a:cubicBezTo>
                  <a:cubicBezTo>
                    <a:pt x="102" y="128"/>
                    <a:pt x="103" y="128"/>
                    <a:pt x="103" y="128"/>
                  </a:cubicBezTo>
                  <a:cubicBezTo>
                    <a:pt x="104" y="127"/>
                    <a:pt x="104" y="127"/>
                    <a:pt x="105" y="127"/>
                  </a:cubicBezTo>
                  <a:cubicBezTo>
                    <a:pt x="106" y="127"/>
                    <a:pt x="107" y="127"/>
                    <a:pt x="107" y="127"/>
                  </a:cubicBezTo>
                  <a:cubicBezTo>
                    <a:pt x="108" y="127"/>
                    <a:pt x="108" y="127"/>
                    <a:pt x="108" y="127"/>
                  </a:cubicBezTo>
                  <a:cubicBezTo>
                    <a:pt x="109" y="126"/>
                    <a:pt x="109" y="126"/>
                    <a:pt x="110" y="126"/>
                  </a:cubicBezTo>
                  <a:cubicBezTo>
                    <a:pt x="111" y="126"/>
                    <a:pt x="112" y="126"/>
                    <a:pt x="113" y="126"/>
                  </a:cubicBezTo>
                  <a:cubicBezTo>
                    <a:pt x="113" y="125"/>
                    <a:pt x="114" y="125"/>
                    <a:pt x="114" y="125"/>
                  </a:cubicBezTo>
                  <a:cubicBezTo>
                    <a:pt x="114" y="125"/>
                    <a:pt x="115" y="125"/>
                    <a:pt x="115" y="125"/>
                  </a:cubicBezTo>
                  <a:cubicBezTo>
                    <a:pt x="117" y="124"/>
                    <a:pt x="119" y="124"/>
                    <a:pt x="121" y="123"/>
                  </a:cubicBezTo>
                  <a:cubicBezTo>
                    <a:pt x="122" y="123"/>
                    <a:pt x="122" y="123"/>
                    <a:pt x="122" y="123"/>
                  </a:cubicBezTo>
                  <a:cubicBezTo>
                    <a:pt x="124" y="122"/>
                    <a:pt x="125" y="122"/>
                    <a:pt x="126" y="121"/>
                  </a:cubicBezTo>
                  <a:cubicBezTo>
                    <a:pt x="127" y="121"/>
                    <a:pt x="127" y="121"/>
                    <a:pt x="127" y="120"/>
                  </a:cubicBezTo>
                  <a:cubicBezTo>
                    <a:pt x="128" y="120"/>
                    <a:pt x="129" y="119"/>
                    <a:pt x="130" y="118"/>
                  </a:cubicBezTo>
                  <a:cubicBezTo>
                    <a:pt x="130" y="118"/>
                    <a:pt x="130" y="118"/>
                    <a:pt x="131" y="118"/>
                  </a:cubicBezTo>
                  <a:cubicBezTo>
                    <a:pt x="131" y="117"/>
                    <a:pt x="132" y="116"/>
                    <a:pt x="132" y="115"/>
                  </a:cubicBezTo>
                  <a:cubicBezTo>
                    <a:pt x="131" y="0"/>
                    <a:pt x="131" y="0"/>
                    <a:pt x="131" y="0"/>
                  </a:cubicBezTo>
                  <a:cubicBezTo>
                    <a:pt x="131" y="1"/>
                    <a:pt x="131" y="2"/>
                    <a:pt x="130" y="3"/>
                  </a:cubicBezTo>
                  <a:cubicBezTo>
                    <a:pt x="130" y="3"/>
                    <a:pt x="130" y="3"/>
                    <a:pt x="130" y="3"/>
                  </a:cubicBezTo>
                  <a:cubicBezTo>
                    <a:pt x="129" y="4"/>
                    <a:pt x="128" y="5"/>
                    <a:pt x="127" y="6"/>
                  </a:cubicBezTo>
                  <a:cubicBezTo>
                    <a:pt x="127" y="6"/>
                    <a:pt x="126" y="6"/>
                    <a:pt x="126" y="6"/>
                  </a:cubicBezTo>
                  <a:cubicBezTo>
                    <a:pt x="125" y="7"/>
                    <a:pt x="123" y="8"/>
                    <a:pt x="121" y="8"/>
                  </a:cubicBezTo>
                  <a:cubicBezTo>
                    <a:pt x="121" y="8"/>
                    <a:pt x="121" y="8"/>
                    <a:pt x="121" y="8"/>
                  </a:cubicBezTo>
                  <a:cubicBezTo>
                    <a:pt x="119" y="9"/>
                    <a:pt x="117" y="10"/>
                    <a:pt x="115" y="10"/>
                  </a:cubicBezTo>
                  <a:cubicBezTo>
                    <a:pt x="114" y="10"/>
                    <a:pt x="113" y="11"/>
                    <a:pt x="113" y="11"/>
                  </a:cubicBezTo>
                  <a:cubicBezTo>
                    <a:pt x="112" y="11"/>
                    <a:pt x="111" y="11"/>
                    <a:pt x="110" y="12"/>
                  </a:cubicBezTo>
                  <a:cubicBezTo>
                    <a:pt x="109" y="12"/>
                    <a:pt x="108" y="12"/>
                    <a:pt x="107" y="12"/>
                  </a:cubicBezTo>
                  <a:cubicBezTo>
                    <a:pt x="106" y="12"/>
                    <a:pt x="105" y="12"/>
                    <a:pt x="105" y="13"/>
                  </a:cubicBezTo>
                  <a:cubicBezTo>
                    <a:pt x="104" y="13"/>
                    <a:pt x="102" y="13"/>
                    <a:pt x="101" y="13"/>
                  </a:cubicBezTo>
                  <a:cubicBezTo>
                    <a:pt x="100" y="13"/>
                    <a:pt x="100" y="13"/>
                    <a:pt x="99" y="13"/>
                  </a:cubicBezTo>
                  <a:cubicBezTo>
                    <a:pt x="96" y="14"/>
                    <a:pt x="91" y="15"/>
                    <a:pt x="87" y="15"/>
                  </a:cubicBezTo>
                  <a:cubicBezTo>
                    <a:pt x="87" y="15"/>
                    <a:pt x="86" y="15"/>
                    <a:pt x="86" y="15"/>
                  </a:cubicBezTo>
                  <a:cubicBezTo>
                    <a:pt x="83" y="15"/>
                    <a:pt x="81" y="16"/>
                    <a:pt x="79" y="16"/>
                  </a:cubicBezTo>
                  <a:cubicBezTo>
                    <a:pt x="79" y="16"/>
                    <a:pt x="78" y="16"/>
                    <a:pt x="78" y="16"/>
                  </a:cubicBezTo>
                  <a:cubicBezTo>
                    <a:pt x="73" y="16"/>
                    <a:pt x="68" y="17"/>
                    <a:pt x="63" y="17"/>
                  </a:cubicBezTo>
                  <a:cubicBezTo>
                    <a:pt x="63" y="17"/>
                    <a:pt x="63" y="17"/>
                    <a:pt x="62" y="17"/>
                  </a:cubicBezTo>
                  <a:cubicBezTo>
                    <a:pt x="60" y="17"/>
                    <a:pt x="57" y="17"/>
                    <a:pt x="55" y="17"/>
                  </a:cubicBezTo>
                  <a:cubicBezTo>
                    <a:pt x="54" y="17"/>
                    <a:pt x="54" y="17"/>
                    <a:pt x="54" y="17"/>
                  </a:cubicBezTo>
                  <a:cubicBezTo>
                    <a:pt x="51" y="17"/>
                    <a:pt x="48" y="17"/>
                    <a:pt x="45" y="17"/>
                  </a:cubicBezTo>
                  <a:cubicBezTo>
                    <a:pt x="0" y="17"/>
                    <a:pt x="0" y="17"/>
                    <a:pt x="0" y="17"/>
                  </a:cubicBezTo>
                  <a:cubicBezTo>
                    <a:pt x="0" y="132"/>
                    <a:pt x="0" y="132"/>
                    <a:pt x="0" y="132"/>
                  </a:cubicBezTo>
                  <a:lnTo>
                    <a:pt x="45" y="132"/>
                  </a:lnTo>
                  <a:close/>
                </a:path>
              </a:pathLst>
            </a:custGeom>
            <a:solidFill>
              <a:schemeClr val="accent4">
                <a:lumMod val="75000"/>
              </a:schemeClr>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pic>
          <p:nvPicPr>
            <p:cNvPr id="12" name="MH_Other_6"/>
            <p:cNvPicPr>
              <a:picLocks noChangeAspect="1"/>
            </p:cNvPicPr>
            <p:nvPr>
              <p:custDataLst>
                <p:tags r:id="rId14"/>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2544233" y="4448176"/>
              <a:ext cx="2051051"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MH_Other_12"/>
            <p:cNvSpPr/>
            <p:nvPr>
              <p:custDataLst>
                <p:tags r:id="rId15"/>
              </p:custDataLst>
            </p:nvPr>
          </p:nvSpPr>
          <p:spPr bwMode="auto">
            <a:xfrm flipH="1">
              <a:off x="2957047" y="4522471"/>
              <a:ext cx="4490781" cy="1052195"/>
            </a:xfrm>
            <a:custGeom>
              <a:avLst/>
              <a:gdLst>
                <a:gd name="T0" fmla="*/ 593 w 594"/>
                <a:gd name="T1" fmla="*/ 157 h 179"/>
                <a:gd name="T2" fmla="*/ 592 w 594"/>
                <a:gd name="T3" fmla="*/ 156 h 179"/>
                <a:gd name="T4" fmla="*/ 577 w 594"/>
                <a:gd name="T5" fmla="*/ 149 h 179"/>
                <a:gd name="T6" fmla="*/ 576 w 594"/>
                <a:gd name="T7" fmla="*/ 148 h 179"/>
                <a:gd name="T8" fmla="*/ 572 w 594"/>
                <a:gd name="T9" fmla="*/ 147 h 179"/>
                <a:gd name="T10" fmla="*/ 572 w 594"/>
                <a:gd name="T11" fmla="*/ 148 h 179"/>
                <a:gd name="T12" fmla="*/ 566 w 594"/>
                <a:gd name="T13" fmla="*/ 147 h 179"/>
                <a:gd name="T14" fmla="*/ 566 w 594"/>
                <a:gd name="T15" fmla="*/ 146 h 179"/>
                <a:gd name="T16" fmla="*/ 565 w 594"/>
                <a:gd name="T17" fmla="*/ 146 h 179"/>
                <a:gd name="T18" fmla="*/ 564 w 594"/>
                <a:gd name="T19" fmla="*/ 146 h 179"/>
                <a:gd name="T20" fmla="*/ 557 w 594"/>
                <a:gd name="T21" fmla="*/ 145 h 179"/>
                <a:gd name="T22" fmla="*/ 557 w 594"/>
                <a:gd name="T23" fmla="*/ 145 h 179"/>
                <a:gd name="T24" fmla="*/ 557 w 594"/>
                <a:gd name="T25" fmla="*/ 145 h 179"/>
                <a:gd name="T26" fmla="*/ 548 w 594"/>
                <a:gd name="T27" fmla="*/ 144 h 179"/>
                <a:gd name="T28" fmla="*/ 549 w 594"/>
                <a:gd name="T29" fmla="*/ 143 h 179"/>
                <a:gd name="T30" fmla="*/ 548 w 594"/>
                <a:gd name="T31" fmla="*/ 144 h 179"/>
                <a:gd name="T32" fmla="*/ 506 w 594"/>
                <a:gd name="T33" fmla="*/ 142 h 179"/>
                <a:gd name="T34" fmla="*/ 139 w 594"/>
                <a:gd name="T35" fmla="*/ 143 h 179"/>
                <a:gd name="T36" fmla="*/ 139 w 594"/>
                <a:gd name="T37" fmla="*/ 166 h 179"/>
                <a:gd name="T38" fmla="*/ 134 w 594"/>
                <a:gd name="T39" fmla="*/ 178 h 179"/>
                <a:gd name="T40" fmla="*/ 124 w 594"/>
                <a:gd name="T41" fmla="*/ 176 h 179"/>
                <a:gd name="T42" fmla="*/ 6 w 594"/>
                <a:gd name="T43" fmla="*/ 100 h 179"/>
                <a:gd name="T44" fmla="*/ 0 w 594"/>
                <a:gd name="T45" fmla="*/ 90 h 179"/>
                <a:gd name="T46" fmla="*/ 6 w 594"/>
                <a:gd name="T47" fmla="*/ 80 h 179"/>
                <a:gd name="T48" fmla="*/ 124 w 594"/>
                <a:gd name="T49" fmla="*/ 3 h 179"/>
                <a:gd name="T50" fmla="*/ 134 w 594"/>
                <a:gd name="T51" fmla="*/ 1 h 179"/>
                <a:gd name="T52" fmla="*/ 139 w 594"/>
                <a:gd name="T53" fmla="*/ 13 h 179"/>
                <a:gd name="T54" fmla="*/ 139 w 594"/>
                <a:gd name="T55" fmla="*/ 31 h 179"/>
                <a:gd name="T56" fmla="*/ 512 w 594"/>
                <a:gd name="T57" fmla="*/ 30 h 179"/>
                <a:gd name="T58" fmla="*/ 518 w 594"/>
                <a:gd name="T59" fmla="*/ 30 h 179"/>
                <a:gd name="T60" fmla="*/ 533 w 594"/>
                <a:gd name="T61" fmla="*/ 31 h 179"/>
                <a:gd name="T62" fmla="*/ 547 w 594"/>
                <a:gd name="T63" fmla="*/ 32 h 179"/>
                <a:gd name="T64" fmla="*/ 558 w 594"/>
                <a:gd name="T65" fmla="*/ 33 h 179"/>
                <a:gd name="T66" fmla="*/ 569 w 594"/>
                <a:gd name="T67" fmla="*/ 35 h 179"/>
                <a:gd name="T68" fmla="*/ 573 w 594"/>
                <a:gd name="T69" fmla="*/ 36 h 179"/>
                <a:gd name="T70" fmla="*/ 577 w 594"/>
                <a:gd name="T71" fmla="*/ 37 h 179"/>
                <a:gd name="T72" fmla="*/ 582 w 594"/>
                <a:gd name="T73" fmla="*/ 38 h 179"/>
                <a:gd name="T74" fmla="*/ 586 w 594"/>
                <a:gd name="T75" fmla="*/ 39 h 179"/>
                <a:gd name="T76" fmla="*/ 587 w 594"/>
                <a:gd name="T77" fmla="*/ 40 h 179"/>
                <a:gd name="T78" fmla="*/ 589 w 594"/>
                <a:gd name="T79" fmla="*/ 41 h 179"/>
                <a:gd name="T80" fmla="*/ 591 w 594"/>
                <a:gd name="T81" fmla="*/ 42 h 179"/>
                <a:gd name="T82" fmla="*/ 592 w 594"/>
                <a:gd name="T83" fmla="*/ 43 h 179"/>
                <a:gd name="T84" fmla="*/ 593 w 594"/>
                <a:gd name="T85" fmla="*/ 44 h 179"/>
                <a:gd name="T86" fmla="*/ 594 w 594"/>
                <a:gd name="T87" fmla="*/ 156 h 179"/>
                <a:gd name="T88" fmla="*/ 593 w 594"/>
                <a:gd name="T89" fmla="*/ 15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4" h="179">
                  <a:moveTo>
                    <a:pt x="593" y="157"/>
                  </a:moveTo>
                  <a:cubicBezTo>
                    <a:pt x="592" y="156"/>
                    <a:pt x="592" y="156"/>
                    <a:pt x="592" y="156"/>
                  </a:cubicBezTo>
                  <a:cubicBezTo>
                    <a:pt x="589" y="153"/>
                    <a:pt x="584" y="151"/>
                    <a:pt x="577" y="149"/>
                  </a:cubicBezTo>
                  <a:cubicBezTo>
                    <a:pt x="576" y="148"/>
                    <a:pt x="576" y="148"/>
                    <a:pt x="576" y="148"/>
                  </a:cubicBezTo>
                  <a:cubicBezTo>
                    <a:pt x="572" y="147"/>
                    <a:pt x="572" y="147"/>
                    <a:pt x="572" y="147"/>
                  </a:cubicBezTo>
                  <a:cubicBezTo>
                    <a:pt x="572" y="148"/>
                    <a:pt x="572" y="148"/>
                    <a:pt x="572" y="148"/>
                  </a:cubicBezTo>
                  <a:cubicBezTo>
                    <a:pt x="570" y="147"/>
                    <a:pt x="568" y="147"/>
                    <a:pt x="566" y="147"/>
                  </a:cubicBezTo>
                  <a:cubicBezTo>
                    <a:pt x="566" y="146"/>
                    <a:pt x="566" y="146"/>
                    <a:pt x="566" y="146"/>
                  </a:cubicBezTo>
                  <a:cubicBezTo>
                    <a:pt x="565" y="146"/>
                    <a:pt x="565" y="146"/>
                    <a:pt x="565" y="146"/>
                  </a:cubicBezTo>
                  <a:cubicBezTo>
                    <a:pt x="564" y="146"/>
                    <a:pt x="564" y="146"/>
                    <a:pt x="564" y="146"/>
                  </a:cubicBezTo>
                  <a:cubicBezTo>
                    <a:pt x="562" y="146"/>
                    <a:pt x="560" y="145"/>
                    <a:pt x="557" y="145"/>
                  </a:cubicBezTo>
                  <a:cubicBezTo>
                    <a:pt x="557" y="145"/>
                    <a:pt x="557" y="145"/>
                    <a:pt x="557" y="145"/>
                  </a:cubicBezTo>
                  <a:cubicBezTo>
                    <a:pt x="557" y="145"/>
                    <a:pt x="557" y="145"/>
                    <a:pt x="557" y="145"/>
                  </a:cubicBezTo>
                  <a:cubicBezTo>
                    <a:pt x="554" y="145"/>
                    <a:pt x="551" y="144"/>
                    <a:pt x="548" y="144"/>
                  </a:cubicBezTo>
                  <a:cubicBezTo>
                    <a:pt x="549" y="143"/>
                    <a:pt x="549" y="143"/>
                    <a:pt x="549" y="143"/>
                  </a:cubicBezTo>
                  <a:cubicBezTo>
                    <a:pt x="548" y="144"/>
                    <a:pt x="548" y="144"/>
                    <a:pt x="548" y="144"/>
                  </a:cubicBezTo>
                  <a:cubicBezTo>
                    <a:pt x="536" y="143"/>
                    <a:pt x="521" y="142"/>
                    <a:pt x="506" y="142"/>
                  </a:cubicBezTo>
                  <a:cubicBezTo>
                    <a:pt x="139" y="143"/>
                    <a:pt x="139" y="143"/>
                    <a:pt x="139" y="143"/>
                  </a:cubicBezTo>
                  <a:cubicBezTo>
                    <a:pt x="139" y="166"/>
                    <a:pt x="139" y="166"/>
                    <a:pt x="139" y="166"/>
                  </a:cubicBezTo>
                  <a:cubicBezTo>
                    <a:pt x="139" y="172"/>
                    <a:pt x="138" y="176"/>
                    <a:pt x="134" y="178"/>
                  </a:cubicBezTo>
                  <a:cubicBezTo>
                    <a:pt x="132" y="179"/>
                    <a:pt x="128" y="179"/>
                    <a:pt x="124" y="176"/>
                  </a:cubicBezTo>
                  <a:cubicBezTo>
                    <a:pt x="6" y="100"/>
                    <a:pt x="6" y="100"/>
                    <a:pt x="6" y="100"/>
                  </a:cubicBezTo>
                  <a:cubicBezTo>
                    <a:pt x="2" y="97"/>
                    <a:pt x="0" y="93"/>
                    <a:pt x="0" y="90"/>
                  </a:cubicBezTo>
                  <a:cubicBezTo>
                    <a:pt x="0" y="86"/>
                    <a:pt x="2" y="82"/>
                    <a:pt x="6" y="80"/>
                  </a:cubicBezTo>
                  <a:cubicBezTo>
                    <a:pt x="124" y="3"/>
                    <a:pt x="124" y="3"/>
                    <a:pt x="124" y="3"/>
                  </a:cubicBezTo>
                  <a:cubicBezTo>
                    <a:pt x="128" y="1"/>
                    <a:pt x="132" y="0"/>
                    <a:pt x="134" y="1"/>
                  </a:cubicBezTo>
                  <a:cubicBezTo>
                    <a:pt x="138" y="3"/>
                    <a:pt x="139" y="7"/>
                    <a:pt x="139" y="13"/>
                  </a:cubicBezTo>
                  <a:cubicBezTo>
                    <a:pt x="139" y="31"/>
                    <a:pt x="139" y="31"/>
                    <a:pt x="139" y="31"/>
                  </a:cubicBezTo>
                  <a:cubicBezTo>
                    <a:pt x="512" y="30"/>
                    <a:pt x="512" y="30"/>
                    <a:pt x="512" y="30"/>
                  </a:cubicBezTo>
                  <a:cubicBezTo>
                    <a:pt x="518" y="30"/>
                    <a:pt x="518" y="30"/>
                    <a:pt x="518" y="30"/>
                  </a:cubicBezTo>
                  <a:cubicBezTo>
                    <a:pt x="524" y="30"/>
                    <a:pt x="529" y="30"/>
                    <a:pt x="533" y="31"/>
                  </a:cubicBezTo>
                  <a:cubicBezTo>
                    <a:pt x="547" y="32"/>
                    <a:pt x="547" y="32"/>
                    <a:pt x="547" y="32"/>
                  </a:cubicBezTo>
                  <a:cubicBezTo>
                    <a:pt x="550" y="32"/>
                    <a:pt x="558" y="33"/>
                    <a:pt x="558" y="33"/>
                  </a:cubicBezTo>
                  <a:cubicBezTo>
                    <a:pt x="569" y="35"/>
                    <a:pt x="569" y="35"/>
                    <a:pt x="569" y="35"/>
                  </a:cubicBezTo>
                  <a:cubicBezTo>
                    <a:pt x="570" y="35"/>
                    <a:pt x="572" y="35"/>
                    <a:pt x="573" y="36"/>
                  </a:cubicBezTo>
                  <a:cubicBezTo>
                    <a:pt x="577" y="37"/>
                    <a:pt x="577" y="37"/>
                    <a:pt x="577" y="37"/>
                  </a:cubicBezTo>
                  <a:cubicBezTo>
                    <a:pt x="582" y="38"/>
                    <a:pt x="582" y="38"/>
                    <a:pt x="582" y="38"/>
                  </a:cubicBezTo>
                  <a:cubicBezTo>
                    <a:pt x="586" y="39"/>
                    <a:pt x="586" y="39"/>
                    <a:pt x="586" y="39"/>
                  </a:cubicBezTo>
                  <a:cubicBezTo>
                    <a:pt x="587" y="40"/>
                    <a:pt x="587" y="40"/>
                    <a:pt x="587" y="40"/>
                  </a:cubicBezTo>
                  <a:cubicBezTo>
                    <a:pt x="589" y="41"/>
                    <a:pt x="589" y="41"/>
                    <a:pt x="589" y="41"/>
                  </a:cubicBezTo>
                  <a:cubicBezTo>
                    <a:pt x="591" y="42"/>
                    <a:pt x="591" y="42"/>
                    <a:pt x="591" y="42"/>
                  </a:cubicBezTo>
                  <a:cubicBezTo>
                    <a:pt x="592" y="43"/>
                    <a:pt x="592" y="43"/>
                    <a:pt x="592" y="43"/>
                  </a:cubicBezTo>
                  <a:cubicBezTo>
                    <a:pt x="593" y="44"/>
                    <a:pt x="593" y="44"/>
                    <a:pt x="593" y="44"/>
                  </a:cubicBezTo>
                  <a:cubicBezTo>
                    <a:pt x="594" y="156"/>
                    <a:pt x="594" y="156"/>
                    <a:pt x="594" y="156"/>
                  </a:cubicBezTo>
                  <a:lnTo>
                    <a:pt x="593" y="157"/>
                  </a:lnTo>
                  <a:close/>
                </a:path>
              </a:pathLst>
            </a:custGeom>
            <a:solidFill>
              <a:srgbClr val="C00000"/>
            </a:solidFill>
            <a:ln>
              <a:noFill/>
            </a:ln>
          </p:spPr>
          <p:txBody>
            <a:bodyPr lIns="68580" tIns="34290" rIns="68580" bIns="34290"/>
            <a:lstStyle/>
            <a:p>
              <a:pPr eaLnBrk="1" fontAlgn="auto" hangingPunct="1">
                <a:spcBef>
                  <a:spcPts val="0"/>
                </a:spcBef>
                <a:spcAft>
                  <a:spcPts val="0"/>
                </a:spcAft>
                <a:defRPr/>
              </a:pPr>
              <a:endParaRPr lang="zh-CN" altLang="en-US" sz="1600" kern="0">
                <a:solidFill>
                  <a:prstClr val="black"/>
                </a:solidFill>
                <a:latin typeface="+mn-lt"/>
                <a:ea typeface="+mn-ea"/>
              </a:endParaRPr>
            </a:p>
          </p:txBody>
        </p:sp>
        <p:cxnSp>
          <p:nvCxnSpPr>
            <p:cNvPr id="14" name="MH_Other_19"/>
            <p:cNvCxnSpPr>
              <a:cxnSpLocks noChangeShapeType="1"/>
            </p:cNvCxnSpPr>
            <p:nvPr>
              <p:custDataLst>
                <p:tags r:id="rId16"/>
              </p:custDataLst>
            </p:nvPr>
          </p:nvCxnSpPr>
          <p:spPr bwMode="auto">
            <a:xfrm>
              <a:off x="7473951" y="4857750"/>
              <a:ext cx="0" cy="425450"/>
            </a:xfrm>
            <a:prstGeom prst="line">
              <a:avLst/>
            </a:prstGeom>
            <a:noFill/>
            <a:ln w="19050" algn="ctr">
              <a:solidFill>
                <a:srgbClr val="F2F2F2"/>
              </a:solidFill>
              <a:miter lim="800000"/>
            </a:ln>
            <a:extLst>
              <a:ext uri="{909E8E84-426E-40DD-AFC4-6F175D3DCCD1}">
                <a14:hiddenFill xmlns:a14="http://schemas.microsoft.com/office/drawing/2010/main">
                  <a:noFill/>
                </a14:hiddenFill>
              </a:ext>
            </a:extLst>
          </p:spPr>
        </p:cxnSp>
        <p:sp>
          <p:nvSpPr>
            <p:cNvPr id="15" name="MH_SubTitle_4"/>
            <p:cNvSpPr txBox="1">
              <a:spLocks noChangeArrowheads="1"/>
            </p:cNvSpPr>
            <p:nvPr>
              <p:custDataLst>
                <p:tags r:id="rId17"/>
              </p:custDataLst>
            </p:nvPr>
          </p:nvSpPr>
          <p:spPr bwMode="auto">
            <a:xfrm>
              <a:off x="2874130" y="4726941"/>
              <a:ext cx="375633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微软雅黑" panose="020B0503020204020204" pitchFamily="34" charset="-122"/>
                </a:defRPr>
              </a:lvl1pPr>
              <a:lvl2pPr marL="742950" indent="-285750">
                <a:defRPr>
                  <a:solidFill>
                    <a:schemeClr val="tx1"/>
                  </a:solidFill>
                  <a:latin typeface="Times New Roman" panose="02020603050405020304" pitchFamily="18" charset="0"/>
                  <a:ea typeface="微软雅黑" panose="020B0503020204020204" pitchFamily="34" charset="-122"/>
                </a:defRPr>
              </a:lvl2pPr>
              <a:lvl3pPr marL="1143000" indent="-228600">
                <a:defRPr>
                  <a:solidFill>
                    <a:schemeClr val="tx1"/>
                  </a:solidFill>
                  <a:latin typeface="Times New Roman" panose="02020603050405020304" pitchFamily="18" charset="0"/>
                  <a:ea typeface="微软雅黑" panose="020B0503020204020204" pitchFamily="34" charset="-122"/>
                </a:defRPr>
              </a:lvl3pPr>
              <a:lvl4pPr marL="1600200" indent="-228600">
                <a:defRPr>
                  <a:solidFill>
                    <a:schemeClr val="tx1"/>
                  </a:solidFill>
                  <a:latin typeface="Times New Roman" panose="02020603050405020304" pitchFamily="18" charset="0"/>
                  <a:ea typeface="微软雅黑" panose="020B0503020204020204" pitchFamily="34" charset="-122"/>
                </a:defRPr>
              </a:lvl4pPr>
              <a:lvl5pPr marL="2057400" indent="-228600">
                <a:defRPr>
                  <a:solidFill>
                    <a:schemeClr val="tx1"/>
                  </a:solidFill>
                  <a:latin typeface="Times New Roman" panose="02020603050405020304" pitchFamily="18" charset="0"/>
                  <a:ea typeface="微软雅黑" panose="020B0503020204020204" pitchFamily="34" charset="-122"/>
                </a:defRPr>
              </a:lvl5pPr>
              <a:lvl6pPr marL="25146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fontAlgn="base">
                <a:spcBef>
                  <a:spcPct val="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algn="ctr" eaLnBrk="1" hangingPunct="1"/>
              <a:r>
                <a:rPr lang="zh-CN" altLang="en-US" sz="2400" b="1" dirty="0">
                  <a:solidFill>
                    <a:schemeClr val="bg1"/>
                  </a:solidFill>
                  <a:latin typeface="微软雅黑" panose="020B0503020204020204" pitchFamily="34" charset="-122"/>
                  <a:sym typeface="+mn-lt"/>
                </a:rPr>
                <a:t>点火源</a:t>
              </a:r>
              <a:endParaRPr lang="zh-CN" altLang="en-US" sz="2400" b="1" dirty="0">
                <a:solidFill>
                  <a:schemeClr val="bg1"/>
                </a:solidFill>
                <a:latin typeface="微软雅黑" panose="020B0503020204020204" pitchFamily="34" charset="-122"/>
                <a:sym typeface="+mn-lt"/>
              </a:endParaRPr>
            </a:p>
          </p:txBody>
        </p:sp>
      </p:grpSp>
      <p:pic>
        <p:nvPicPr>
          <p:cNvPr id="16" name="图片 15"/>
          <p:cNvPicPr>
            <a:picLocks noChangeAspect="1"/>
          </p:cNvPicPr>
          <p:nvPr/>
        </p:nvPicPr>
        <p:blipFill>
          <a:blip r:embed="rId18"/>
          <a:stretch>
            <a:fillRect/>
          </a:stretch>
        </p:blipFill>
        <p:spPr>
          <a:xfrm>
            <a:off x="5416550" y="2696210"/>
            <a:ext cx="6343015" cy="39325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625725"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固定动火区</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1064895" y="2651760"/>
            <a:ext cx="3523615" cy="1770380"/>
          </a:xfrm>
          <a:prstGeom prst="rect">
            <a:avLst/>
          </a:prstGeom>
          <a:noFill/>
          <a:ln w="9525">
            <a:noFill/>
          </a:ln>
        </p:spPr>
        <p:txBody>
          <a:bodyPr wrap="square">
            <a:spAutoFit/>
          </a:bodyPr>
          <a:lstStyle/>
          <a:p>
            <a:pPr algn="l">
              <a:lnSpc>
                <a:spcPct val="130000"/>
              </a:lnSpc>
              <a:buClrTx/>
              <a:buSzTx/>
              <a:buNone/>
            </a:pPr>
            <a:r>
              <a:rPr lang="zh-CN" sz="2800" b="1" dirty="0">
                <a:latin typeface="微软雅黑" panose="020B0503020204020204" pitchFamily="34" charset="-122"/>
                <a:ea typeface="微软雅黑" panose="020B0503020204020204" pitchFamily="34" charset="-122"/>
              </a:rPr>
              <a:t>在非火灾爆炸危险场所划出的专门用于动火的区域。</a:t>
            </a:r>
            <a:endParaRPr lang="zh-CN" sz="2800" b="1" dirty="0">
              <a:latin typeface="微软雅黑" panose="020B0503020204020204" pitchFamily="34" charset="-122"/>
              <a:ea typeface="微软雅黑" panose="020B0503020204020204" pitchFamily="34" charset="-122"/>
            </a:endParaRPr>
          </a:p>
        </p:txBody>
      </p:sp>
      <p:grpSp>
        <p:nvGrpSpPr>
          <p:cNvPr id="3" name="组合 5"/>
          <p:cNvGrpSpPr>
            <a:grpSpLocks noChangeAspect="1"/>
          </p:cNvGrpSpPr>
          <p:nvPr/>
        </p:nvGrpSpPr>
        <p:grpSpPr>
          <a:xfrm>
            <a:off x="4884420" y="2230120"/>
            <a:ext cx="2218055" cy="2613025"/>
            <a:chOff x="0" y="0"/>
            <a:chExt cx="1953624" cy="2299482"/>
          </a:xfrm>
        </p:grpSpPr>
        <p:sp>
          <p:nvSpPr>
            <p:cNvPr id="26627" name="任意多边形 6"/>
            <p:cNvSpPr/>
            <p:nvPr/>
          </p:nvSpPr>
          <p:spPr>
            <a:xfrm>
              <a:off x="0" y="0"/>
              <a:ext cx="1953624" cy="2299482"/>
            </a:xfrm>
            <a:custGeom>
              <a:avLst/>
              <a:gdLst/>
              <a:ahLst/>
              <a:cxnLst>
                <a:cxn ang="0">
                  <a:pos x="1149741" y="0"/>
                </a:cxn>
                <a:cxn ang="0">
                  <a:pos x="1881083" y="262545"/>
                </a:cxn>
                <a:cxn ang="0">
                  <a:pos x="1953624" y="328475"/>
                </a:cxn>
                <a:cxn ang="0">
                  <a:pos x="1944517" y="336752"/>
                </a:cxn>
                <a:cxn ang="0">
                  <a:pos x="1607765" y="1149741"/>
                </a:cxn>
                <a:cxn ang="0">
                  <a:pos x="1944517" y="1962731"/>
                </a:cxn>
                <a:cxn ang="0">
                  <a:pos x="1953624" y="1971008"/>
                </a:cxn>
                <a:cxn ang="0">
                  <a:pos x="1881083" y="2036937"/>
                </a:cxn>
                <a:cxn ang="0">
                  <a:pos x="1149741" y="2299482"/>
                </a:cxn>
                <a:cxn ang="0">
                  <a:pos x="0" y="1149741"/>
                </a:cxn>
                <a:cxn ang="0">
                  <a:pos x="1149741" y="0"/>
                </a:cxn>
              </a:cxnLst>
              <a:rect l="0" t="0" r="0" b="0"/>
              <a:pathLst>
                <a:path w="1953624" h="2299482">
                  <a:moveTo>
                    <a:pt x="1149741" y="0"/>
                  </a:moveTo>
                  <a:cubicBezTo>
                    <a:pt x="1427547" y="0"/>
                    <a:pt x="1682340" y="98528"/>
                    <a:pt x="1881083" y="262545"/>
                  </a:cubicBezTo>
                  <a:lnTo>
                    <a:pt x="1953624" y="328475"/>
                  </a:lnTo>
                  <a:lnTo>
                    <a:pt x="1944517" y="336752"/>
                  </a:lnTo>
                  <a:cubicBezTo>
                    <a:pt x="1736454" y="544814"/>
                    <a:pt x="1607765" y="832249"/>
                    <a:pt x="1607765" y="1149741"/>
                  </a:cubicBezTo>
                  <a:cubicBezTo>
                    <a:pt x="1607765" y="1467233"/>
                    <a:pt x="1736454" y="1754668"/>
                    <a:pt x="1944517" y="1962731"/>
                  </a:cubicBezTo>
                  <a:lnTo>
                    <a:pt x="1953624" y="1971008"/>
                  </a:lnTo>
                  <a:lnTo>
                    <a:pt x="1881083" y="2036937"/>
                  </a:lnTo>
                  <a:cubicBezTo>
                    <a:pt x="1682340" y="2200955"/>
                    <a:pt x="1427547" y="2299482"/>
                    <a:pt x="1149741" y="2299482"/>
                  </a:cubicBezTo>
                  <a:cubicBezTo>
                    <a:pt x="514757" y="2299482"/>
                    <a:pt x="0" y="1784725"/>
                    <a:pt x="0" y="1149741"/>
                  </a:cubicBezTo>
                  <a:cubicBezTo>
                    <a:pt x="0" y="514757"/>
                    <a:pt x="514757" y="0"/>
                    <a:pt x="1149741" y="0"/>
                  </a:cubicBezTo>
                  <a:close/>
                </a:path>
              </a:pathLst>
            </a:custGeom>
            <a:solidFill>
              <a:srgbClr val="C00000"/>
            </a:solidFill>
            <a:ln w="9525">
              <a:noFill/>
            </a:ln>
          </p:spPr>
          <p:txBody>
            <a:bodyPr/>
            <a:lstStyle/>
            <a:p>
              <a:endParaRPr lang="zh-CN" altLang="en-US"/>
            </a:p>
          </p:txBody>
        </p:sp>
        <p:sp>
          <p:nvSpPr>
            <p:cNvPr id="26629" name="TextBox 10"/>
            <p:cNvSpPr txBox="1"/>
            <p:nvPr/>
          </p:nvSpPr>
          <p:spPr>
            <a:xfrm>
              <a:off x="88369" y="825355"/>
              <a:ext cx="1524084" cy="648772"/>
            </a:xfrm>
            <a:prstGeom prst="rect">
              <a:avLst/>
            </a:prstGeom>
            <a:noFill/>
            <a:ln w="9525">
              <a:noFill/>
            </a:ln>
          </p:spPr>
          <p:txBody>
            <a:bodyPr wrap="square" anchor="t">
              <a:spAutoFit/>
            </a:bodyPr>
            <a:lstStyle/>
            <a:p>
              <a:pPr algn="ctr">
                <a:lnSpc>
                  <a:spcPct val="150000"/>
                </a:lnSpc>
              </a:pPr>
              <a:r>
                <a:rPr lang="zh-CN" sz="2800" b="1" dirty="0">
                  <a:solidFill>
                    <a:schemeClr val="bg1"/>
                  </a:solidFill>
                  <a:latin typeface="微软雅黑" panose="020B0503020204020204" pitchFamily="34" charset="-122"/>
                  <a:ea typeface="微软雅黑" panose="020B0503020204020204" pitchFamily="34" charset="-122"/>
                </a:rPr>
                <a:t>安全</a:t>
              </a:r>
              <a:endParaRPr lang="zh-CN" sz="2800" b="1" dirty="0">
                <a:solidFill>
                  <a:schemeClr val="bg1"/>
                </a:solidFill>
                <a:latin typeface="微软雅黑" panose="020B0503020204020204" pitchFamily="34" charset="-122"/>
                <a:ea typeface="微软雅黑" panose="020B0503020204020204" pitchFamily="34" charset="-122"/>
              </a:endParaRPr>
            </a:p>
          </p:txBody>
        </p:sp>
      </p:grpSp>
      <p:grpSp>
        <p:nvGrpSpPr>
          <p:cNvPr id="7" name="组合 9"/>
          <p:cNvGrpSpPr>
            <a:grpSpLocks noChangeAspect="1"/>
          </p:cNvGrpSpPr>
          <p:nvPr/>
        </p:nvGrpSpPr>
        <p:grpSpPr>
          <a:xfrm>
            <a:off x="9177655" y="2230120"/>
            <a:ext cx="2232660" cy="2613025"/>
            <a:chOff x="0" y="0"/>
            <a:chExt cx="1965987" cy="2299482"/>
          </a:xfrm>
        </p:grpSpPr>
        <p:sp>
          <p:nvSpPr>
            <p:cNvPr id="26631" name="任意多边形 14"/>
            <p:cNvSpPr/>
            <p:nvPr/>
          </p:nvSpPr>
          <p:spPr>
            <a:xfrm flipH="1">
              <a:off x="0" y="0"/>
              <a:ext cx="1965987" cy="2299482"/>
            </a:xfrm>
            <a:custGeom>
              <a:avLst/>
              <a:gdLst/>
              <a:ahLst/>
              <a:cxnLst>
                <a:cxn ang="0">
                  <a:pos x="1157017" y="0"/>
                </a:cxn>
                <a:cxn ang="0">
                  <a:pos x="1892987" y="262545"/>
                </a:cxn>
                <a:cxn ang="0">
                  <a:pos x="1965987" y="328475"/>
                </a:cxn>
                <a:cxn ang="0">
                  <a:pos x="1956822" y="336752"/>
                </a:cxn>
                <a:cxn ang="0">
                  <a:pos x="1617939" y="1149741"/>
                </a:cxn>
                <a:cxn ang="0">
                  <a:pos x="1956822" y="1962731"/>
                </a:cxn>
                <a:cxn ang="0">
                  <a:pos x="1965987" y="1971008"/>
                </a:cxn>
                <a:cxn ang="0">
                  <a:pos x="1892987" y="2036937"/>
                </a:cxn>
                <a:cxn ang="0">
                  <a:pos x="1157017" y="2299482"/>
                </a:cxn>
                <a:cxn ang="0">
                  <a:pos x="0" y="1149741"/>
                </a:cxn>
                <a:cxn ang="0">
                  <a:pos x="1157017" y="0"/>
                </a:cxn>
              </a:cxnLst>
              <a:rect l="0" t="0" r="0" b="0"/>
              <a:pathLst>
                <a:path w="1953624" h="2299482">
                  <a:moveTo>
                    <a:pt x="1149741" y="0"/>
                  </a:moveTo>
                  <a:cubicBezTo>
                    <a:pt x="1427547" y="0"/>
                    <a:pt x="1682340" y="98528"/>
                    <a:pt x="1881083" y="262545"/>
                  </a:cubicBezTo>
                  <a:lnTo>
                    <a:pt x="1953624" y="328475"/>
                  </a:lnTo>
                  <a:lnTo>
                    <a:pt x="1944517" y="336752"/>
                  </a:lnTo>
                  <a:cubicBezTo>
                    <a:pt x="1736454" y="544814"/>
                    <a:pt x="1607765" y="832249"/>
                    <a:pt x="1607765" y="1149741"/>
                  </a:cubicBezTo>
                  <a:cubicBezTo>
                    <a:pt x="1607765" y="1467233"/>
                    <a:pt x="1736454" y="1754668"/>
                    <a:pt x="1944517" y="1962731"/>
                  </a:cubicBezTo>
                  <a:lnTo>
                    <a:pt x="1953624" y="1971008"/>
                  </a:lnTo>
                  <a:lnTo>
                    <a:pt x="1881083" y="2036937"/>
                  </a:lnTo>
                  <a:cubicBezTo>
                    <a:pt x="1682340" y="2200955"/>
                    <a:pt x="1427547" y="2299482"/>
                    <a:pt x="1149741" y="2299482"/>
                  </a:cubicBezTo>
                  <a:cubicBezTo>
                    <a:pt x="514757" y="2299482"/>
                    <a:pt x="0" y="1784725"/>
                    <a:pt x="0" y="1149741"/>
                  </a:cubicBezTo>
                  <a:cubicBezTo>
                    <a:pt x="0" y="514757"/>
                    <a:pt x="514757" y="0"/>
                    <a:pt x="1149741" y="0"/>
                  </a:cubicBezTo>
                  <a:close/>
                </a:path>
              </a:pathLst>
            </a:custGeom>
            <a:solidFill>
              <a:srgbClr val="353636"/>
            </a:solidFill>
            <a:ln w="9525">
              <a:noFill/>
            </a:ln>
          </p:spPr>
          <p:txBody>
            <a:bodyPr/>
            <a:lstStyle/>
            <a:p>
              <a:endParaRPr lang="zh-CN" altLang="en-US"/>
            </a:p>
          </p:txBody>
        </p:sp>
        <p:sp>
          <p:nvSpPr>
            <p:cNvPr id="26633" name="TextBox 10"/>
            <p:cNvSpPr txBox="1"/>
            <p:nvPr/>
          </p:nvSpPr>
          <p:spPr>
            <a:xfrm>
              <a:off x="424166" y="767814"/>
              <a:ext cx="1342310" cy="648772"/>
            </a:xfrm>
            <a:prstGeom prst="rect">
              <a:avLst/>
            </a:prstGeom>
            <a:noFill/>
            <a:ln w="9525">
              <a:noFill/>
            </a:ln>
          </p:spPr>
          <p:txBody>
            <a:bodyPr anchor="t">
              <a:spAutoFit/>
            </a:bodyPr>
            <a:lstStyle/>
            <a:p>
              <a:pPr algn="ctr">
                <a:lnSpc>
                  <a:spcPct val="150000"/>
                </a:lnSpc>
              </a:pPr>
              <a:r>
                <a:rPr lang="zh-CN" sz="2800" b="1" dirty="0">
                  <a:solidFill>
                    <a:schemeClr val="bg1"/>
                  </a:solidFill>
                  <a:latin typeface="微软雅黑" panose="020B0503020204020204" pitchFamily="34" charset="-122"/>
                  <a:ea typeface="微软雅黑" panose="020B0503020204020204" pitchFamily="34" charset="-122"/>
                </a:rPr>
                <a:t>场所</a:t>
              </a:r>
              <a:endParaRPr lang="zh-CN" sz="2800" b="1" dirty="0">
                <a:solidFill>
                  <a:schemeClr val="bg1"/>
                </a:solidFill>
                <a:latin typeface="微软雅黑" panose="020B0503020204020204" pitchFamily="34" charset="-122"/>
                <a:ea typeface="微软雅黑" panose="020B0503020204020204" pitchFamily="34" charset="-122"/>
              </a:endParaRPr>
            </a:p>
          </p:txBody>
        </p:sp>
      </p:grpSp>
      <p:sp>
        <p:nvSpPr>
          <p:cNvPr id="11" name="TextBox 10"/>
          <p:cNvSpPr txBox="1"/>
          <p:nvPr/>
        </p:nvSpPr>
        <p:spPr>
          <a:xfrm>
            <a:off x="7407275" y="3102610"/>
            <a:ext cx="1637665" cy="645160"/>
          </a:xfrm>
          <a:prstGeom prst="rect">
            <a:avLst/>
          </a:prstGeom>
          <a:noFill/>
          <a:ln w="9525">
            <a:noFill/>
          </a:ln>
        </p:spPr>
        <p:txBody>
          <a:bodyPr wrap="square" anchor="t">
            <a:spAutoFit/>
          </a:bodyPr>
          <a:lstStyle/>
          <a:p>
            <a:pPr algn="ctr">
              <a:lnSpc>
                <a:spcPct val="150000"/>
              </a:lnSpc>
            </a:pPr>
            <a:r>
              <a:rPr lang="zh-CN" sz="2400" b="1" dirty="0">
                <a:latin typeface="微软雅黑" panose="020B0503020204020204" pitchFamily="34" charset="-122"/>
                <a:ea typeface="微软雅黑" panose="020B0503020204020204" pitchFamily="34" charset="-122"/>
              </a:rPr>
              <a:t>如何划定</a:t>
            </a:r>
            <a:endParaRPr lang="zh-CN" sz="24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p:stCondLst>
                              <p:cond delay="10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40538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动火作业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691515" y="2153285"/>
            <a:ext cx="5843905" cy="2729865"/>
          </a:xfrm>
          <a:prstGeom prst="rect">
            <a:avLst/>
          </a:prstGeom>
          <a:noFill/>
          <a:ln w="9525">
            <a:noFill/>
          </a:ln>
        </p:spPr>
        <p:txBody>
          <a:bodyPr wrap="square">
            <a:spAutoFit/>
          </a:bodyPr>
          <a:lstStyle/>
          <a:p>
            <a:pPr algn="l">
              <a:lnSpc>
                <a:spcPct val="130000"/>
              </a:lnSpc>
              <a:buClrTx/>
              <a:buSzTx/>
              <a:buNone/>
            </a:pPr>
            <a:r>
              <a:rPr lang="zh-CN" sz="2800" b="1" dirty="0">
                <a:latin typeface="微软雅黑" panose="020B0503020204020204" pitchFamily="34" charset="-122"/>
                <a:ea typeface="微软雅黑" panose="020B0503020204020204" pitchFamily="34" charset="-122"/>
              </a:rPr>
              <a:t>在直接或间接产生明火的工艺设备以外的禁火区内从事可能产生火焰、火花或炽热表面的非常规作业，</a:t>
            </a:r>
            <a:endParaRPr lang="zh-CN" sz="2800" b="1" dirty="0">
              <a:latin typeface="微软雅黑" panose="020B0503020204020204" pitchFamily="34" charset="-122"/>
              <a:ea typeface="微软雅黑" panose="020B0503020204020204" pitchFamily="34" charset="-122"/>
            </a:endParaRPr>
          </a:p>
          <a:p>
            <a:pPr algn="l">
              <a:lnSpc>
                <a:spcPct val="130000"/>
              </a:lnSpc>
              <a:buClrTx/>
              <a:buSzTx/>
              <a:buNone/>
            </a:pPr>
            <a:r>
              <a:rPr lang="zh-CN" sz="2400" b="1" dirty="0">
                <a:latin typeface="微软雅黑" panose="020B0503020204020204" pitchFamily="34" charset="-122"/>
                <a:ea typeface="微软雅黑" panose="020B0503020204020204" pitchFamily="34" charset="-122"/>
              </a:rPr>
              <a:t>注：包括使用电焊、气焊（割）、喷灯、电钻、砂轮、喷砂机等进行的作业。</a:t>
            </a:r>
            <a:endParaRPr lang="zh-CN" sz="2400" b="1" dirty="0">
              <a:latin typeface="微软雅黑" panose="020B0503020204020204" pitchFamily="34" charset="-122"/>
              <a:ea typeface="微软雅黑" panose="020B0503020204020204" pitchFamily="34" charset="-122"/>
            </a:endParaRPr>
          </a:p>
        </p:txBody>
      </p:sp>
      <p:pic>
        <p:nvPicPr>
          <p:cNvPr id="3" name="图片 2" descr="src=http___ss2.meipian.me_users_66097140_4db056b0-14f4-11eb-a0fe-c927c8f57c48.jpg_meipian-raw_bucket_ivwen_key_dXNlcnMvNjYwOTcxNDAvNGRiMDU2YjAtMTRmNC0xMWViLWEwZmUtYzkyN2M4ZjU3YzQ4LmpwZw==_sign_c204ce515a4eea.webp"/>
          <p:cNvPicPr>
            <a:picLocks noChangeAspect="1"/>
          </p:cNvPicPr>
          <p:nvPr/>
        </p:nvPicPr>
        <p:blipFill>
          <a:blip r:embed="rId2"/>
          <a:stretch>
            <a:fillRect/>
          </a:stretch>
        </p:blipFill>
        <p:spPr>
          <a:xfrm>
            <a:off x="6923405" y="2087880"/>
            <a:ext cx="3813810" cy="286067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40538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受限空间</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863600" y="1544320"/>
            <a:ext cx="10759440" cy="268160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进出受限，通风不良，可能存在易燃易爆、有毒有害物质或缺氧，对进入人员的身体健康和生命安全构成威胁的</a:t>
            </a:r>
            <a:r>
              <a:rPr lang="zh-CN" sz="2800" b="1" dirty="0">
                <a:solidFill>
                  <a:srgbClr val="C00000"/>
                </a:solidFill>
                <a:latin typeface="微软雅黑" panose="020B0503020204020204" pitchFamily="34" charset="-122"/>
                <a:ea typeface="微软雅黑" panose="020B0503020204020204" pitchFamily="34" charset="-122"/>
                <a:sym typeface="+mn-ea"/>
              </a:rPr>
              <a:t>封闭，半封闭</a:t>
            </a:r>
            <a:r>
              <a:rPr lang="zh-CN" sz="2800" b="1" dirty="0">
                <a:latin typeface="微软雅黑" panose="020B0503020204020204" pitchFamily="34" charset="-122"/>
                <a:ea typeface="微软雅黑" panose="020B0503020204020204" pitchFamily="34" charset="-122"/>
                <a:sym typeface="+mn-ea"/>
              </a:rPr>
              <a:t>设施及场所。</a:t>
            </a:r>
            <a:endParaRPr lang="zh-CN" sz="2800" b="1" dirty="0">
              <a:latin typeface="微软雅黑" panose="020B0503020204020204" pitchFamily="34" charset="-122"/>
              <a:ea typeface="微软雅黑" panose="020B0503020204020204" pitchFamily="34" charset="-122"/>
            </a:endParaRPr>
          </a:p>
          <a:p>
            <a:pPr fontAlgn="auto">
              <a:lnSpc>
                <a:spcPct val="120000"/>
              </a:lnSpc>
              <a:spcBef>
                <a:spcPts val="1200"/>
              </a:spcBef>
            </a:pPr>
            <a:r>
              <a:rPr lang="zh-CN" sz="2400" b="1" dirty="0">
                <a:latin typeface="微软雅黑" panose="020B0503020204020204" pitchFamily="34" charset="-122"/>
                <a:ea typeface="微软雅黑" panose="020B0503020204020204" pitchFamily="34" charset="-122"/>
                <a:sym typeface="+mn-ea"/>
              </a:rPr>
              <a:t>注:包括反应器、塔、釜、槽、罐、炉膛、锅筒、管道以及地下室、窨井、坑(池)、管沟或其他封闭、半封闭场所。</a:t>
            </a:r>
            <a:endParaRPr lang="zh-CN" sz="2400" b="1" dirty="0">
              <a:latin typeface="微软雅黑" panose="020B0503020204020204" pitchFamily="34" charset="-122"/>
              <a:ea typeface="微软雅黑" panose="020B0503020204020204" pitchFamily="34" charset="-122"/>
              <a:sym typeface="+mn-ea"/>
            </a:endParaRPr>
          </a:p>
        </p:txBody>
      </p:sp>
      <p:sp>
        <p:nvSpPr>
          <p:cNvPr id="13" name="标题 3"/>
          <p:cNvSpPr txBox="1"/>
          <p:nvPr/>
        </p:nvSpPr>
        <p:spPr>
          <a:xfrm>
            <a:off x="2054910" y="5182354"/>
            <a:ext cx="3231975" cy="53647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8" name="Picture 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0903" y="4461639"/>
            <a:ext cx="2264150" cy="1830679"/>
          </a:xfrm>
          <a:prstGeom prst="roundRect">
            <a:avLst/>
          </a:prstGeom>
          <a:noFill/>
          <a:ln>
            <a:noFill/>
          </a:ln>
          <a:effectLst>
            <a:glow rad="63500">
              <a:schemeClr val="accent2">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50800" dist="38100" dir="2700000" algn="tl" rotWithShape="0">
                    <a:prstClr val="black">
                      <a:alpha val="40000"/>
                    </a:prstClr>
                  </a:outerShdw>
                </a:effectLst>
              </a14:hiddenEffects>
            </a:ext>
          </a:extLst>
        </p:spPr>
      </p:pic>
      <p:pic>
        <p:nvPicPr>
          <p:cNvPr id="19" name="Picture 9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0471" y="4443224"/>
            <a:ext cx="2029189" cy="1809046"/>
          </a:xfrm>
          <a:prstGeom prst="roundRect">
            <a:avLst/>
          </a:prstGeom>
          <a:noFill/>
          <a:ln>
            <a:noFill/>
          </a:ln>
          <a:effectLst>
            <a:glow rad="63500">
              <a:schemeClr val="accent2">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50800" dist="38100" dir="2700000" algn="tl" rotWithShape="0">
                    <a:prstClr val="black">
                      <a:alpha val="40000"/>
                    </a:prstClr>
                  </a:outerShdw>
                </a:effectLst>
              </a14:hiddenEffects>
            </a:ext>
          </a:extLst>
        </p:spPr>
      </p:pic>
      <p:pic>
        <p:nvPicPr>
          <p:cNvPr id="20" name="Picture 9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62822" y="4462274"/>
            <a:ext cx="2312145" cy="1808181"/>
          </a:xfrm>
          <a:prstGeom prst="roundRect">
            <a:avLst/>
          </a:prstGeom>
          <a:noFill/>
          <a:ln>
            <a:noFill/>
          </a:ln>
          <a:effectLst>
            <a:glow rad="63500">
              <a:schemeClr val="accent2">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50800" dist="38100" dir="2700000" algn="tl" rotWithShape="0">
                    <a:prstClr val="black">
                      <a:alpha val="40000"/>
                    </a:prstClr>
                  </a:outerShdw>
                </a:effectLst>
              </a14:hiddenEffects>
            </a:ext>
          </a:extLst>
        </p:spPr>
      </p:pic>
      <p:pic>
        <p:nvPicPr>
          <p:cNvPr id="21" name="Picture 9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40695" y="4461639"/>
            <a:ext cx="2232794" cy="1829815"/>
          </a:xfrm>
          <a:prstGeom prst="roundRect">
            <a:avLst/>
          </a:prstGeom>
          <a:noFill/>
          <a:ln>
            <a:noFill/>
          </a:ln>
          <a:effectLst>
            <a:glow rad="63500">
              <a:schemeClr val="accent2">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50800" dist="38100" dir="2700000" algn="tl" rotWithShape="0">
                    <a:prstClr val="black">
                      <a:alpha val="40000"/>
                    </a:prstClr>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929255"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受限空间作业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1352550" y="3158490"/>
            <a:ext cx="3054985" cy="112458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进入或探入受限空间进行的作业。</a:t>
            </a:r>
            <a:endParaRPr lang="zh-CN" sz="2800" b="1" dirty="0">
              <a:latin typeface="微软雅黑" panose="020B0503020204020204" pitchFamily="34" charset="-122"/>
              <a:ea typeface="微软雅黑" panose="020B0503020204020204" pitchFamily="34" charset="-122"/>
            </a:endParaRPr>
          </a:p>
        </p:txBody>
      </p:sp>
      <p:pic>
        <p:nvPicPr>
          <p:cNvPr id="4" name="图片 3" descr="t012cfdcb9eff38f6f0"/>
          <p:cNvPicPr>
            <a:picLocks noChangeAspect="1"/>
          </p:cNvPicPr>
          <p:nvPr/>
        </p:nvPicPr>
        <p:blipFill>
          <a:blip r:embed="rId2"/>
          <a:stretch>
            <a:fillRect/>
          </a:stretch>
        </p:blipFill>
        <p:spPr>
          <a:xfrm>
            <a:off x="5551170" y="1963420"/>
            <a:ext cx="4826000" cy="3514725"/>
          </a:xfrm>
          <a:prstGeom prst="roundRect">
            <a:avLst/>
          </a:prstGeom>
          <a:effectLst>
            <a:glow rad="63500">
              <a:schemeClr val="accent2">
                <a:satMod val="175000"/>
                <a:alpha val="40000"/>
              </a:schemeClr>
            </a:glo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929255"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盲板抽堵作业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1090930" y="2844800"/>
            <a:ext cx="2853690" cy="164147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在设备、管道上安装或拆卸盲板的作业。</a:t>
            </a:r>
            <a:endParaRPr lang="zh-CN" sz="2800" b="1" dirty="0">
              <a:latin typeface="微软雅黑" panose="020B0503020204020204" pitchFamily="34" charset="-122"/>
              <a:ea typeface="微软雅黑" panose="020B0503020204020204" pitchFamily="34" charset="-122"/>
            </a:endParaRPr>
          </a:p>
        </p:txBody>
      </p:sp>
      <p:pic>
        <p:nvPicPr>
          <p:cNvPr id="259075" name="内容占位符 3" descr="IMG_4211.jpg"/>
          <p:cNvPicPr>
            <a:picLocks noChangeAspect="1"/>
          </p:cNvPicPr>
          <p:nvPr/>
        </p:nvPicPr>
        <p:blipFill>
          <a:blip r:embed="rId2"/>
          <a:stretch>
            <a:fillRect/>
          </a:stretch>
        </p:blipFill>
        <p:spPr>
          <a:xfrm>
            <a:off x="5759450" y="1486535"/>
            <a:ext cx="4139565" cy="2866390"/>
          </a:xfrm>
          <a:prstGeom prst="roundRect">
            <a:avLst/>
          </a:prstGeom>
          <a:noFill/>
          <a:ln w="9525">
            <a:noFill/>
          </a:ln>
          <a:effectLst>
            <a:glow rad="63500">
              <a:schemeClr val="accent2">
                <a:satMod val="175000"/>
                <a:alpha val="40000"/>
              </a:schemeClr>
            </a:glow>
            <a:outerShdw blurRad="50800" dist="38100" dir="2700000" algn="tl" rotWithShape="0">
              <a:prstClr val="black">
                <a:alpha val="40000"/>
              </a:prstClr>
            </a:outerShdw>
          </a:effectLst>
        </p:spPr>
      </p:pic>
      <p:sp>
        <p:nvSpPr>
          <p:cNvPr id="259077" name="矩形 259076"/>
          <p:cNvSpPr/>
          <p:nvPr/>
        </p:nvSpPr>
        <p:spPr>
          <a:xfrm>
            <a:off x="5337175" y="4646295"/>
            <a:ext cx="5334000" cy="953135"/>
          </a:xfrm>
          <a:prstGeom prst="rect">
            <a:avLst/>
          </a:prstGeom>
          <a:noFill/>
          <a:ln w="9525">
            <a:noFill/>
          </a:ln>
        </p:spPr>
        <p:txBody>
          <a:bodyPr>
            <a:spAutoFit/>
          </a:bodyPr>
          <a:lstStyle/>
          <a:p>
            <a:r>
              <a:rPr lang="zh-CN" sz="2800" b="1" dirty="0">
                <a:solidFill>
                  <a:srgbClr val="C00000"/>
                </a:solidFill>
                <a:latin typeface="微软雅黑" panose="020B0503020204020204" pitchFamily="34" charset="-122"/>
                <a:ea typeface="微软雅黑" panose="020B0503020204020204" pitchFamily="34" charset="-122"/>
              </a:rPr>
              <a:t>不相信“阀门”</a:t>
            </a:r>
            <a:endParaRPr lang="zh-CN" sz="2800" b="1" dirty="0">
              <a:solidFill>
                <a:srgbClr val="C00000"/>
              </a:solidFill>
              <a:latin typeface="微软雅黑" panose="020B0503020204020204" pitchFamily="34" charset="-122"/>
              <a:ea typeface="微软雅黑" panose="020B0503020204020204" pitchFamily="34" charset="-122"/>
            </a:endParaRPr>
          </a:p>
          <a:p>
            <a:r>
              <a:rPr lang="zh-CN" sz="2800" b="1" dirty="0">
                <a:solidFill>
                  <a:srgbClr val="C00000"/>
                </a:solidFill>
                <a:latin typeface="微软雅黑" panose="020B0503020204020204" pitchFamily="34" charset="-122"/>
                <a:ea typeface="微软雅黑" panose="020B0503020204020204" pitchFamily="34" charset="-122"/>
              </a:rPr>
              <a:t>                ——要断开/盲板</a:t>
            </a:r>
            <a:endParaRPr lang="zh-CN" sz="28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32029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高处作业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717550" y="1895475"/>
            <a:ext cx="4481830" cy="268160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在距坠落基准面2m及2m以上有可能坠落的高处进行的作业。</a:t>
            </a:r>
            <a:endParaRPr lang="zh-CN" sz="2800" b="1" dirty="0">
              <a:latin typeface="微软雅黑" panose="020B0503020204020204" pitchFamily="34" charset="-122"/>
              <a:ea typeface="微软雅黑" panose="020B0503020204020204" pitchFamily="34" charset="-122"/>
              <a:sym typeface="+mn-ea"/>
            </a:endParaRPr>
          </a:p>
          <a:p>
            <a:pPr fontAlgn="auto">
              <a:lnSpc>
                <a:spcPct val="120000"/>
              </a:lnSpc>
              <a:spcBef>
                <a:spcPts val="1200"/>
              </a:spcBef>
            </a:pPr>
            <a:r>
              <a:rPr lang="zh-CN" sz="2400" b="1" dirty="0">
                <a:latin typeface="微软雅黑" panose="020B0503020204020204" pitchFamily="34" charset="-122"/>
                <a:ea typeface="微软雅黑" panose="020B0503020204020204" pitchFamily="34" charset="-122"/>
                <a:sym typeface="+mn-ea"/>
              </a:rPr>
              <a:t>注:坠落基准面是指坠落处最低点的水平面。</a:t>
            </a:r>
            <a:endParaRPr lang="zh-CN" sz="2400" b="1" dirty="0">
              <a:latin typeface="微软雅黑" panose="020B0503020204020204" pitchFamily="34" charset="-122"/>
              <a:ea typeface="微软雅黑" panose="020B0503020204020204" pitchFamily="34" charset="-122"/>
              <a:sym typeface="+mn-ea"/>
            </a:endParaRPr>
          </a:p>
        </p:txBody>
      </p:sp>
      <p:pic>
        <p:nvPicPr>
          <p:cNvPr id="2" name="图片 1" descr="u=1332287539,1502570011&amp;fm=253&amp;fmt=auto&amp;app=120&amp;f=JPEG.webp"/>
          <p:cNvPicPr>
            <a:picLocks noChangeAspect="1"/>
          </p:cNvPicPr>
          <p:nvPr/>
        </p:nvPicPr>
        <p:blipFill>
          <a:blip r:embed="rId2"/>
          <a:stretch>
            <a:fillRect/>
          </a:stretch>
        </p:blipFill>
        <p:spPr>
          <a:xfrm>
            <a:off x="6000750" y="1972945"/>
            <a:ext cx="4465955" cy="329565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32029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吊装作业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863600" y="2153920"/>
            <a:ext cx="3802380" cy="215836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利用各种吊装机具将设备、工件、器具、材料等吊起，使其发生位置变化的作业。</a:t>
            </a:r>
            <a:endParaRPr lang="zh-CN" sz="2800" b="1" dirty="0">
              <a:latin typeface="微软雅黑" panose="020B0503020204020204" pitchFamily="34" charset="-122"/>
              <a:ea typeface="微软雅黑" panose="020B0503020204020204" pitchFamily="34" charset="-122"/>
            </a:endParaRPr>
          </a:p>
        </p:txBody>
      </p:sp>
      <p:pic>
        <p:nvPicPr>
          <p:cNvPr id="17" name="Picture 3" descr="吊车"/>
          <p:cNvPicPr>
            <a:picLocks noChangeAspect="1"/>
          </p:cNvPicPr>
          <p:nvPr/>
        </p:nvPicPr>
        <p:blipFill rotWithShape="1">
          <a:blip r:embed="rId2"/>
          <a:srcRect l="5904" t="8858" r="12196" b="10384"/>
          <a:stretch>
            <a:fillRect/>
          </a:stretch>
        </p:blipFill>
        <p:spPr>
          <a:xfrm>
            <a:off x="5601336" y="2002790"/>
            <a:ext cx="4838699" cy="3784856"/>
          </a:xfrm>
          <a:prstGeom prst="roundRect">
            <a:avLst/>
          </a:prstGeom>
          <a:noFill/>
          <a:ln w="38100" cap="flat" cmpd="sng">
            <a:noFill/>
            <a:prstDash val="solid"/>
            <a:miter/>
            <a:headEnd type="none" w="med" len="med"/>
            <a:tailEnd type="none" w="med" len="med"/>
          </a:ln>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32029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临时用电</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746760" y="2866390"/>
            <a:ext cx="3764280" cy="1124585"/>
          </a:xfrm>
          <a:prstGeom prst="rect">
            <a:avLst/>
          </a:prstGeom>
          <a:noFill/>
          <a:ln w="9525">
            <a:noFill/>
          </a:ln>
        </p:spPr>
        <p:txBody>
          <a:bodyPr wrap="square">
            <a:spAutoFit/>
          </a:bodyPr>
          <a:lstStyle/>
          <a:p>
            <a:pPr fontAlgn="auto">
              <a:lnSpc>
                <a:spcPct val="120000"/>
              </a:lnSpc>
              <a:spcBef>
                <a:spcPts val="1200"/>
              </a:spcBef>
            </a:pPr>
            <a:r>
              <a:rPr lang="zh-CN" sz="2800" b="1" dirty="0">
                <a:latin typeface="微软雅黑" panose="020B0503020204020204" pitchFamily="34" charset="-122"/>
                <a:ea typeface="微软雅黑" panose="020B0503020204020204" pitchFamily="34" charset="-122"/>
                <a:sym typeface="+mn-ea"/>
              </a:rPr>
              <a:t>在正式运行的电源上所接的非水久性用电。</a:t>
            </a:r>
            <a:endParaRPr lang="zh-CN" sz="2800" b="1" dirty="0">
              <a:latin typeface="微软雅黑" panose="020B0503020204020204" pitchFamily="34" charset="-122"/>
              <a:ea typeface="微软雅黑" panose="020B0503020204020204" pitchFamily="34" charset="-122"/>
            </a:endParaRPr>
          </a:p>
        </p:txBody>
      </p:sp>
      <p:pic>
        <p:nvPicPr>
          <p:cNvPr id="201733" name="Picture 6"/>
          <p:cNvPicPr>
            <a:picLocks noChangeAspect="1"/>
          </p:cNvPicPr>
          <p:nvPr/>
        </p:nvPicPr>
        <p:blipFill>
          <a:blip r:embed="rId2"/>
          <a:stretch>
            <a:fillRect/>
          </a:stretch>
        </p:blipFill>
        <p:spPr>
          <a:xfrm>
            <a:off x="5486400" y="1926590"/>
            <a:ext cx="4725670" cy="3483610"/>
          </a:xfrm>
          <a:prstGeom prst="roundRect">
            <a:avLst/>
          </a:prstGeom>
          <a:noFill/>
          <a:ln w="9525">
            <a:noFill/>
          </a:ln>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32029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动土作业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717550" y="1895475"/>
            <a:ext cx="4549775" cy="3449955"/>
          </a:xfrm>
          <a:prstGeom prst="rect">
            <a:avLst/>
          </a:prstGeom>
          <a:noFill/>
          <a:ln w="9525">
            <a:noFill/>
          </a:ln>
        </p:spPr>
        <p:txBody>
          <a:bodyPr wrap="square">
            <a:spAutoFit/>
          </a:bodyPr>
          <a:lstStyle/>
          <a:p>
            <a:pPr fontAlgn="auto">
              <a:lnSpc>
                <a:spcPct val="130000"/>
              </a:lnSpc>
              <a:spcBef>
                <a:spcPts val="0"/>
              </a:spcBef>
            </a:pPr>
            <a:r>
              <a:rPr lang="zh-CN" sz="2800" b="1" dirty="0">
                <a:latin typeface="微软雅黑" panose="020B0503020204020204" pitchFamily="34" charset="-122"/>
                <a:ea typeface="微软雅黑" panose="020B0503020204020204" pitchFamily="34" charset="-122"/>
                <a:sym typeface="+mn-ea"/>
              </a:rPr>
              <a:t>挖土、打桩、钻探、坑探、地锚入土深度在0.5m以上:使用推土机、压路机等施工机械进行填土或平整场地等可能对地下隐蔽设施产生影响的作业。</a:t>
            </a:r>
            <a:endParaRPr lang="zh-CN" sz="2800" b="1" dirty="0">
              <a:latin typeface="微软雅黑" panose="020B0503020204020204" pitchFamily="34" charset="-122"/>
              <a:ea typeface="微软雅黑" panose="020B0503020204020204" pitchFamily="34" charset="-122"/>
            </a:endParaRPr>
          </a:p>
        </p:txBody>
      </p:sp>
      <p:pic>
        <p:nvPicPr>
          <p:cNvPr id="14" name="图片 13" descr="CIMG0667"/>
          <p:cNvPicPr preferRelativeResize="0"/>
          <p:nvPr/>
        </p:nvPicPr>
        <p:blipFill>
          <a:blip r:embed="rId2"/>
          <a:stretch>
            <a:fillRect/>
          </a:stretch>
        </p:blipFill>
        <p:spPr>
          <a:xfrm>
            <a:off x="5928995" y="1809115"/>
            <a:ext cx="5116195" cy="3918585"/>
          </a:xfrm>
          <a:prstGeom prst="roundRect">
            <a:avLst/>
          </a:prstGeom>
          <a:noFill/>
          <a:ln w="9525">
            <a:noFill/>
          </a:ln>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A_圆角矩形 18"/>
          <p:cNvSpPr/>
          <p:nvPr>
            <p:custDataLst>
              <p:tags r:id="rId1"/>
            </p:custDataLst>
          </p:nvPr>
        </p:nvSpPr>
        <p:spPr>
          <a:xfrm>
            <a:off x="863600" y="820420"/>
            <a:ext cx="2320290" cy="723900"/>
          </a:xfrm>
          <a:prstGeom prst="roundRect">
            <a:avLst>
              <a:gd name="adj" fmla="val 50000"/>
            </a:avLst>
          </a:prstGeom>
          <a:solidFill>
            <a:srgbClr val="C0000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断路作业</a:t>
            </a:r>
            <a:endParaRPr lang="zh-CN" altLang="en-US" sz="2800" b="1" noProof="1">
              <a:latin typeface="微软雅黑" panose="020B0503020204020204" pitchFamily="34" charset="-122"/>
              <a:ea typeface="微软雅黑" panose="020B0503020204020204" pitchFamily="34" charset="-122"/>
            </a:endParaRPr>
          </a:p>
        </p:txBody>
      </p:sp>
      <p:sp>
        <p:nvSpPr>
          <p:cNvPr id="100" name="文本框 99"/>
          <p:cNvSpPr txBox="1"/>
          <p:nvPr/>
        </p:nvSpPr>
        <p:spPr>
          <a:xfrm>
            <a:off x="863600" y="2825115"/>
            <a:ext cx="4165600" cy="2040255"/>
          </a:xfrm>
          <a:prstGeom prst="rect">
            <a:avLst/>
          </a:prstGeom>
          <a:noFill/>
          <a:ln w="9525">
            <a:noFill/>
          </a:ln>
        </p:spPr>
        <p:txBody>
          <a:bodyPr wrap="square">
            <a:spAutoFit/>
          </a:bodyPr>
          <a:lstStyle/>
          <a:p>
            <a:pPr marL="0" indent="0">
              <a:lnSpc>
                <a:spcPts val="3800"/>
              </a:lnSpc>
              <a:spcBef>
                <a:spcPts val="1200"/>
              </a:spcBef>
              <a:buNone/>
            </a:pPr>
            <a:r>
              <a:rPr lang="zh-CN" sz="2800" b="1" dirty="0">
                <a:latin typeface="微软雅黑" panose="020B0503020204020204" pitchFamily="34" charset="-122"/>
                <a:ea typeface="微软雅黑" panose="020B0503020204020204" pitchFamily="34" charset="-122"/>
                <a:sym typeface="+mn-ea"/>
              </a:rPr>
              <a:t>生产区域内交通主、支路与车间引道上进行工程施工、吊装、吊运等各种影响正常交通的作业。</a:t>
            </a:r>
            <a:endParaRPr lang="zh-CN" sz="28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5786120" y="2092960"/>
            <a:ext cx="5608320" cy="350520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04</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通用要求</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50240" y="1308735"/>
            <a:ext cx="7647940" cy="2330450"/>
          </a:xfrm>
          <a:prstGeom prst="rect">
            <a:avLst/>
          </a:prstGeom>
          <a:noFill/>
          <a:ln w="9525">
            <a:noFill/>
          </a:ln>
        </p:spPr>
        <p:txBody>
          <a:bodyPr wrap="square">
            <a:spAutoFit/>
          </a:bodyPr>
          <a:lstStyle/>
          <a:p>
            <a:pPr marL="0" indent="0" fontAlgn="auto">
              <a:lnSpc>
                <a:spcPct val="13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1、作业前,危险化学品企业应组织作业单位对作业现场和作业过程中可能存在的危险有害因素进行辨识，开展作业危害分析，制定相应的安全风险管控措施。</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8818245" y="2118360"/>
            <a:ext cx="2614930" cy="3065145"/>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grpSp>
        <p:nvGrpSpPr>
          <p:cNvPr id="15" name="组合 14"/>
          <p:cNvGrpSpPr/>
          <p:nvPr/>
        </p:nvGrpSpPr>
        <p:grpSpPr>
          <a:xfrm>
            <a:off x="430530" y="3977005"/>
            <a:ext cx="8308975" cy="2296795"/>
            <a:chOff x="1432" y="5328"/>
            <a:chExt cx="13748" cy="3617"/>
          </a:xfrm>
        </p:grpSpPr>
        <p:grpSp>
          <p:nvGrpSpPr>
            <p:cNvPr id="110" name="组合 109"/>
            <p:cNvGrpSpPr/>
            <p:nvPr/>
          </p:nvGrpSpPr>
          <p:grpSpPr>
            <a:xfrm>
              <a:off x="1802" y="5328"/>
              <a:ext cx="2015" cy="2411"/>
              <a:chOff x="1493568" y="909219"/>
              <a:chExt cx="1089941" cy="1327886"/>
            </a:xfrm>
            <a:effectLst>
              <a:outerShdw blurRad="63500" sx="102000" sy="102000" algn="ctr" rotWithShape="0">
                <a:prstClr val="black">
                  <a:alpha val="40000"/>
                </a:prstClr>
              </a:outerShdw>
            </a:effectLst>
            <a:scene3d>
              <a:camera prst="orthographicFront">
                <a:rot lat="0" lon="0" rev="0"/>
              </a:camera>
              <a:lightRig rig="glow" dir="t">
                <a:rot lat="0" lon="0" rev="14100000"/>
              </a:lightRig>
            </a:scene3d>
          </p:grpSpPr>
          <p:grpSp>
            <p:nvGrpSpPr>
              <p:cNvPr id="111" name="组合 110"/>
              <p:cNvGrpSpPr/>
              <p:nvPr/>
            </p:nvGrpSpPr>
            <p:grpSpPr>
              <a:xfrm>
                <a:off x="1493568" y="909219"/>
                <a:ext cx="1089941" cy="1327886"/>
                <a:chOff x="345230" y="2368798"/>
                <a:chExt cx="873970" cy="1064766"/>
              </a:xfrm>
            </p:grpSpPr>
            <p:sp>
              <p:nvSpPr>
                <p:cNvPr id="113" name="等腰三角形 80"/>
                <p:cNvSpPr/>
                <p:nvPr/>
              </p:nvSpPr>
              <p:spPr>
                <a:xfrm flipV="1">
                  <a:off x="345230" y="2368798"/>
                  <a:ext cx="873970" cy="1064766"/>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353636"/>
                </a:solidFill>
                <a:ln w="28575" cap="flat" cmpd="sng" algn="ctr">
                  <a:noFill/>
                  <a:prstDash val="solid"/>
                </a:ln>
                <a:effectLst/>
                <a:sp3d prstMaterial="softEdge">
                  <a:bevelT w="127000" prst="artDeco"/>
                </a:sp3d>
              </p:spPr>
              <p:txBody>
                <a:bodyPr rtlCol="0" anchor="ctr"/>
                <a:lstStyle/>
                <a:p>
                  <a:pPr algn="ctr"/>
                  <a:endParaRPr lang="zh-CN" altLang="en-US"/>
                </a:p>
              </p:txBody>
            </p:sp>
            <p:sp>
              <p:nvSpPr>
                <p:cNvPr id="114" name="等腰三角形 80"/>
                <p:cNvSpPr/>
                <p:nvPr/>
              </p:nvSpPr>
              <p:spPr>
                <a:xfrm flipV="1">
                  <a:off x="419876" y="2450877"/>
                  <a:ext cx="712054" cy="867502"/>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C00000"/>
                </a:solidFill>
                <a:ln w="28575" cap="flat" cmpd="sng" algn="ctr">
                  <a:noFill/>
                  <a:prstDash val="solid"/>
                </a:ln>
                <a:effectLst/>
                <a:sp3d prstMaterial="softEdge">
                  <a:bevelT w="127000" prst="artDeco"/>
                </a:sp3d>
              </p:spPr>
              <p:txBody>
                <a:bodyPr rtlCol="0" anchor="ctr"/>
                <a:lstStyle/>
                <a:p>
                  <a:pPr algn="ctr"/>
                  <a:endParaRPr lang="zh-CN" altLang="en-US"/>
                </a:p>
              </p:txBody>
            </p:sp>
          </p:grpSp>
          <p:sp>
            <p:nvSpPr>
              <p:cNvPr id="112" name="矩形 111"/>
              <p:cNvSpPr/>
              <p:nvPr/>
            </p:nvSpPr>
            <p:spPr>
              <a:xfrm>
                <a:off x="1677194" y="1048544"/>
                <a:ext cx="692691" cy="559574"/>
              </a:xfrm>
              <a:prstGeom prst="rect">
                <a:avLst/>
              </a:prstGeom>
              <a:ln>
                <a:noFill/>
              </a:ln>
              <a:effectLst/>
              <a:sp3d prstMaterial="softEdge">
                <a:bevelT w="127000" prst="artDeco"/>
              </a:sp3d>
            </p:spPr>
            <p:txBody>
              <a:bodyPr wrap="square">
                <a:spAutoFit/>
              </a:bodyPr>
              <a:lstStyle/>
              <a:p>
                <a:pPr>
                  <a:spcBef>
                    <a:spcPct val="0"/>
                  </a:spcBef>
                  <a:defRPr/>
                </a:pPr>
                <a:r>
                  <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01</a:t>
                </a:r>
                <a:endPar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20" name="组合 119"/>
            <p:cNvGrpSpPr/>
            <p:nvPr/>
          </p:nvGrpSpPr>
          <p:grpSpPr>
            <a:xfrm>
              <a:off x="12434" y="5386"/>
              <a:ext cx="2015" cy="2411"/>
              <a:chOff x="1493568" y="909219"/>
              <a:chExt cx="1089941" cy="1327886"/>
            </a:xfrm>
            <a:effectLst>
              <a:outerShdw blurRad="63500" sx="102000" sy="102000" algn="ctr" rotWithShape="0">
                <a:prstClr val="black">
                  <a:alpha val="40000"/>
                </a:prstClr>
              </a:outerShdw>
            </a:effectLst>
            <a:scene3d>
              <a:camera prst="orthographicFront">
                <a:rot lat="0" lon="0" rev="0"/>
              </a:camera>
              <a:lightRig rig="glow" dir="t">
                <a:rot lat="0" lon="0" rev="14100000"/>
              </a:lightRig>
            </a:scene3d>
          </p:grpSpPr>
          <p:grpSp>
            <p:nvGrpSpPr>
              <p:cNvPr id="121" name="组合 120"/>
              <p:cNvGrpSpPr/>
              <p:nvPr/>
            </p:nvGrpSpPr>
            <p:grpSpPr>
              <a:xfrm>
                <a:off x="1493568" y="909219"/>
                <a:ext cx="1089941" cy="1327886"/>
                <a:chOff x="345230" y="2368798"/>
                <a:chExt cx="873970" cy="1064766"/>
              </a:xfrm>
            </p:grpSpPr>
            <p:sp>
              <p:nvSpPr>
                <p:cNvPr id="123" name="等腰三角形 80"/>
                <p:cNvSpPr/>
                <p:nvPr/>
              </p:nvSpPr>
              <p:spPr>
                <a:xfrm flipV="1">
                  <a:off x="345230" y="2368798"/>
                  <a:ext cx="873970" cy="1064766"/>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C00000"/>
                </a:solidFill>
                <a:ln w="28575" cap="flat" cmpd="sng" algn="ctr">
                  <a:noFill/>
                  <a:prstDash val="solid"/>
                </a:ln>
                <a:effectLst/>
                <a:sp3d prstMaterial="softEdge">
                  <a:bevelT w="127000" prst="artDeco"/>
                </a:sp3d>
              </p:spPr>
              <p:txBody>
                <a:bodyPr rtlCol="0" anchor="ctr"/>
                <a:lstStyle/>
                <a:p>
                  <a:pPr algn="ctr"/>
                  <a:endParaRPr lang="zh-CN" altLang="en-US"/>
                </a:p>
              </p:txBody>
            </p:sp>
            <p:sp>
              <p:nvSpPr>
                <p:cNvPr id="124" name="等腰三角形 80"/>
                <p:cNvSpPr/>
                <p:nvPr/>
              </p:nvSpPr>
              <p:spPr>
                <a:xfrm flipV="1">
                  <a:off x="419876" y="2450877"/>
                  <a:ext cx="712054" cy="867502"/>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353636"/>
                </a:solidFill>
                <a:ln w="28575" cap="flat" cmpd="sng" algn="ctr">
                  <a:noFill/>
                  <a:prstDash val="solid"/>
                </a:ln>
                <a:effectLst/>
                <a:sp3d prstMaterial="softEdge">
                  <a:bevelT w="127000" prst="artDeco"/>
                </a:sp3d>
              </p:spPr>
              <p:txBody>
                <a:bodyPr rtlCol="0" anchor="ctr"/>
                <a:lstStyle/>
                <a:p>
                  <a:pPr algn="ctr"/>
                  <a:endParaRPr lang="zh-CN" altLang="en-US"/>
                </a:p>
              </p:txBody>
            </p:sp>
          </p:grpSp>
          <p:sp>
            <p:nvSpPr>
              <p:cNvPr id="122" name="矩形 121"/>
              <p:cNvSpPr/>
              <p:nvPr/>
            </p:nvSpPr>
            <p:spPr>
              <a:xfrm>
                <a:off x="1659117" y="1048544"/>
                <a:ext cx="692691" cy="559574"/>
              </a:xfrm>
              <a:prstGeom prst="rect">
                <a:avLst/>
              </a:prstGeom>
              <a:ln>
                <a:noFill/>
              </a:ln>
              <a:effectLst/>
              <a:sp3d prstMaterial="softEdge">
                <a:bevelT w="127000" prst="artDeco"/>
              </a:sp3d>
            </p:spPr>
            <p:txBody>
              <a:bodyPr wrap="square">
                <a:spAutoFit/>
              </a:bodyPr>
              <a:lstStyle/>
              <a:p>
                <a:pPr>
                  <a:spcBef>
                    <a:spcPct val="0"/>
                  </a:spcBef>
                  <a:defRPr/>
                </a:pPr>
                <a:r>
                  <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04</a:t>
                </a:r>
                <a:endPar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130" name="Rectangle 13" descr="FD1DDF730CE4456e89755B07FE1653D0# #Rectangle 13"/>
            <p:cNvSpPr>
              <a:spLocks noChangeArrowheads="1"/>
            </p:cNvSpPr>
            <p:nvPr/>
          </p:nvSpPr>
          <p:spPr bwMode="auto">
            <a:xfrm>
              <a:off x="1432" y="8268"/>
              <a:ext cx="2699"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ysClr val="windowText" lastClr="000000"/>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ysClr val="windowText" lastClr="000000"/>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ysClr val="windowText" lastClr="000000"/>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9pPr>
            </a:lstStyle>
            <a:p>
              <a:pPr algn="ctr" eaLnBrk="1" hangingPunct="1">
                <a:spcBef>
                  <a:spcPct val="0"/>
                </a:spcBef>
                <a:buNone/>
                <a:defRPr/>
              </a:pPr>
              <a:r>
                <a:rPr lang="zh-CN" altLang="en-US" sz="2000" b="1" dirty="0">
                  <a:solidFill>
                    <a:srgbClr val="C00000"/>
                  </a:solidFill>
                  <a:latin typeface="微软雅黑" panose="020B0503020204020204" pitchFamily="34" charset="-122"/>
                  <a:ea typeface="微软雅黑" panose="020B0503020204020204" pitchFamily="34" charset="-122"/>
                </a:rPr>
                <a:t>人的因素</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132" name="Rectangle 13" descr="FD1DDF730CE4456e89755B07FE1653D0# #Rectangle 13"/>
            <p:cNvSpPr>
              <a:spLocks noChangeArrowheads="1"/>
            </p:cNvSpPr>
            <p:nvPr/>
          </p:nvSpPr>
          <p:spPr bwMode="auto">
            <a:xfrm>
              <a:off x="4847" y="8263"/>
              <a:ext cx="2699"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ysClr val="windowText" lastClr="000000"/>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ysClr val="windowText" lastClr="000000"/>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ysClr val="windowText" lastClr="000000"/>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9pPr>
            </a:lstStyle>
            <a:p>
              <a:pPr algn="ctr" eaLnBrk="1" hangingPunct="1">
                <a:spcBef>
                  <a:spcPct val="0"/>
                </a:spcBef>
                <a:buNone/>
                <a:defRPr/>
              </a:pPr>
              <a:r>
                <a:rPr lang="zh-CN" altLang="en-US" sz="2000" b="1" dirty="0">
                  <a:solidFill>
                    <a:srgbClr val="C00000"/>
                  </a:solidFill>
                  <a:latin typeface="微软雅黑" panose="020B0503020204020204" pitchFamily="34" charset="-122"/>
                  <a:ea typeface="微软雅黑" panose="020B0503020204020204" pitchFamily="34" charset="-122"/>
                </a:rPr>
                <a:t>物的因素</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134" name="Rectangle 13" descr="FD1DDF730CE4456e89755B07FE1653D0# #Rectangle 13"/>
            <p:cNvSpPr>
              <a:spLocks noChangeArrowheads="1"/>
            </p:cNvSpPr>
            <p:nvPr/>
          </p:nvSpPr>
          <p:spPr bwMode="auto">
            <a:xfrm>
              <a:off x="8588" y="8220"/>
              <a:ext cx="2699"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ysClr val="windowText" lastClr="000000"/>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ysClr val="windowText" lastClr="000000"/>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ysClr val="windowText" lastClr="000000"/>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9pPr>
            </a:lstStyle>
            <a:p>
              <a:pPr eaLnBrk="1" hangingPunct="1">
                <a:spcBef>
                  <a:spcPct val="0"/>
                </a:spcBef>
                <a:buNone/>
                <a:defRPr/>
              </a:pPr>
              <a:r>
                <a:rPr lang="zh-CN" altLang="en-US" sz="2400" b="1" dirty="0">
                  <a:solidFill>
                    <a:srgbClr val="C00000"/>
                  </a:solidFill>
                  <a:latin typeface="微软雅黑" panose="020B0503020204020204" pitchFamily="34" charset="-122"/>
                  <a:ea typeface="微软雅黑" panose="020B0503020204020204" pitchFamily="34" charset="-122"/>
                </a:rPr>
                <a:t>环境因素</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 name="Rectangle 13" descr="FD1DDF730CE4456e89755B07FE1653D0# #Rectangle 13"/>
            <p:cNvSpPr>
              <a:spLocks noChangeArrowheads="1"/>
            </p:cNvSpPr>
            <p:nvPr/>
          </p:nvSpPr>
          <p:spPr bwMode="auto">
            <a:xfrm>
              <a:off x="11674" y="8215"/>
              <a:ext cx="3506"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ysClr val="windowText" lastClr="000000"/>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ysClr val="windowText" lastClr="000000"/>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ysClr val="windowText" lastClr="000000"/>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Calibri" panose="020F0502020204030204" pitchFamily="34" charset="0"/>
                  <a:ea typeface="宋体" panose="02010600030101010101" pitchFamily="2" charset="-122"/>
                </a:defRPr>
              </a:lvl9pPr>
            </a:lstStyle>
            <a:p>
              <a:pPr algn="ctr" eaLnBrk="1" hangingPunct="1">
                <a:spcBef>
                  <a:spcPct val="0"/>
                </a:spcBef>
                <a:buNone/>
                <a:defRPr/>
              </a:pPr>
              <a:r>
                <a:rPr lang="zh-CN" altLang="en-US" sz="2400" b="1" dirty="0">
                  <a:solidFill>
                    <a:srgbClr val="C00000"/>
                  </a:solidFill>
                  <a:latin typeface="微软雅黑" panose="020B0503020204020204" pitchFamily="34" charset="-122"/>
                  <a:ea typeface="微软雅黑" panose="020B0503020204020204" pitchFamily="34" charset="-122"/>
                </a:rPr>
                <a:t>管理因素</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8930" y="5458"/>
              <a:ext cx="2015" cy="2411"/>
              <a:chOff x="1493568" y="909219"/>
              <a:chExt cx="1089941" cy="1327886"/>
            </a:xfrm>
            <a:effectLst>
              <a:outerShdw blurRad="63500" sx="102000" sy="102000" algn="ctr" rotWithShape="0">
                <a:prstClr val="black">
                  <a:alpha val="40000"/>
                </a:prstClr>
              </a:outerShdw>
            </a:effectLst>
            <a:scene3d>
              <a:camera prst="orthographicFront">
                <a:rot lat="0" lon="0" rev="0"/>
              </a:camera>
              <a:lightRig rig="glow" dir="t">
                <a:rot lat="0" lon="0" rev="14100000"/>
              </a:lightRig>
            </a:scene3d>
          </p:grpSpPr>
          <p:grpSp>
            <p:nvGrpSpPr>
              <p:cNvPr id="5" name="组合 4"/>
              <p:cNvGrpSpPr/>
              <p:nvPr/>
            </p:nvGrpSpPr>
            <p:grpSpPr>
              <a:xfrm>
                <a:off x="1493568" y="909219"/>
                <a:ext cx="1089941" cy="1327886"/>
                <a:chOff x="345230" y="2368798"/>
                <a:chExt cx="873970" cy="1064766"/>
              </a:xfrm>
            </p:grpSpPr>
            <p:sp>
              <p:nvSpPr>
                <p:cNvPr id="7" name="等腰三角形 80"/>
                <p:cNvSpPr/>
                <p:nvPr/>
              </p:nvSpPr>
              <p:spPr>
                <a:xfrm flipV="1">
                  <a:off x="345230" y="2368798"/>
                  <a:ext cx="873970" cy="1064766"/>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353636"/>
                </a:solidFill>
                <a:ln w="28575" cap="flat" cmpd="sng" algn="ctr">
                  <a:noFill/>
                  <a:prstDash val="solid"/>
                </a:ln>
                <a:effectLst/>
                <a:sp3d prstMaterial="softEdge">
                  <a:bevelT w="127000" prst="artDeco"/>
                </a:sp3d>
              </p:spPr>
              <p:txBody>
                <a:bodyPr rtlCol="0" anchor="ctr"/>
                <a:lstStyle/>
                <a:p>
                  <a:pPr algn="ctr"/>
                  <a:endParaRPr lang="zh-CN" altLang="en-US"/>
                </a:p>
              </p:txBody>
            </p:sp>
            <p:sp>
              <p:nvSpPr>
                <p:cNvPr id="8" name="等腰三角形 80"/>
                <p:cNvSpPr/>
                <p:nvPr/>
              </p:nvSpPr>
              <p:spPr>
                <a:xfrm flipV="1">
                  <a:off x="419876" y="2450877"/>
                  <a:ext cx="712054" cy="867502"/>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C00000"/>
                </a:solidFill>
                <a:ln w="28575" cap="flat" cmpd="sng" algn="ctr">
                  <a:noFill/>
                  <a:prstDash val="solid"/>
                </a:ln>
                <a:effectLst/>
                <a:sp3d prstMaterial="softEdge">
                  <a:bevelT w="127000" prst="artDeco"/>
                </a:sp3d>
              </p:spPr>
              <p:txBody>
                <a:bodyPr rtlCol="0" anchor="ctr"/>
                <a:lstStyle/>
                <a:p>
                  <a:pPr algn="ctr"/>
                  <a:endParaRPr lang="zh-CN" altLang="en-US"/>
                </a:p>
              </p:txBody>
            </p:sp>
          </p:grpSp>
          <p:sp>
            <p:nvSpPr>
              <p:cNvPr id="9" name="矩形 8"/>
              <p:cNvSpPr/>
              <p:nvPr/>
            </p:nvSpPr>
            <p:spPr>
              <a:xfrm>
                <a:off x="1677194" y="1048544"/>
                <a:ext cx="692691" cy="559574"/>
              </a:xfrm>
              <a:prstGeom prst="rect">
                <a:avLst/>
              </a:prstGeom>
              <a:ln>
                <a:noFill/>
              </a:ln>
              <a:effectLst/>
              <a:sp3d prstMaterial="softEdge">
                <a:bevelT w="127000" prst="artDeco"/>
              </a:sp3d>
            </p:spPr>
            <p:txBody>
              <a:bodyPr wrap="square">
                <a:spAutoFit/>
              </a:bodyPr>
              <a:lstStyle/>
              <a:p>
                <a:pPr>
                  <a:spcBef>
                    <a:spcPct val="0"/>
                  </a:spcBef>
                  <a:defRPr/>
                </a:pPr>
                <a:r>
                  <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03</a:t>
                </a:r>
                <a:endPar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0" name="组合 9"/>
            <p:cNvGrpSpPr/>
            <p:nvPr/>
          </p:nvGrpSpPr>
          <p:grpSpPr>
            <a:xfrm>
              <a:off x="5399" y="5328"/>
              <a:ext cx="2015" cy="2411"/>
              <a:chOff x="1493568" y="909219"/>
              <a:chExt cx="1089941" cy="1327886"/>
            </a:xfrm>
            <a:effectLst>
              <a:outerShdw blurRad="63500" sx="102000" sy="102000" algn="ctr" rotWithShape="0">
                <a:prstClr val="black">
                  <a:alpha val="40000"/>
                </a:prstClr>
              </a:outerShdw>
            </a:effectLst>
            <a:scene3d>
              <a:camera prst="orthographicFront">
                <a:rot lat="0" lon="0" rev="0"/>
              </a:camera>
              <a:lightRig rig="glow" dir="t">
                <a:rot lat="0" lon="0" rev="14100000"/>
              </a:lightRig>
            </a:scene3d>
          </p:grpSpPr>
          <p:grpSp>
            <p:nvGrpSpPr>
              <p:cNvPr id="11" name="组合 10"/>
              <p:cNvGrpSpPr/>
              <p:nvPr/>
            </p:nvGrpSpPr>
            <p:grpSpPr>
              <a:xfrm>
                <a:off x="1493568" y="909219"/>
                <a:ext cx="1089941" cy="1327886"/>
                <a:chOff x="345230" y="2368798"/>
                <a:chExt cx="873970" cy="1064766"/>
              </a:xfrm>
            </p:grpSpPr>
            <p:sp>
              <p:nvSpPr>
                <p:cNvPr id="12" name="等腰三角形 80"/>
                <p:cNvSpPr/>
                <p:nvPr/>
              </p:nvSpPr>
              <p:spPr>
                <a:xfrm flipV="1">
                  <a:off x="345230" y="2368798"/>
                  <a:ext cx="873970" cy="1064766"/>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C00000"/>
                </a:solidFill>
                <a:ln w="28575" cap="flat" cmpd="sng" algn="ctr">
                  <a:noFill/>
                  <a:prstDash val="solid"/>
                </a:ln>
                <a:effectLst/>
                <a:sp3d prstMaterial="softEdge">
                  <a:bevelT w="127000" prst="artDeco"/>
                </a:sp3d>
              </p:spPr>
              <p:txBody>
                <a:bodyPr rtlCol="0" anchor="ctr"/>
                <a:lstStyle/>
                <a:p>
                  <a:pPr algn="ctr"/>
                  <a:endParaRPr lang="zh-CN" altLang="en-US"/>
                </a:p>
              </p:txBody>
            </p:sp>
            <p:sp>
              <p:nvSpPr>
                <p:cNvPr id="13" name="等腰三角形 80"/>
                <p:cNvSpPr/>
                <p:nvPr/>
              </p:nvSpPr>
              <p:spPr>
                <a:xfrm flipV="1">
                  <a:off x="419876" y="2450877"/>
                  <a:ext cx="712054" cy="867502"/>
                </a:xfrm>
                <a:custGeom>
                  <a:avLst/>
                  <a:gdLst/>
                  <a:ahLst/>
                  <a:cxnLst/>
                  <a:rect l="l" t="t" r="r" b="b"/>
                  <a:pathLst>
                    <a:path w="712054" h="867502">
                      <a:moveTo>
                        <a:pt x="356027" y="867502"/>
                      </a:moveTo>
                      <a:cubicBezTo>
                        <a:pt x="552655" y="867502"/>
                        <a:pt x="712054" y="708103"/>
                        <a:pt x="712054" y="511475"/>
                      </a:cubicBezTo>
                      <a:cubicBezTo>
                        <a:pt x="712054" y="422128"/>
                        <a:pt x="679142" y="340468"/>
                        <a:pt x="623637" y="278950"/>
                      </a:cubicBezTo>
                      <a:lnTo>
                        <a:pt x="625915" y="278950"/>
                      </a:lnTo>
                      <a:lnTo>
                        <a:pt x="610443" y="262959"/>
                      </a:lnTo>
                      <a:cubicBezTo>
                        <a:pt x="609052" y="260998"/>
                        <a:pt x="607376" y="259316"/>
                        <a:pt x="605493" y="257843"/>
                      </a:cubicBezTo>
                      <a:lnTo>
                        <a:pt x="356027" y="0"/>
                      </a:lnTo>
                      <a:lnTo>
                        <a:pt x="106561" y="257843"/>
                      </a:lnTo>
                      <a:cubicBezTo>
                        <a:pt x="104678" y="259316"/>
                        <a:pt x="103002" y="260998"/>
                        <a:pt x="101611" y="262959"/>
                      </a:cubicBezTo>
                      <a:lnTo>
                        <a:pt x="86139" y="278950"/>
                      </a:lnTo>
                      <a:lnTo>
                        <a:pt x="88417" y="278950"/>
                      </a:lnTo>
                      <a:cubicBezTo>
                        <a:pt x="32912" y="340468"/>
                        <a:pt x="0" y="422128"/>
                        <a:pt x="0" y="511475"/>
                      </a:cubicBezTo>
                      <a:cubicBezTo>
                        <a:pt x="0" y="708103"/>
                        <a:pt x="159399" y="867502"/>
                        <a:pt x="356027" y="867502"/>
                      </a:cubicBezTo>
                      <a:close/>
                    </a:path>
                  </a:pathLst>
                </a:custGeom>
                <a:solidFill>
                  <a:srgbClr val="353636"/>
                </a:solidFill>
                <a:ln w="28575" cap="flat" cmpd="sng" algn="ctr">
                  <a:noFill/>
                  <a:prstDash val="solid"/>
                </a:ln>
                <a:effectLst/>
                <a:sp3d prstMaterial="softEdge">
                  <a:bevelT w="127000" prst="artDeco"/>
                </a:sp3d>
              </p:spPr>
              <p:txBody>
                <a:bodyPr rtlCol="0" anchor="ctr"/>
                <a:lstStyle/>
                <a:p>
                  <a:pPr algn="ctr"/>
                  <a:endParaRPr lang="zh-CN" altLang="en-US"/>
                </a:p>
              </p:txBody>
            </p:sp>
          </p:grpSp>
          <p:sp>
            <p:nvSpPr>
              <p:cNvPr id="14" name="矩形 13"/>
              <p:cNvSpPr/>
              <p:nvPr/>
            </p:nvSpPr>
            <p:spPr>
              <a:xfrm>
                <a:off x="1659117" y="1048544"/>
                <a:ext cx="692691" cy="559574"/>
              </a:xfrm>
              <a:prstGeom prst="rect">
                <a:avLst/>
              </a:prstGeom>
              <a:ln>
                <a:noFill/>
              </a:ln>
              <a:effectLst/>
              <a:sp3d prstMaterial="softEdge">
                <a:bevelT w="127000" prst="artDeco"/>
              </a:sp3d>
            </p:spPr>
            <p:txBody>
              <a:bodyPr wrap="square">
                <a:spAutoFit/>
              </a:bodyPr>
              <a:lstStyle/>
              <a:p>
                <a:pPr>
                  <a:spcBef>
                    <a:spcPct val="0"/>
                  </a:spcBef>
                  <a:defRPr/>
                </a:pPr>
                <a:r>
                  <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02</a:t>
                </a:r>
                <a:endParaRPr lang="en-US" altLang="zh-CN" sz="3600" b="1" dirty="0">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61720"/>
            <a:ext cx="11205210" cy="3930650"/>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2、作业前，危险化学品企业应采取措施对拟作业的设备设施、管线进行处理，确保满足相应作业安全要求: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（1）对设备管线内介质有安全要求的特殊作业，应采用倒空，隔绝、清洗、置换等方式进行处理; </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（2)对具有能量的设备设施、环境应采取可靠的能量隔离措施;</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注:能量隔离是指将潜在的、可能因失控造成人身伤害、环境损害、设备</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损坏</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、财产损失的能量进行有效的控制、隔离和保护。包括机械隔离、工艺隔离、电气隔离、放射源陷离等。</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（3) 对放射源采取相应安全处置措施。</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矩形 46"/>
          <p:cNvSpPr/>
          <p:nvPr/>
        </p:nvSpPr>
        <p:spPr>
          <a:xfrm>
            <a:off x="3300095" y="5182870"/>
            <a:ext cx="6871335" cy="1351280"/>
          </a:xfrm>
          <a:prstGeom prst="rect">
            <a:avLst/>
          </a:prstGeom>
        </p:spPr>
        <p:txBody>
          <a:bodyPr wrap="square" lIns="121917" tIns="60958" rIns="121917" bIns="60958">
            <a:spAutoFit/>
          </a:bodyPr>
          <a:lstStyle/>
          <a:p>
            <a:pPr defTabSz="1218565">
              <a:defRPr/>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消除或减弱危害</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——装置、设施、工艺本质安全改进；</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a:p>
            <a:pPr defTabSz="1218565">
              <a:defRPr/>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密闭</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——对产生或导致危害的设施或场所进行密闭；</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a:p>
            <a:pPr defTabSz="1218565">
              <a:defRPr/>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隔离</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——通过隔离带、警戒带等把人与危险区域隔开；</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a:p>
            <a:pPr defTabSz="1218565">
              <a:defRPr/>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移开或改变方向</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——如危险及有毒有害气体的排放口。</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67940" name="组合 39"/>
          <p:cNvGrpSpPr/>
          <p:nvPr/>
        </p:nvGrpSpPr>
        <p:grpSpPr>
          <a:xfrm>
            <a:off x="1336040" y="5100955"/>
            <a:ext cx="1603375" cy="1517650"/>
            <a:chOff x="4785765" y="3896672"/>
            <a:chExt cx="2620469" cy="2620469"/>
          </a:xfrm>
        </p:grpSpPr>
        <p:sp>
          <p:nvSpPr>
            <p:cNvPr id="4" name="椭圆 3"/>
            <p:cNvSpPr/>
            <p:nvPr/>
          </p:nvSpPr>
          <p:spPr>
            <a:xfrm>
              <a:off x="4785765" y="3896672"/>
              <a:ext cx="2620469" cy="2620469"/>
            </a:xfrm>
            <a:prstGeom prst="ellipse">
              <a:avLst/>
            </a:prstGeom>
            <a:noFill/>
            <a:ln w="12700" cap="flat" cmpd="sng" algn="ctr">
              <a:solidFill>
                <a:srgbClr val="485766"/>
              </a:solidFill>
              <a:prstDash val="dash"/>
              <a:miter lim="800000"/>
            </a:ln>
            <a:effectLst/>
          </p:spPr>
          <p:txBody>
            <a:bodyPr rtlCol="0" anchor="ctr"/>
            <a:lstStyle/>
            <a:p>
              <a:pPr algn="ctr" fontAlgn="base"/>
              <a:endParaRPr lang="zh-HK" altLang="en-US" sz="1600" strike="noStrike" noProof="1"/>
            </a:p>
          </p:txBody>
        </p:sp>
        <p:sp>
          <p:nvSpPr>
            <p:cNvPr id="5" name="椭圆 4"/>
            <p:cNvSpPr/>
            <p:nvPr/>
          </p:nvSpPr>
          <p:spPr>
            <a:xfrm>
              <a:off x="4931347" y="4042254"/>
              <a:ext cx="2329306" cy="2329306"/>
            </a:xfrm>
            <a:prstGeom prst="ellipse">
              <a:avLst/>
            </a:prstGeom>
            <a:solidFill>
              <a:srgbClr val="C00000"/>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indent="0" algn="ctr" defTabSz="914400" rtl="0" eaLnBrk="0" fontAlgn="base" latinLnBrk="0" hangingPunct="0">
                <a:lnSpc>
                  <a:spcPct val="100000"/>
                </a:lnSpc>
                <a:spcBef>
                  <a:spcPct val="0"/>
                </a:spcBef>
                <a:spcAft>
                  <a:spcPct val="0"/>
                </a:spcAft>
                <a:buFont typeface="Arial" panose="020B0604020202020204" pitchFamily="34" charset="0"/>
                <a:buNone/>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工程控制</a:t>
              </a:r>
              <a:endPar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p:cTn id="7" dur="500" fill="hold"/>
                                        <p:tgtEl>
                                          <p:spTgt spid="167940"/>
                                        </p:tgtEl>
                                        <p:attrNameLst>
                                          <p:attrName>ppt_w</p:attrName>
                                        </p:attrNameLst>
                                      </p:cBhvr>
                                      <p:tavLst>
                                        <p:tav tm="0">
                                          <p:val>
                                            <p:fltVal val="0"/>
                                          </p:val>
                                        </p:tav>
                                        <p:tav tm="100000">
                                          <p:val>
                                            <p:strVal val="#ppt_w"/>
                                          </p:val>
                                        </p:tav>
                                      </p:tavLst>
                                    </p:anim>
                                    <p:anim calcmode="lin" valueType="num">
                                      <p:cBhvr>
                                        <p:cTn id="8" dur="500" fill="hold"/>
                                        <p:tgtEl>
                                          <p:spTgt spid="167940"/>
                                        </p:tgtEl>
                                        <p:attrNameLst>
                                          <p:attrName>ppt_h</p:attrName>
                                        </p:attrNameLst>
                                      </p:cBhvr>
                                      <p:tavLst>
                                        <p:tav tm="0">
                                          <p:val>
                                            <p:fltVal val="0"/>
                                          </p:val>
                                        </p:tav>
                                        <p:tav tm="100000">
                                          <p:val>
                                            <p:strVal val="#ppt_h"/>
                                          </p:val>
                                        </p:tav>
                                      </p:tavLst>
                                    </p:anim>
                                    <p:animEffect transition="in" filter="fade">
                                      <p:cBhvr>
                                        <p:cTn id="9" dur="500"/>
                                        <p:tgtEl>
                                          <p:spTgt spid="167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23265" y="1167765"/>
            <a:ext cx="10745470" cy="1124585"/>
          </a:xfrm>
          <a:prstGeom prst="rect">
            <a:avLst/>
          </a:prstGeom>
          <a:noFill/>
          <a:ln w="9525">
            <a:noFill/>
          </a:ln>
        </p:spPr>
        <p:txBody>
          <a:bodyPr wrap="square">
            <a:spAutoFit/>
          </a:bodyPr>
          <a:lstStyle/>
          <a:p>
            <a:pPr marL="0" algn="l"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3、进入作业现场的人员应正确</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佩戴</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满足GB 39800.1要求的个体防护装备。</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1050925" y="2642235"/>
            <a:ext cx="4445000" cy="3629025"/>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文本框 3"/>
          <p:cNvSpPr txBox="1"/>
          <p:nvPr/>
        </p:nvSpPr>
        <p:spPr>
          <a:xfrm>
            <a:off x="6510020" y="4187825"/>
            <a:ext cx="4597400" cy="977265"/>
          </a:xfrm>
          <a:prstGeom prst="rect">
            <a:avLst/>
          </a:prstGeom>
          <a:noFill/>
        </p:spPr>
        <p:txBody>
          <a:bodyPr wrap="square" rtlCol="0" anchor="t">
            <a:spAutoFit/>
          </a:bodyPr>
          <a:lstStyle/>
          <a:p>
            <a:pPr algn="l" fontAlgn="auto">
              <a:lnSpc>
                <a:spcPct val="120000"/>
              </a:lnSpc>
              <a:buNone/>
            </a:pP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如：安全帽</a:t>
            </a:r>
            <a:endParaRPr lang="en-US" altLang="zh-CN" sz="2400" b="1">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buNone/>
            </a:pP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塑料纸胶帽不超2.5年</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个月）</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8" name="组合 109"/>
          <p:cNvGrpSpPr/>
          <p:nvPr/>
        </p:nvGrpSpPr>
        <p:grpSpPr>
          <a:xfrm>
            <a:off x="7299325" y="2071370"/>
            <a:ext cx="1896745" cy="1818640"/>
            <a:chOff x="4450933" y="3791953"/>
            <a:chExt cx="1319306" cy="1319782"/>
          </a:xfrm>
        </p:grpSpPr>
        <p:grpSp>
          <p:nvGrpSpPr>
            <p:cNvPr id="59" name="组合 110"/>
            <p:cNvGrpSpPr/>
            <p:nvPr/>
          </p:nvGrpSpPr>
          <p:grpSpPr>
            <a:xfrm>
              <a:off x="4450933" y="3791953"/>
              <a:ext cx="1319306" cy="1319782"/>
              <a:chOff x="4345444" y="2542859"/>
              <a:chExt cx="1810550" cy="1811205"/>
            </a:xfrm>
          </p:grpSpPr>
          <p:grpSp>
            <p:nvGrpSpPr>
              <p:cNvPr id="60" name="组合 112"/>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61" name="同心圆 60"/>
                <p:cNvSpPr/>
                <p:nvPr/>
              </p:nvSpPr>
              <p:spPr>
                <a:xfrm>
                  <a:off x="1463339" y="1072758"/>
                  <a:ext cx="1546058" cy="1546058"/>
                </a:xfrm>
                <a:prstGeom prst="donut">
                  <a:avLst>
                    <a:gd name="adj" fmla="val 4879"/>
                  </a:avLst>
                </a:prstGeom>
                <a:gradFill>
                  <a:gsLst>
                    <a:gs pos="0">
                      <a:sysClr val="window" lastClr="FFFFFF">
                        <a:lumMod val="95000"/>
                      </a:sysClr>
                    </a:gs>
                    <a:gs pos="55000">
                      <a:sysClr val="window" lastClr="FFFFFF">
                        <a:lumMod val="95000"/>
                      </a:sysClr>
                    </a:gs>
                    <a:gs pos="100000">
                      <a:sysClr val="window" lastClr="FFFFFF">
                        <a:lumMod val="85000"/>
                      </a:sysClr>
                    </a:gs>
                  </a:gsLst>
                  <a:lin ang="8100000" scaled="0"/>
                </a:gradFill>
                <a:ln w="25400" cap="flat" cmpd="sng" algn="ctr">
                  <a:noFill/>
                  <a:prstDash val="solid"/>
                </a:ln>
                <a:effectLst/>
              </p:spPr>
              <p:txBody>
                <a:bodyPr rtlCol="0" anchor="ctr"/>
                <a:lstStyle/>
                <a:p>
                  <a:pPr algn="ctr"/>
                  <a:endParaRPr lang="zh-CN" altLang="en-US" sz="1400">
                    <a:solidFill>
                      <a:sysClr val="windowText" lastClr="000000"/>
                    </a:solidFill>
                  </a:endParaRPr>
                </a:p>
              </p:txBody>
            </p:sp>
            <p:sp>
              <p:nvSpPr>
                <p:cNvPr id="62" name="椭圆 61"/>
                <p:cNvSpPr/>
                <p:nvPr/>
              </p:nvSpPr>
              <p:spPr>
                <a:xfrm>
                  <a:off x="1484232" y="1093651"/>
                  <a:ext cx="1504274" cy="1504273"/>
                </a:xfrm>
                <a:prstGeom prst="ellipse">
                  <a:avLst/>
                </a:prstGeom>
                <a:gradFill>
                  <a:gsLst>
                    <a:gs pos="0">
                      <a:sysClr val="window" lastClr="FFFFFF"/>
                    </a:gs>
                    <a:gs pos="51000">
                      <a:sysClr val="window" lastClr="FFFFFF">
                        <a:lumMod val="95000"/>
                      </a:sysClr>
                    </a:gs>
                    <a:gs pos="100000">
                      <a:sysClr val="window" lastClr="FFFFFF">
                        <a:lumMod val="85000"/>
                      </a:sysClr>
                    </a:gs>
                  </a:gsLst>
                  <a:lin ang="18900000" scaled="0"/>
                </a:gradFill>
                <a:ln w="25400" cap="flat" cmpd="sng" algn="ctr">
                  <a:noFill/>
                  <a:prstDash val="solid"/>
                </a:ln>
                <a:effectLst/>
              </p:spPr>
              <p:txBody>
                <a:bodyPr rtlCol="0" anchor="ctr"/>
                <a:lstStyle/>
                <a:p>
                  <a:pPr algn="ctr"/>
                  <a:endParaRPr lang="zh-CN" altLang="en-US" sz="1400"/>
                </a:p>
              </p:txBody>
            </p:sp>
          </p:grpSp>
          <p:sp>
            <p:nvSpPr>
              <p:cNvPr id="63" name="椭圆 62"/>
              <p:cNvSpPr/>
              <p:nvPr/>
            </p:nvSpPr>
            <p:spPr>
              <a:xfrm>
                <a:off x="4565571" y="2763062"/>
                <a:ext cx="1370298" cy="1370793"/>
              </a:xfrm>
              <a:prstGeom prst="ellipse">
                <a:avLst/>
              </a:prstGeom>
              <a:solidFill>
                <a:srgbClr val="C00000"/>
              </a:solidFill>
              <a:ln w="25400" cap="flat" cmpd="sng" algn="ctr">
                <a:noFill/>
                <a:prstDash val="solid"/>
              </a:ln>
              <a:effectLst/>
            </p:spPr>
            <p:txBody>
              <a:bodyPr rtlCol="0" anchor="ctr"/>
              <a:lstStyle/>
              <a:p>
                <a:pPr algn="ctr"/>
                <a:endParaRPr lang="zh-CN" altLang="en-US" sz="1400"/>
              </a:p>
            </p:txBody>
          </p:sp>
        </p:grpSp>
        <p:sp>
          <p:nvSpPr>
            <p:cNvPr id="64" name="TextBox 111"/>
            <p:cNvSpPr txBox="1"/>
            <p:nvPr/>
          </p:nvSpPr>
          <p:spPr>
            <a:xfrm>
              <a:off x="4569141" y="4044563"/>
              <a:ext cx="1082688" cy="814265"/>
            </a:xfrm>
            <a:prstGeom prst="rect">
              <a:avLst/>
            </a:prstGeom>
            <a:noFill/>
          </p:spPr>
          <p:txBody>
            <a:bodyPr wrap="square" lIns="138192" tIns="69096" rIns="138192" bIns="69096"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注意</a:t>
              </a:r>
              <a:endParaRPr lang="zh-CN" altLang="en-US" sz="3200" b="1" dirty="0">
                <a:solidFill>
                  <a:schemeClr val="bg1"/>
                </a:solidFill>
                <a:latin typeface="微软雅黑" panose="020B0503020204020204" pitchFamily="34" charset="-122"/>
                <a:ea typeface="微软雅黑" panose="020B0503020204020204" pitchFamily="34" charset="-122"/>
              </a:endParaRPr>
            </a:p>
            <a:p>
              <a:pPr algn="ctr"/>
              <a:r>
                <a:rPr lang="zh-CN" altLang="en-US" sz="3200" b="1" dirty="0">
                  <a:solidFill>
                    <a:schemeClr val="bg1"/>
                  </a:solidFill>
                  <a:latin typeface="微软雅黑" panose="020B0503020204020204" pitchFamily="34" charset="-122"/>
                  <a:ea typeface="微软雅黑" panose="020B0503020204020204" pitchFamily="34" charset="-122"/>
                </a:rPr>
                <a:t>期限</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216025"/>
            <a:ext cx="7447915" cy="4742815"/>
          </a:xfrm>
          <a:prstGeom prst="rect">
            <a:avLst/>
          </a:prstGeom>
          <a:noFill/>
          <a:ln w="9525">
            <a:noFill/>
          </a:ln>
        </p:spPr>
        <p:txBody>
          <a:bodyPr wrap="square">
            <a:spAutoFit/>
          </a:bodyPr>
          <a:lstStyle/>
          <a:p>
            <a:pPr marL="0" algn="l"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4、作业前,危险化学品企业应对参加作业的人员进行安全措施交底，主要包括:</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（1）作业现场和作业过程中可能存在的危险</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有害因素及采取的</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具</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体安全措施与应急措施;</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（2）会同作业单位组织作业人员到作业现场，了解和熟悉现场环境，进一步核实安全措施的可靠性,熟悉应急救援器材的位置及分布;</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（3）涉及断路</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动土作业时，应对作业现场的地下</a:t>
            </a:r>
            <a:r>
              <a:rPr lang="en-US" altLang="zh-CN"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隐蔽工程</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进行交底。</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椭圆 12"/>
          <p:cNvSpPr/>
          <p:nvPr/>
        </p:nvSpPr>
        <p:spPr>
          <a:xfrm>
            <a:off x="7957185" y="1635760"/>
            <a:ext cx="3642995" cy="3586480"/>
          </a:xfrm>
          <a:prstGeom prst="ellipse">
            <a:avLst/>
          </a:prstGeom>
          <a:noFill/>
          <a:ln w="9525" cap="flat" cmpd="sng">
            <a:solidFill>
              <a:srgbClr val="7F7F7F"/>
            </a:solidFill>
            <a:prstDash val="dash"/>
            <a:round/>
            <a:headEnd type="none" w="med" len="med"/>
            <a:tailEnd type="none" w="med" len="med"/>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4" name="Oval 13"/>
          <p:cNvSpPr/>
          <p:nvPr/>
        </p:nvSpPr>
        <p:spPr>
          <a:xfrm>
            <a:off x="8312150" y="3361690"/>
            <a:ext cx="1485900" cy="1463040"/>
          </a:xfrm>
          <a:prstGeom prst="ellipse">
            <a:avLst/>
          </a:prstGeom>
          <a:solidFill>
            <a:srgbClr val="D9D9D9"/>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5" name="Oval 14"/>
          <p:cNvSpPr/>
          <p:nvPr/>
        </p:nvSpPr>
        <p:spPr>
          <a:xfrm>
            <a:off x="8432800" y="3477895"/>
            <a:ext cx="1222375" cy="1203960"/>
          </a:xfrm>
          <a:prstGeom prst="ellipse">
            <a:avLst/>
          </a:prstGeom>
          <a:solidFill>
            <a:srgbClr val="353636"/>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6" name="Oval 18"/>
          <p:cNvSpPr/>
          <p:nvPr/>
        </p:nvSpPr>
        <p:spPr>
          <a:xfrm>
            <a:off x="9987280" y="3086100"/>
            <a:ext cx="1485900" cy="1464310"/>
          </a:xfrm>
          <a:prstGeom prst="ellipse">
            <a:avLst/>
          </a:prstGeom>
          <a:solidFill>
            <a:srgbClr val="D9D9D9"/>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7" name="Oval 19"/>
          <p:cNvSpPr/>
          <p:nvPr/>
        </p:nvSpPr>
        <p:spPr>
          <a:xfrm>
            <a:off x="10107295" y="3201670"/>
            <a:ext cx="1223010" cy="1203960"/>
          </a:xfrm>
          <a:prstGeom prst="ellipse">
            <a:avLst/>
          </a:prstGeom>
          <a:solidFill>
            <a:srgbClr val="7F7F7F"/>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8" name="Oval 23"/>
          <p:cNvSpPr/>
          <p:nvPr/>
        </p:nvSpPr>
        <p:spPr>
          <a:xfrm>
            <a:off x="8865235" y="1807845"/>
            <a:ext cx="1487170" cy="1463040"/>
          </a:xfrm>
          <a:prstGeom prst="ellipse">
            <a:avLst/>
          </a:prstGeom>
          <a:solidFill>
            <a:srgbClr val="D9D9D9"/>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299" name="Oval 24"/>
          <p:cNvSpPr/>
          <p:nvPr/>
        </p:nvSpPr>
        <p:spPr>
          <a:xfrm>
            <a:off x="8986520" y="1923415"/>
            <a:ext cx="1223010" cy="1204595"/>
          </a:xfrm>
          <a:prstGeom prst="ellipse">
            <a:avLst/>
          </a:prstGeom>
          <a:solidFill>
            <a:srgbClr val="C00000"/>
          </a:solidFill>
          <a:ln w="9525">
            <a:noFill/>
          </a:ln>
        </p:spPr>
        <p:txBody>
          <a:bodyPr anchor="t"/>
          <a:lstStyle/>
          <a:p>
            <a:pPr eaLnBrk="0" hangingPunct="0"/>
            <a:endParaRPr lang="zh-CN" altLang="en-US" sz="2000" dirty="0">
              <a:latin typeface="Arial" panose="020B0604020202020204" pitchFamily="34" charset="0"/>
              <a:ea typeface="微软雅黑" panose="020B0503020204020204" pitchFamily="34" charset="-122"/>
            </a:endParaRPr>
          </a:p>
        </p:txBody>
      </p:sp>
      <p:sp>
        <p:nvSpPr>
          <p:cNvPr id="12302" name="TextBox 25"/>
          <p:cNvSpPr txBox="1"/>
          <p:nvPr/>
        </p:nvSpPr>
        <p:spPr>
          <a:xfrm>
            <a:off x="9211310" y="2105025"/>
            <a:ext cx="732790" cy="706755"/>
          </a:xfrm>
          <a:prstGeom prst="rect">
            <a:avLst/>
          </a:prstGeom>
          <a:noFill/>
          <a:ln w="9525">
            <a:noFill/>
          </a:ln>
        </p:spPr>
        <p:txBody>
          <a:bodyPr wrap="square" anchor="t">
            <a:spAutoFit/>
          </a:bodyPr>
          <a:lstStyle/>
          <a:p>
            <a:pPr algn="ctr" eaLnBrk="0" hangingPunct="0">
              <a:buClrTx/>
              <a:buSzTx/>
              <a:buNone/>
            </a:pPr>
            <a:r>
              <a:rPr lang="zh-CN" altLang="en-US" sz="2000" b="1" dirty="0">
                <a:solidFill>
                  <a:srgbClr val="F8F8F8"/>
                </a:solidFill>
                <a:latin typeface="微软雅黑" panose="020B0503020204020204" pitchFamily="34" charset="-122"/>
                <a:ea typeface="微软雅黑" panose="020B0503020204020204" pitchFamily="34" charset="-122"/>
                <a:sym typeface="+mn-ea"/>
              </a:rPr>
              <a:t>现场</a:t>
            </a:r>
            <a:endParaRPr lang="zh-CN" altLang="en-US" sz="2000" b="1" dirty="0">
              <a:solidFill>
                <a:srgbClr val="F8F8F8"/>
              </a:solidFill>
              <a:latin typeface="微软雅黑" panose="020B0503020204020204" pitchFamily="34" charset="-122"/>
              <a:ea typeface="微软雅黑" panose="020B0503020204020204" pitchFamily="34" charset="-122"/>
              <a:sym typeface="+mn-ea"/>
            </a:endParaRPr>
          </a:p>
          <a:p>
            <a:pPr algn="ctr" eaLnBrk="0" hangingPunct="0">
              <a:buClrTx/>
              <a:buSzTx/>
              <a:buNone/>
            </a:pPr>
            <a:r>
              <a:rPr lang="zh-CN" altLang="en-US" sz="2000" b="1" dirty="0">
                <a:solidFill>
                  <a:srgbClr val="F8F8F8"/>
                </a:solidFill>
                <a:latin typeface="微软雅黑" panose="020B0503020204020204" pitchFamily="34" charset="-122"/>
                <a:ea typeface="微软雅黑" panose="020B0503020204020204" pitchFamily="34" charset="-122"/>
                <a:sym typeface="+mn-ea"/>
              </a:rPr>
              <a:t>交底</a:t>
            </a:r>
            <a:endParaRPr lang="zh-CN" altLang="en-US" sz="2000" b="1" dirty="0">
              <a:solidFill>
                <a:srgbClr val="F8F8F8"/>
              </a:solidFill>
              <a:latin typeface="微软雅黑" panose="020B0503020204020204" pitchFamily="34" charset="-122"/>
              <a:ea typeface="微软雅黑" panose="020B0503020204020204" pitchFamily="34" charset="-122"/>
              <a:sym typeface="+mn-ea"/>
            </a:endParaRPr>
          </a:p>
        </p:txBody>
      </p:sp>
      <p:sp>
        <p:nvSpPr>
          <p:cNvPr id="12303" name="TextBox 93"/>
          <p:cNvSpPr txBox="1"/>
          <p:nvPr/>
        </p:nvSpPr>
        <p:spPr>
          <a:xfrm>
            <a:off x="8657590" y="3658870"/>
            <a:ext cx="732790" cy="706755"/>
          </a:xfrm>
          <a:prstGeom prst="rect">
            <a:avLst/>
          </a:prstGeom>
          <a:noFill/>
          <a:ln w="9525">
            <a:noFill/>
          </a:ln>
        </p:spPr>
        <p:txBody>
          <a:bodyPr wrap="square" anchor="t">
            <a:spAutoFit/>
          </a:bodyPr>
          <a:lstStyle/>
          <a:p>
            <a:pPr algn="ctr" eaLnBrk="0" hangingPunct="0"/>
            <a:r>
              <a:rPr lang="zh-CN" altLang="en-US" sz="2000" b="1" dirty="0">
                <a:solidFill>
                  <a:srgbClr val="F8F8F8"/>
                </a:solidFill>
                <a:latin typeface="微软雅黑" panose="020B0503020204020204" pitchFamily="34" charset="-122"/>
                <a:ea typeface="微软雅黑" panose="020B0503020204020204" pitchFamily="34" charset="-122"/>
                <a:sym typeface="+mn-ea"/>
              </a:rPr>
              <a:t>书面</a:t>
            </a:r>
            <a:endParaRPr lang="zh-CN" altLang="en-US" sz="2000" b="1" dirty="0">
              <a:solidFill>
                <a:srgbClr val="F8F8F8"/>
              </a:solidFill>
              <a:latin typeface="微软雅黑" panose="020B0503020204020204" pitchFamily="34" charset="-122"/>
              <a:ea typeface="微软雅黑" panose="020B0503020204020204" pitchFamily="34" charset="-122"/>
              <a:sym typeface="+mn-ea"/>
            </a:endParaRPr>
          </a:p>
          <a:p>
            <a:pPr algn="ctr" eaLnBrk="0" hangingPunct="0"/>
            <a:r>
              <a:rPr lang="zh-CN" altLang="en-US" sz="2000" b="1" dirty="0">
                <a:solidFill>
                  <a:srgbClr val="F8F8F8"/>
                </a:solidFill>
                <a:latin typeface="微软雅黑" panose="020B0503020204020204" pitchFamily="34" charset="-122"/>
                <a:ea typeface="微软雅黑" panose="020B0503020204020204" pitchFamily="34" charset="-122"/>
                <a:sym typeface="+mn-ea"/>
              </a:rPr>
              <a:t>交底</a:t>
            </a:r>
            <a:endParaRPr lang="zh-CN" altLang="en-US" sz="2000" b="1" dirty="0">
              <a:solidFill>
                <a:srgbClr val="F8F8F8"/>
              </a:solidFill>
              <a:latin typeface="微软雅黑" panose="020B0503020204020204" pitchFamily="34" charset="-122"/>
              <a:ea typeface="微软雅黑" panose="020B0503020204020204" pitchFamily="34" charset="-122"/>
              <a:sym typeface="+mn-ea"/>
            </a:endParaRPr>
          </a:p>
        </p:txBody>
      </p:sp>
      <p:sp>
        <p:nvSpPr>
          <p:cNvPr id="12304" name="TextBox 94"/>
          <p:cNvSpPr txBox="1"/>
          <p:nvPr/>
        </p:nvSpPr>
        <p:spPr>
          <a:xfrm>
            <a:off x="10333355" y="3411855"/>
            <a:ext cx="732790" cy="706755"/>
          </a:xfrm>
          <a:prstGeom prst="rect">
            <a:avLst/>
          </a:prstGeom>
          <a:noFill/>
          <a:ln w="9525">
            <a:noFill/>
          </a:ln>
        </p:spPr>
        <p:txBody>
          <a:bodyPr wrap="square" anchor="t">
            <a:spAutoFit/>
          </a:bodyPr>
          <a:lstStyle/>
          <a:p>
            <a:pPr algn="ctr" eaLnBrk="0" hangingPunct="0"/>
            <a:r>
              <a:rPr lang="zh-CN" altLang="en-US" sz="2000" b="1" dirty="0">
                <a:solidFill>
                  <a:srgbClr val="F8F8F8"/>
                </a:solidFill>
                <a:latin typeface="微软雅黑" panose="020B0503020204020204" pitchFamily="34" charset="-122"/>
                <a:ea typeface="微软雅黑" panose="020B0503020204020204" pitchFamily="34" charset="-122"/>
              </a:rPr>
              <a:t>逐级</a:t>
            </a:r>
            <a:endParaRPr lang="zh-CN" altLang="en-US" sz="2000" b="1" dirty="0">
              <a:solidFill>
                <a:srgbClr val="F8F8F8"/>
              </a:solidFill>
              <a:latin typeface="微软雅黑" panose="020B0503020204020204" pitchFamily="34" charset="-122"/>
              <a:ea typeface="微软雅黑" panose="020B0503020204020204" pitchFamily="34" charset="-122"/>
            </a:endParaRPr>
          </a:p>
          <a:p>
            <a:pPr algn="ctr" eaLnBrk="0" hangingPunct="0"/>
            <a:r>
              <a:rPr lang="zh-CN" altLang="en-US" sz="2000" b="1" dirty="0">
                <a:solidFill>
                  <a:srgbClr val="F8F8F8"/>
                </a:solidFill>
                <a:latin typeface="微软雅黑" panose="020B0503020204020204" pitchFamily="34" charset="-122"/>
                <a:ea typeface="微软雅黑" panose="020B0503020204020204" pitchFamily="34" charset="-122"/>
              </a:rPr>
              <a:t>交底</a:t>
            </a:r>
            <a:endParaRPr lang="zh-CN" altLang="en-US" sz="2000" b="1" dirty="0">
              <a:solidFill>
                <a:srgbClr val="F8F8F8"/>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000"/>
                                        <p:tgtEl>
                                          <p:spTgt spid="2"/>
                                        </p:tgtEl>
                                      </p:cBhvr>
                                    </p:animEffect>
                                  </p:childTnLst>
                                </p:cTn>
                              </p:par>
                            </p:childTnLst>
                          </p:cTn>
                        </p:par>
                        <p:par>
                          <p:cTn id="8" fill="hold">
                            <p:stCondLst>
                              <p:cond delay="1000"/>
                            </p:stCondLst>
                            <p:childTnLst>
                              <p:par>
                                <p:cTn id="9" presetID="52" presetClass="entr" presetSubtype="0" fill="hold" grpId="0" nodeType="afterEffect">
                                  <p:stCondLst>
                                    <p:cond delay="0"/>
                                  </p:stCondLst>
                                  <p:childTnLst>
                                    <p:set>
                                      <p:cBhvr>
                                        <p:cTn id="10" dur="1" fill="hold">
                                          <p:stCondLst>
                                            <p:cond delay="0"/>
                                          </p:stCondLst>
                                        </p:cTn>
                                        <p:tgtEl>
                                          <p:spTgt spid="12298"/>
                                        </p:tgtEl>
                                        <p:attrNameLst>
                                          <p:attrName>style.visibility</p:attrName>
                                        </p:attrNameLst>
                                      </p:cBhvr>
                                      <p:to>
                                        <p:strVal val="visible"/>
                                      </p:to>
                                    </p:set>
                                    <p:animScale>
                                      <p:cBhvr>
                                        <p:cTn id="11" dur="1000" decel="50000" fill="hold">
                                          <p:stCondLst>
                                            <p:cond delay="0"/>
                                          </p:stCondLst>
                                        </p:cTn>
                                        <p:tgtEl>
                                          <p:spTgt spid="1229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2" dur="1000" decel="50000" fill="hold">
                                          <p:stCondLst>
                                            <p:cond delay="0"/>
                                          </p:stCondLst>
                                        </p:cTn>
                                        <p:tgtEl>
                                          <p:spTgt spid="12298"/>
                                        </p:tgtEl>
                                        <p:attrNameLst>
                                          <p:attrName>ppt_x</p:attrName>
                                          <p:attrName>ppt_y</p:attrName>
                                        </p:attrNameLst>
                                      </p:cBhvr>
                                    </p:animMotion>
                                    <p:animEffect transition="in" filter="fade">
                                      <p:cBhvr>
                                        <p:cTn id="13" dur="1000"/>
                                        <p:tgtEl>
                                          <p:spTgt spid="12298"/>
                                        </p:tgtEl>
                                      </p:cBhvr>
                                    </p:animEffect>
                                  </p:childTnLst>
                                </p:cTn>
                              </p:par>
                              <p:par>
                                <p:cTn id="14" presetID="52" presetClass="entr" presetSubtype="0" fill="hold" grpId="0" nodeType="withEffect">
                                  <p:stCondLst>
                                    <p:cond delay="0"/>
                                  </p:stCondLst>
                                  <p:childTnLst>
                                    <p:set>
                                      <p:cBhvr>
                                        <p:cTn id="15" dur="1" fill="hold">
                                          <p:stCondLst>
                                            <p:cond delay="0"/>
                                          </p:stCondLst>
                                        </p:cTn>
                                        <p:tgtEl>
                                          <p:spTgt spid="12299"/>
                                        </p:tgtEl>
                                        <p:attrNameLst>
                                          <p:attrName>style.visibility</p:attrName>
                                        </p:attrNameLst>
                                      </p:cBhvr>
                                      <p:to>
                                        <p:strVal val="visible"/>
                                      </p:to>
                                    </p:set>
                                    <p:animScale>
                                      <p:cBhvr>
                                        <p:cTn id="16" dur="1000" decel="50000" fill="hold">
                                          <p:stCondLst>
                                            <p:cond delay="0"/>
                                          </p:stCondLst>
                                        </p:cTn>
                                        <p:tgtEl>
                                          <p:spTgt spid="1229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2299"/>
                                        </p:tgtEl>
                                        <p:attrNameLst>
                                          <p:attrName>ppt_x</p:attrName>
                                          <p:attrName>ppt_y</p:attrName>
                                        </p:attrNameLst>
                                      </p:cBhvr>
                                    </p:animMotion>
                                    <p:animEffect transition="in" filter="fade">
                                      <p:cBhvr>
                                        <p:cTn id="18" dur="1000"/>
                                        <p:tgtEl>
                                          <p:spTgt spid="12299"/>
                                        </p:tgtEl>
                                      </p:cBhvr>
                                    </p:animEffect>
                                  </p:childTnLst>
                                </p:cTn>
                              </p:par>
                              <p:par>
                                <p:cTn id="19" presetID="52" presetClass="entr" presetSubtype="0" fill="hold" grpId="0" nodeType="withEffect">
                                  <p:stCondLst>
                                    <p:cond delay="0"/>
                                  </p:stCondLst>
                                  <p:childTnLst>
                                    <p:set>
                                      <p:cBhvr>
                                        <p:cTn id="20" dur="1" fill="hold">
                                          <p:stCondLst>
                                            <p:cond delay="0"/>
                                          </p:stCondLst>
                                        </p:cTn>
                                        <p:tgtEl>
                                          <p:spTgt spid="12302"/>
                                        </p:tgtEl>
                                        <p:attrNameLst>
                                          <p:attrName>style.visibility</p:attrName>
                                        </p:attrNameLst>
                                      </p:cBhvr>
                                      <p:to>
                                        <p:strVal val="visible"/>
                                      </p:to>
                                    </p:set>
                                    <p:animScale>
                                      <p:cBhvr>
                                        <p:cTn id="21" dur="1000" decel="50000" fill="hold">
                                          <p:stCondLst>
                                            <p:cond delay="0"/>
                                          </p:stCondLst>
                                        </p:cTn>
                                        <p:tgtEl>
                                          <p:spTgt spid="1230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12302"/>
                                        </p:tgtEl>
                                        <p:attrNameLst>
                                          <p:attrName>ppt_x</p:attrName>
                                          <p:attrName>ppt_y</p:attrName>
                                        </p:attrNameLst>
                                      </p:cBhvr>
                                    </p:animMotion>
                                    <p:animEffect transition="in" filter="fade">
                                      <p:cBhvr>
                                        <p:cTn id="23" dur="1000"/>
                                        <p:tgtEl>
                                          <p:spTgt spid="12302"/>
                                        </p:tgtEl>
                                      </p:cBhvr>
                                    </p:animEffect>
                                  </p:childTnLst>
                                </p:cTn>
                              </p:par>
                            </p:childTnLst>
                          </p:cTn>
                        </p:par>
                        <p:par>
                          <p:cTn id="24" fill="hold">
                            <p:stCondLst>
                              <p:cond delay="2000"/>
                            </p:stCondLst>
                            <p:childTnLst>
                              <p:par>
                                <p:cTn id="25" presetID="52" presetClass="entr" presetSubtype="0" fill="hold" grpId="0" nodeType="afterEffect">
                                  <p:stCondLst>
                                    <p:cond delay="0"/>
                                  </p:stCondLst>
                                  <p:childTnLst>
                                    <p:set>
                                      <p:cBhvr>
                                        <p:cTn id="26" dur="1" fill="hold">
                                          <p:stCondLst>
                                            <p:cond delay="0"/>
                                          </p:stCondLst>
                                        </p:cTn>
                                        <p:tgtEl>
                                          <p:spTgt spid="12294"/>
                                        </p:tgtEl>
                                        <p:attrNameLst>
                                          <p:attrName>style.visibility</p:attrName>
                                        </p:attrNameLst>
                                      </p:cBhvr>
                                      <p:to>
                                        <p:strVal val="visible"/>
                                      </p:to>
                                    </p:set>
                                    <p:animScale>
                                      <p:cBhvr>
                                        <p:cTn id="27" dur="1000" decel="50000" fill="hold">
                                          <p:stCondLst>
                                            <p:cond delay="0"/>
                                          </p:stCondLst>
                                        </p:cTn>
                                        <p:tgtEl>
                                          <p:spTgt spid="1229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12294"/>
                                        </p:tgtEl>
                                        <p:attrNameLst>
                                          <p:attrName>ppt_x</p:attrName>
                                          <p:attrName>ppt_y</p:attrName>
                                        </p:attrNameLst>
                                      </p:cBhvr>
                                    </p:animMotion>
                                    <p:animEffect transition="in" filter="fade">
                                      <p:cBhvr>
                                        <p:cTn id="29" dur="1000"/>
                                        <p:tgtEl>
                                          <p:spTgt spid="12294"/>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12295"/>
                                        </p:tgtEl>
                                        <p:attrNameLst>
                                          <p:attrName>style.visibility</p:attrName>
                                        </p:attrNameLst>
                                      </p:cBhvr>
                                      <p:to>
                                        <p:strVal val="visible"/>
                                      </p:to>
                                    </p:set>
                                    <p:animScale>
                                      <p:cBhvr>
                                        <p:cTn id="32" dur="1000" decel="50000" fill="hold">
                                          <p:stCondLst>
                                            <p:cond delay="0"/>
                                          </p:stCondLst>
                                        </p:cTn>
                                        <p:tgtEl>
                                          <p:spTgt spid="1229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12295"/>
                                        </p:tgtEl>
                                        <p:attrNameLst>
                                          <p:attrName>ppt_x</p:attrName>
                                          <p:attrName>ppt_y</p:attrName>
                                        </p:attrNameLst>
                                      </p:cBhvr>
                                    </p:animMotion>
                                    <p:animEffect transition="in" filter="fade">
                                      <p:cBhvr>
                                        <p:cTn id="34" dur="1000"/>
                                        <p:tgtEl>
                                          <p:spTgt spid="12295"/>
                                        </p:tgtEl>
                                      </p:cBhvr>
                                    </p:animEffect>
                                  </p:childTnLst>
                                </p:cTn>
                              </p:par>
                              <p:par>
                                <p:cTn id="35" presetID="52" presetClass="entr" presetSubtype="0" fill="hold" grpId="0" nodeType="withEffect">
                                  <p:stCondLst>
                                    <p:cond delay="0"/>
                                  </p:stCondLst>
                                  <p:childTnLst>
                                    <p:set>
                                      <p:cBhvr>
                                        <p:cTn id="36" dur="1" fill="hold">
                                          <p:stCondLst>
                                            <p:cond delay="0"/>
                                          </p:stCondLst>
                                        </p:cTn>
                                        <p:tgtEl>
                                          <p:spTgt spid="12303"/>
                                        </p:tgtEl>
                                        <p:attrNameLst>
                                          <p:attrName>style.visibility</p:attrName>
                                        </p:attrNameLst>
                                      </p:cBhvr>
                                      <p:to>
                                        <p:strVal val="visible"/>
                                      </p:to>
                                    </p:set>
                                    <p:animScale>
                                      <p:cBhvr>
                                        <p:cTn id="37" dur="1000" decel="50000" fill="hold">
                                          <p:stCondLst>
                                            <p:cond delay="0"/>
                                          </p:stCondLst>
                                        </p:cTn>
                                        <p:tgtEl>
                                          <p:spTgt spid="1230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12303"/>
                                        </p:tgtEl>
                                        <p:attrNameLst>
                                          <p:attrName>ppt_x</p:attrName>
                                          <p:attrName>ppt_y</p:attrName>
                                        </p:attrNameLst>
                                      </p:cBhvr>
                                    </p:animMotion>
                                    <p:animEffect transition="in" filter="fade">
                                      <p:cBhvr>
                                        <p:cTn id="39" dur="1000"/>
                                        <p:tgtEl>
                                          <p:spTgt spid="12303"/>
                                        </p:tgtEl>
                                      </p:cBhvr>
                                    </p:animEffect>
                                  </p:childTnLst>
                                </p:cTn>
                              </p:par>
                            </p:childTnLst>
                          </p:cTn>
                        </p:par>
                        <p:par>
                          <p:cTn id="40" fill="hold">
                            <p:stCondLst>
                              <p:cond delay="3000"/>
                            </p:stCondLst>
                            <p:childTnLst>
                              <p:par>
                                <p:cTn id="41" presetID="52" presetClass="entr" presetSubtype="0" fill="hold" grpId="0" nodeType="afterEffect">
                                  <p:stCondLst>
                                    <p:cond delay="0"/>
                                  </p:stCondLst>
                                  <p:childTnLst>
                                    <p:set>
                                      <p:cBhvr>
                                        <p:cTn id="42" dur="1" fill="hold">
                                          <p:stCondLst>
                                            <p:cond delay="0"/>
                                          </p:stCondLst>
                                        </p:cTn>
                                        <p:tgtEl>
                                          <p:spTgt spid="12296"/>
                                        </p:tgtEl>
                                        <p:attrNameLst>
                                          <p:attrName>style.visibility</p:attrName>
                                        </p:attrNameLst>
                                      </p:cBhvr>
                                      <p:to>
                                        <p:strVal val="visible"/>
                                      </p:to>
                                    </p:set>
                                    <p:animScale>
                                      <p:cBhvr>
                                        <p:cTn id="43" dur="1000" decel="50000" fill="hold">
                                          <p:stCondLst>
                                            <p:cond delay="0"/>
                                          </p:stCondLst>
                                        </p:cTn>
                                        <p:tgtEl>
                                          <p:spTgt spid="1229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4" dur="1000" decel="50000" fill="hold">
                                          <p:stCondLst>
                                            <p:cond delay="0"/>
                                          </p:stCondLst>
                                        </p:cTn>
                                        <p:tgtEl>
                                          <p:spTgt spid="12296"/>
                                        </p:tgtEl>
                                        <p:attrNameLst>
                                          <p:attrName>ppt_x</p:attrName>
                                          <p:attrName>ppt_y</p:attrName>
                                        </p:attrNameLst>
                                      </p:cBhvr>
                                    </p:animMotion>
                                    <p:animEffect transition="in" filter="fade">
                                      <p:cBhvr>
                                        <p:cTn id="45" dur="1000"/>
                                        <p:tgtEl>
                                          <p:spTgt spid="12296"/>
                                        </p:tgtEl>
                                      </p:cBhvr>
                                    </p:animEffect>
                                  </p:childTnLst>
                                </p:cTn>
                              </p:par>
                              <p:par>
                                <p:cTn id="46" presetID="52" presetClass="entr" presetSubtype="0" fill="hold" grpId="0" nodeType="withEffect">
                                  <p:stCondLst>
                                    <p:cond delay="0"/>
                                  </p:stCondLst>
                                  <p:childTnLst>
                                    <p:set>
                                      <p:cBhvr>
                                        <p:cTn id="47" dur="1" fill="hold">
                                          <p:stCondLst>
                                            <p:cond delay="0"/>
                                          </p:stCondLst>
                                        </p:cTn>
                                        <p:tgtEl>
                                          <p:spTgt spid="12297"/>
                                        </p:tgtEl>
                                        <p:attrNameLst>
                                          <p:attrName>style.visibility</p:attrName>
                                        </p:attrNameLst>
                                      </p:cBhvr>
                                      <p:to>
                                        <p:strVal val="visible"/>
                                      </p:to>
                                    </p:set>
                                    <p:animScale>
                                      <p:cBhvr>
                                        <p:cTn id="48" dur="1000" decel="50000" fill="hold">
                                          <p:stCondLst>
                                            <p:cond delay="0"/>
                                          </p:stCondLst>
                                        </p:cTn>
                                        <p:tgtEl>
                                          <p:spTgt spid="1229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9" dur="1000" decel="50000" fill="hold">
                                          <p:stCondLst>
                                            <p:cond delay="0"/>
                                          </p:stCondLst>
                                        </p:cTn>
                                        <p:tgtEl>
                                          <p:spTgt spid="12297"/>
                                        </p:tgtEl>
                                        <p:attrNameLst>
                                          <p:attrName>ppt_x</p:attrName>
                                          <p:attrName>ppt_y</p:attrName>
                                        </p:attrNameLst>
                                      </p:cBhvr>
                                    </p:animMotion>
                                    <p:animEffect transition="in" filter="fade">
                                      <p:cBhvr>
                                        <p:cTn id="50" dur="1000"/>
                                        <p:tgtEl>
                                          <p:spTgt spid="12297"/>
                                        </p:tgtEl>
                                      </p:cBhvr>
                                    </p:animEffect>
                                  </p:childTnLst>
                                </p:cTn>
                              </p:par>
                              <p:par>
                                <p:cTn id="51" presetID="52" presetClass="entr" presetSubtype="0" fill="hold" grpId="0" nodeType="withEffect">
                                  <p:stCondLst>
                                    <p:cond delay="0"/>
                                  </p:stCondLst>
                                  <p:childTnLst>
                                    <p:set>
                                      <p:cBhvr>
                                        <p:cTn id="52" dur="1" fill="hold">
                                          <p:stCondLst>
                                            <p:cond delay="0"/>
                                          </p:stCondLst>
                                        </p:cTn>
                                        <p:tgtEl>
                                          <p:spTgt spid="12304"/>
                                        </p:tgtEl>
                                        <p:attrNameLst>
                                          <p:attrName>style.visibility</p:attrName>
                                        </p:attrNameLst>
                                      </p:cBhvr>
                                      <p:to>
                                        <p:strVal val="visible"/>
                                      </p:to>
                                    </p:set>
                                    <p:animScale>
                                      <p:cBhvr>
                                        <p:cTn id="53" dur="1000" decel="50000" fill="hold">
                                          <p:stCondLst>
                                            <p:cond delay="0"/>
                                          </p:stCondLst>
                                        </p:cTn>
                                        <p:tgtEl>
                                          <p:spTgt spid="1230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12304"/>
                                        </p:tgtEl>
                                        <p:attrNameLst>
                                          <p:attrName>ppt_x</p:attrName>
                                          <p:attrName>ppt_y</p:attrName>
                                        </p:attrNameLst>
                                      </p:cBhvr>
                                    </p:animMotion>
                                    <p:animEffect transition="in" filter="fade">
                                      <p:cBhvr>
                                        <p:cTn id="55" dur="1000"/>
                                        <p:tgtEl>
                                          <p:spTgt spid="12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2294" grpId="0" bldLvl="0" animBg="1"/>
      <p:bldP spid="12295" grpId="0" bldLvl="0" animBg="1"/>
      <p:bldP spid="12296" grpId="0" bldLvl="0" animBg="1"/>
      <p:bldP spid="12297" grpId="0" bldLvl="0" animBg="1"/>
      <p:bldP spid="12298" grpId="0" bldLvl="0" animBg="1"/>
      <p:bldP spid="12299" grpId="0" bldLvl="0" animBg="1"/>
      <p:bldP spid="12302" grpId="0"/>
      <p:bldP spid="12303" grpId="0"/>
      <p:bldP spid="1230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435735"/>
            <a:ext cx="11205210" cy="474281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5、作业前，危险化学品企业应组织作业单位对作业现场及作业涉及的设备、设施、工器具等进行检查，并使之符合如下要求:</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（1）作业现场消防通道、行车通道应保持畅通，影响作业安全的杂物应清理干净;</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（2）作业现场的梯子、栏杆、平台、箅子板、盖板等设施应完整、牢固，采用的临时设施应确保安全; </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）作</a:t>
            </a:r>
            <a:r>
              <a:rPr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业现场可能危及安全的坑、井、沟、孔洞等应采取有效防护措施，并设警示标志;需要检修的设备上的电器电源应可靠断电，在电源开关处加锁并加挂安全</a:t>
            </a:r>
            <a:r>
              <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警</a:t>
            </a:r>
            <a:r>
              <a:rPr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示牌:</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216025"/>
            <a:ext cx="11205210" cy="4742815"/>
          </a:xfrm>
          <a:prstGeom prst="rect">
            <a:avLst/>
          </a:prstGeom>
          <a:noFill/>
          <a:ln w="9525">
            <a:noFill/>
          </a:ln>
        </p:spPr>
        <p:txBody>
          <a:bodyPr wrap="square">
            <a:spAutoFit/>
          </a:bodyPr>
          <a:lstStyle/>
          <a:p>
            <a:pPr marL="0" algn="l" fontAlgn="auto">
              <a:lnSpc>
                <a:spcPct val="12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（4）作业使用的个体防护器具、消防器材、通信设备、照明设备等应完好:</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（5）作业时使用的脚手架、起重机械、电气焊(割)用具、手持电动工具等各种工器具符合作业安全要求，超过安全电压的手持式、移动式电动工器具应逐个配置漏电保护器和电源开关; </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（6）设置符合GB 2894的安全警示标志; </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（7）按照 GB 30077要求配备应急设施;</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（8）腐蚀性介质的作业场所应在现场就近(30m内)配备人员应急用冲洗水源。</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03250" y="2034540"/>
            <a:ext cx="6343015" cy="370903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6、作业前，危险化学品企业应组织办理作业审批手续，并由相关责任人签字审批。同一作业涉及两种或两种以上特殊作业时,应同时执行各自作业要求，办理相应的作业审批手续。</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作业时,审批手续应齐全、安全措施应全部落实，作业环境应符合安全要求。</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descr="u=663838020,1929855013&amp;fm=253&amp;fmt=auto&amp;app=138&amp;f=JPEG.webp"/>
          <p:cNvPicPr>
            <a:picLocks noChangeAspect="1"/>
          </p:cNvPicPr>
          <p:nvPr/>
        </p:nvPicPr>
        <p:blipFill>
          <a:blip r:embed="rId1"/>
          <a:stretch>
            <a:fillRect/>
          </a:stretch>
        </p:blipFill>
        <p:spPr>
          <a:xfrm>
            <a:off x="7148195" y="2034540"/>
            <a:ext cx="4470400" cy="332676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843280" y="1665605"/>
            <a:ext cx="5843905" cy="370903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7、同一作业区域应减少、控制多工种，多层次交叉作业，最大限度避免交叉作业;交叉作业应由危险化学品企业指定专统一协调管理，作业前要组织开展交叉作业风险辨识，采取可靠的保护措施，并保持作业之间信息畅通，确保作业安全。</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imagepphcloud.thepaper.cn_pph_image_73_537_561.jpg&amp;refer=http___imagepphcloud.thepaper.webp"/>
          <p:cNvPicPr>
            <a:picLocks noChangeAspect="1"/>
          </p:cNvPicPr>
          <p:nvPr/>
        </p:nvPicPr>
        <p:blipFill>
          <a:blip r:embed="rId1"/>
          <a:stretch>
            <a:fillRect/>
          </a:stretch>
        </p:blipFill>
        <p:spPr>
          <a:xfrm>
            <a:off x="6885305" y="1927225"/>
            <a:ext cx="4531360" cy="318643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42925" y="1316355"/>
            <a:ext cx="6402705" cy="422592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8、当生产装置或作业现场出现异常，可能危及作业人员安全时，作业人员应立即停止作业，迅速撤离，并及时通知相关单位及人员。</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9、特殊作业涉及的特种作业和特种设备作业人员应取得相应资格证书，持证上岗。界定为GBZ/T 260中规定的职业禁忌症者不应参与相应作业。</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koss.iyong.com_swift_v1_iyong_public_iyong_2222848675988032_image_20190722_1563761054203062002.jpg&amp;refer=http___koss.iyong.webp"/>
          <p:cNvPicPr>
            <a:picLocks noChangeAspect="1"/>
          </p:cNvPicPr>
          <p:nvPr/>
        </p:nvPicPr>
        <p:blipFill>
          <a:blip r:embed="rId1"/>
          <a:stretch>
            <a:fillRect/>
          </a:stretch>
        </p:blipFill>
        <p:spPr>
          <a:xfrm>
            <a:off x="7077075" y="1316355"/>
            <a:ext cx="3240405" cy="222504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pic>
        <p:nvPicPr>
          <p:cNvPr id="3" name="图片 2" descr="u=3556993067,819732728&amp;fm=253&amp;fmt=auto&amp;app=120&amp;f=JPEG.webp"/>
          <p:cNvPicPr>
            <a:picLocks noChangeAspect="1"/>
          </p:cNvPicPr>
          <p:nvPr/>
        </p:nvPicPr>
        <p:blipFill>
          <a:blip r:embed="rId2"/>
          <a:stretch>
            <a:fillRect/>
          </a:stretch>
        </p:blipFill>
        <p:spPr>
          <a:xfrm>
            <a:off x="8035925" y="3780790"/>
            <a:ext cx="3423920" cy="2449195"/>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73100" y="1908175"/>
            <a:ext cx="6851650" cy="370903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作业期间应设</a:t>
            </a:r>
            <a:r>
              <a:rPr lang="en-US" altLang="zh-CN"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监护人</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。监护人应由具有生产(作业)实践经验的人员担任，并经专项培训考试合格,佩戴明显标识，持培训合格证上岗。   监护人的通用职责要求: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（1）作业前检查安全作业票。安全作业票应与作业内容相符并在有效期内;核查安全作业票中各项安全措施已得到落实。</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st.douding.cn_upload_publish_article_image_20200612_1591927115815095785.jpg&amp;refer=http___st.douding.webp"/>
          <p:cNvPicPr>
            <a:picLocks noChangeAspect="1"/>
          </p:cNvPicPr>
          <p:nvPr/>
        </p:nvPicPr>
        <p:blipFill>
          <a:blip r:embed="rId1"/>
          <a:stretch>
            <a:fillRect/>
          </a:stretch>
        </p:blipFill>
        <p:spPr>
          <a:xfrm>
            <a:off x="7602855" y="2184400"/>
            <a:ext cx="4097020" cy="275780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53720" y="1268730"/>
            <a:ext cx="11205210" cy="4742815"/>
          </a:xfrm>
          <a:prstGeom prst="rect">
            <a:avLst/>
          </a:prstGeom>
          <a:noFill/>
          <a:ln w="9525">
            <a:noFill/>
          </a:ln>
        </p:spPr>
        <p:txBody>
          <a:bodyPr wrap="square">
            <a:spAutoFit/>
          </a:bodyPr>
          <a:lstStyle/>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（2）确认相关作业人员持有效资格证书上岗。</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（3）检查作业人员配备和使用的个体防护装备满足作业要求。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（4）对作业人员的行为和现场安全作业条件进行检查与监督，负责作业现场的安全协调与联系。</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（5）当作业场出现导常情况时应中止作业，并采取安全有效措施进行应急处置。当作业人员违章时，应及时制止违章，情节严重时，应收回安全作业票、中止作业。</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2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（6）作业期间，监护人不应擅自离开作业现场且不应从事与监护无关的事。确需离开作业现场时，应收回安全作业票，中止作业。</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198880"/>
            <a:ext cx="11205210" cy="4742815"/>
          </a:xfrm>
          <a:prstGeom prst="rect">
            <a:avLst/>
          </a:prstGeom>
          <a:noFill/>
          <a:ln w="9525">
            <a:noFill/>
          </a:ln>
        </p:spPr>
        <p:txBody>
          <a:bodyPr wrap="square">
            <a:spAutoFit/>
          </a:bodyPr>
          <a:lstStyle/>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11、 作业审批人的职责要求: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（1）应在作业现场完成审批工作;</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（2）应核查安全作业票审批级别与企业管理制度中规定级别一致情况，各项审批环节符合企业管理要求情况;</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（3）应核查安全作业票中各项风险识别及管控措施落实情况。</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12、作业时使用的移动式可燃、有毒气体检测仪，氧气检测仪应符合</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GB 15322.3和GB/T50493-2019中5.2的要求。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13、作业现场照明系统配置要求:</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a:lnSpc>
                <a:spcPct val="12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（1）作业现场应设置满足作业要求的照明装备;</a:t>
            </a:r>
            <a:endParaRPr lang="en-US" alt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33730" y="1661160"/>
            <a:ext cx="6410325" cy="400939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受限空间内使用的照明电压不应超过36V，并满足安全用电要求;在湖湿容器、狭小容器内作业电压不应超过12V;在盛装过易燃易爆气体、液体等介质的容器内作业应使用防爆灯具:在可燃性粉尘爆炸环境作业时应采用符合相应防爆等级要求的灯具;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2611215446,1451472816&amp;fm=253&amp;fmt=auto&amp;app=138&amp;f=JPEG.webp"/>
          <p:cNvPicPr>
            <a:picLocks noChangeAspect="1"/>
          </p:cNvPicPr>
          <p:nvPr/>
        </p:nvPicPr>
        <p:blipFill>
          <a:blip r:embed="rId1"/>
          <a:stretch>
            <a:fillRect/>
          </a:stretch>
        </p:blipFill>
        <p:spPr>
          <a:xfrm>
            <a:off x="7339330" y="1726565"/>
            <a:ext cx="4034155" cy="403415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53110" y="1520825"/>
            <a:ext cx="6369050" cy="456946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（3）现场可能危及安全的坑、井、沟、孔洞等周围，夜间应设警示红灯: </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 动力和照明线路应分路设置。</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14、作业完毕,应及时恢复作业时拆移的盖板，箅子板、扶手、栏杆、防护罩等安全设施的使用功能，恢复临时封闭的沟渠或地井，并清理作业现场，恢复原状。</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2676872356,623703216&amp;fm=253&amp;fmt=auto&amp;app=138&amp;f=JPG.webp"/>
          <p:cNvPicPr>
            <a:picLocks noChangeAspect="1"/>
          </p:cNvPicPr>
          <p:nvPr/>
        </p:nvPicPr>
        <p:blipFill>
          <a:blip r:embed="rId1"/>
          <a:stretch>
            <a:fillRect/>
          </a:stretch>
        </p:blipFill>
        <p:spPr>
          <a:xfrm>
            <a:off x="7388860" y="1708785"/>
            <a:ext cx="4193540" cy="419354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33705" y="1181735"/>
            <a:ext cx="11531600" cy="512889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15、 作业完毕，应及时恢复作业时拆移的盖板、箅子板、扶手、栏杆、防护罩等安全设施的使用功能，恢复临时封闭的沟渠或地井，并清理作业现场，恢复原状。</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16、 作业内容变更、作业范围扩大、作业地点转移或超过安全作业票有</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效期限时，应重新办理安全作业票。</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17、工艺条件、作业条件、作业方式或作业环境改变时,应重新进行作业危害分析，核对风险管控措施，重新办理安全作业票。</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18、安全作业票应规范填写，不得涂改。安全作业票样式和管理见附录A和附录B。</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05</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动火作业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33705" y="1061720"/>
            <a:ext cx="11531600" cy="177038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1、作业分级</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固定动火区外的动火作业分为特级动火、一级动火和二级动火三个</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级别;遇节假日、公休日、夜间或其他特殊情况，动火作业应升级管理。</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81" name="Group 2"/>
          <p:cNvGrpSpPr/>
          <p:nvPr/>
        </p:nvGrpSpPr>
        <p:grpSpPr bwMode="auto">
          <a:xfrm>
            <a:off x="825500" y="3058795"/>
            <a:ext cx="1114425" cy="1012825"/>
            <a:chOff x="19042" y="0"/>
            <a:chExt cx="1263345" cy="1224136"/>
          </a:xfrm>
        </p:grpSpPr>
        <p:sp>
          <p:nvSpPr>
            <p:cNvPr id="82" name="椭圆 12"/>
            <p:cNvSpPr>
              <a:spLocks noChangeArrowheads="1"/>
            </p:cNvSpPr>
            <p:nvPr/>
          </p:nvSpPr>
          <p:spPr bwMode="auto">
            <a:xfrm>
              <a:off x="58039" y="0"/>
              <a:ext cx="1224136" cy="1224136"/>
            </a:xfrm>
            <a:prstGeom prst="ellipse">
              <a:avLst/>
            </a:prstGeom>
            <a:solidFill>
              <a:sysClr val="window" lastClr="FFFFFF"/>
            </a:solidFill>
            <a:ln w="57150" cap="flat" cmpd="sng">
              <a:solidFill>
                <a:srgbClr val="F14124">
                  <a:lumMod val="75000"/>
                </a:srgbClr>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000">
                <a:solidFill>
                  <a:srgbClr val="FFFFFF"/>
                </a:solidFill>
                <a:latin typeface="宋体" panose="02010600030101010101" pitchFamily="2" charset="-122"/>
                <a:sym typeface="宋体" panose="02010600030101010101" pitchFamily="2" charset="-122"/>
              </a:endParaRPr>
            </a:p>
          </p:txBody>
        </p:sp>
        <p:sp>
          <p:nvSpPr>
            <p:cNvPr id="83" name="文本框 21"/>
            <p:cNvSpPr>
              <a:spLocks noChangeArrowheads="1"/>
            </p:cNvSpPr>
            <p:nvPr/>
          </p:nvSpPr>
          <p:spPr bwMode="auto">
            <a:xfrm>
              <a:off x="19042" y="327428"/>
              <a:ext cx="1263345" cy="55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特级</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grpSp>
      <p:sp>
        <p:nvSpPr>
          <p:cNvPr id="84" name="矩形 15"/>
          <p:cNvSpPr>
            <a:spLocks noChangeArrowheads="1"/>
          </p:cNvSpPr>
          <p:nvPr/>
        </p:nvSpPr>
        <p:spPr bwMode="auto">
          <a:xfrm>
            <a:off x="2359660" y="2967355"/>
            <a:ext cx="76200" cy="1042035"/>
          </a:xfrm>
          <a:prstGeom prst="rect">
            <a:avLst/>
          </a:prstGeom>
          <a:solidFill>
            <a:srgbClr val="F14124">
              <a:lumMod val="75000"/>
            </a:srgbClr>
          </a:solidFill>
          <a:ln>
            <a:solidFill>
              <a:srgbClr val="F14124">
                <a:lumMod val="75000"/>
              </a:srgbClr>
            </a:solidFill>
          </a:ln>
          <a:effectLst/>
        </p:spPr>
        <p:txBody>
          <a:bodyPr lIns="76734" tIns="38367" rIns="76734" bIns="38367"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85" name="矩形 8"/>
          <p:cNvSpPr>
            <a:spLocks noChangeArrowheads="1"/>
          </p:cNvSpPr>
          <p:nvPr/>
        </p:nvSpPr>
        <p:spPr bwMode="auto">
          <a:xfrm>
            <a:off x="2844800" y="2832100"/>
            <a:ext cx="8604885" cy="127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76734" tIns="38367" rIns="76734" bIns="38367">
            <a:spAutoFit/>
          </a:bodyPr>
          <a:lstStyle/>
          <a:p>
            <a:pPr marL="0" algn="l" fontAlgn="auto">
              <a:lnSpc>
                <a:spcPct val="130000"/>
              </a:lnSpc>
              <a:spcBef>
                <a:spcPts val="0"/>
              </a:spcBef>
              <a:buClrTx/>
              <a:buSzTx/>
              <a:buNone/>
            </a:pPr>
            <a:r>
              <a:rPr lang="zh-CN" sz="2000" b="1">
                <a:latin typeface="微软雅黑" panose="020B0503020204020204" pitchFamily="34" charset="-122"/>
                <a:ea typeface="微软雅黑" panose="020B0503020204020204" pitchFamily="34" charset="-122"/>
                <a:cs typeface="微软雅黑" panose="020B0503020204020204" pitchFamily="34" charset="-122"/>
                <a:sym typeface="+mn-ea"/>
              </a:rPr>
              <a:t>特级动火作业：在火灾爆炸危险场所处于运行状态下的生产装置设备、管道、储罐容器等部位上进行的动火作业(包括带压不置换动火作业)；存有易燃易爆介质的重大危险源罐区防火堤内的动火作业。</a:t>
            </a:r>
            <a:endParaRPr lang="zh-CN"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86" name="Group 7"/>
          <p:cNvGrpSpPr/>
          <p:nvPr/>
        </p:nvGrpSpPr>
        <p:grpSpPr bwMode="auto">
          <a:xfrm>
            <a:off x="1135380" y="4200525"/>
            <a:ext cx="1184275" cy="1012825"/>
            <a:chOff x="-68592" y="0"/>
            <a:chExt cx="1341998" cy="1224136"/>
          </a:xfrm>
        </p:grpSpPr>
        <p:sp>
          <p:nvSpPr>
            <p:cNvPr id="87" name="椭圆 19"/>
            <p:cNvSpPr>
              <a:spLocks noChangeArrowheads="1"/>
            </p:cNvSpPr>
            <p:nvPr/>
          </p:nvSpPr>
          <p:spPr bwMode="auto">
            <a:xfrm>
              <a:off x="49270" y="0"/>
              <a:ext cx="1224136" cy="1224136"/>
            </a:xfrm>
            <a:prstGeom prst="ellipse">
              <a:avLst/>
            </a:prstGeom>
            <a:solidFill>
              <a:sysClr val="window" lastClr="FFFFFF"/>
            </a:solidFill>
            <a:ln w="57150" cap="flat" cmpd="sng">
              <a:solidFill>
                <a:srgbClr val="F14124">
                  <a:lumMod val="75000"/>
                </a:srgbClr>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000">
                <a:solidFill>
                  <a:srgbClr val="FFFFFF"/>
                </a:solidFill>
                <a:latin typeface="宋体" panose="02010600030101010101" pitchFamily="2" charset="-122"/>
                <a:sym typeface="宋体" panose="02010600030101010101" pitchFamily="2" charset="-122"/>
              </a:endParaRPr>
            </a:p>
          </p:txBody>
        </p:sp>
        <p:sp>
          <p:nvSpPr>
            <p:cNvPr id="88" name="文本框 25"/>
            <p:cNvSpPr>
              <a:spLocks noChangeArrowheads="1"/>
            </p:cNvSpPr>
            <p:nvPr/>
          </p:nvSpPr>
          <p:spPr bwMode="auto">
            <a:xfrm>
              <a:off x="-68592" y="326842"/>
              <a:ext cx="1263345" cy="55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2400" b="1" dirty="0">
                  <a:solidFill>
                    <a:schemeClr val="bg1">
                      <a:lumMod val="75000"/>
                      <a:lumOff val="25000"/>
                    </a:schemeClr>
                  </a:solidFill>
                  <a:latin typeface="微软雅黑" panose="020B0503020204020204" pitchFamily="34" charset="-122"/>
                  <a:ea typeface="微软雅黑" panose="020B0503020204020204" pitchFamily="34" charset="-122"/>
                </a:rPr>
                <a:t>风</a:t>
              </a:r>
              <a:r>
                <a:rPr lang="zh-CN" altLang="en-US" sz="2400" b="1" dirty="0">
                  <a:latin typeface="微软雅黑" panose="020B0503020204020204" pitchFamily="34" charset="-122"/>
                  <a:ea typeface="微软雅黑" panose="020B0503020204020204" pitchFamily="34" charset="-122"/>
                </a:rPr>
                <a:t>一级</a:t>
              </a:r>
              <a:endParaRPr lang="zh-CN" altLang="en-US" sz="2400" b="1" dirty="0">
                <a:solidFill>
                  <a:schemeClr val="bg1">
                    <a:lumMod val="75000"/>
                    <a:lumOff val="25000"/>
                  </a:schemeClr>
                </a:solidFill>
                <a:latin typeface="微软雅黑" panose="020B0503020204020204" pitchFamily="34" charset="-122"/>
                <a:ea typeface="微软雅黑" panose="020B0503020204020204" pitchFamily="34" charset="-122"/>
              </a:endParaRPr>
            </a:p>
          </p:txBody>
        </p:sp>
      </p:grpSp>
      <p:sp>
        <p:nvSpPr>
          <p:cNvPr id="89" name="矩形 21"/>
          <p:cNvSpPr>
            <a:spLocks noChangeArrowheads="1"/>
          </p:cNvSpPr>
          <p:nvPr/>
        </p:nvSpPr>
        <p:spPr bwMode="auto">
          <a:xfrm>
            <a:off x="2667000" y="4129405"/>
            <a:ext cx="76200" cy="1155065"/>
          </a:xfrm>
          <a:prstGeom prst="rect">
            <a:avLst/>
          </a:prstGeom>
          <a:solidFill>
            <a:srgbClr val="F14124">
              <a:lumMod val="75000"/>
            </a:srgbClr>
          </a:solidFill>
          <a:ln>
            <a:solidFill>
              <a:srgbClr val="F14124">
                <a:lumMod val="75000"/>
              </a:srgbClr>
            </a:solidFill>
          </a:ln>
          <a:effectLst/>
        </p:spPr>
        <p:txBody>
          <a:bodyPr lIns="76734" tIns="38367" rIns="76734" bIns="38367" anchor="ctr"/>
          <a:lstStyle/>
          <a:p>
            <a:pPr algn="ctr"/>
            <a:endParaRPr lang="zh-CN" altLang="zh-CN" sz="2000">
              <a:solidFill>
                <a:srgbClr val="FFFFFF"/>
              </a:solidFill>
              <a:latin typeface="宋体" panose="02010600030101010101" pitchFamily="2" charset="-122"/>
              <a:sym typeface="宋体" panose="02010600030101010101" pitchFamily="2" charset="-122"/>
            </a:endParaRPr>
          </a:p>
        </p:txBody>
      </p:sp>
      <p:sp>
        <p:nvSpPr>
          <p:cNvPr id="90" name="矩形 8"/>
          <p:cNvSpPr>
            <a:spLocks noChangeArrowheads="1"/>
          </p:cNvSpPr>
          <p:nvPr/>
        </p:nvSpPr>
        <p:spPr bwMode="auto">
          <a:xfrm>
            <a:off x="3028950" y="4250690"/>
            <a:ext cx="738378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76734" tIns="38367" rIns="76734" bIns="38367">
            <a:spAutoFit/>
          </a:bodyPr>
          <a:lstStyle/>
          <a:p>
            <a:pPr marL="0" algn="l" fontAlgn="auto">
              <a:lnSpc>
                <a:spcPct val="130000"/>
              </a:lnSpc>
              <a:spcBef>
                <a:spcPts val="0"/>
              </a:spcBef>
              <a:buClrTx/>
              <a:buSzTx/>
              <a:buNone/>
            </a:pPr>
            <a:r>
              <a:rPr lang="zh-CN" sz="2000" b="1">
                <a:latin typeface="微软雅黑" panose="020B0503020204020204" pitchFamily="34" charset="-122"/>
                <a:ea typeface="微软雅黑" panose="020B0503020204020204" pitchFamily="34" charset="-122"/>
                <a:cs typeface="微软雅黑" panose="020B0503020204020204" pitchFamily="34" charset="-122"/>
                <a:sym typeface="+mn-ea"/>
              </a:rPr>
              <a:t>在火灾爆炸危险场所进行的除特级动火作业以外的动火作业，管廊上的动火作业按一级动火作业管理。</a:t>
            </a:r>
            <a:endParaRPr lang="zh-CN" sz="2000" b="1">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1" name="Group 17"/>
          <p:cNvGrpSpPr/>
          <p:nvPr/>
        </p:nvGrpSpPr>
        <p:grpSpPr bwMode="auto">
          <a:xfrm rot="1200000">
            <a:off x="1368923" y="5399012"/>
            <a:ext cx="1279525" cy="1012825"/>
            <a:chOff x="-167270" y="0"/>
            <a:chExt cx="1449994" cy="1224136"/>
          </a:xfrm>
        </p:grpSpPr>
        <p:sp>
          <p:nvSpPr>
            <p:cNvPr id="92" name="椭圆 29"/>
            <p:cNvSpPr>
              <a:spLocks noChangeArrowheads="1"/>
            </p:cNvSpPr>
            <p:nvPr/>
          </p:nvSpPr>
          <p:spPr bwMode="auto">
            <a:xfrm>
              <a:off x="41135" y="0"/>
              <a:ext cx="1224136" cy="1224136"/>
            </a:xfrm>
            <a:prstGeom prst="ellipse">
              <a:avLst/>
            </a:prstGeom>
            <a:solidFill>
              <a:sysClr val="window" lastClr="FFFFFF"/>
            </a:solidFill>
            <a:ln w="57150" cap="flat" cmpd="sng">
              <a:solidFill>
                <a:srgbClr val="F14124">
                  <a:lumMod val="75000"/>
                </a:srgbClr>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000">
                <a:solidFill>
                  <a:srgbClr val="FFFFFF"/>
                </a:solidFill>
                <a:latin typeface="宋体" panose="02010600030101010101" pitchFamily="2" charset="-122"/>
                <a:sym typeface="宋体" panose="02010600030101010101" pitchFamily="2" charset="-122"/>
              </a:endParaRPr>
            </a:p>
          </p:txBody>
        </p:sp>
        <p:sp>
          <p:nvSpPr>
            <p:cNvPr id="93" name="文本框 34"/>
            <p:cNvSpPr>
              <a:spLocks noChangeArrowheads="1"/>
            </p:cNvSpPr>
            <p:nvPr/>
          </p:nvSpPr>
          <p:spPr bwMode="auto">
            <a:xfrm rot="20331793">
              <a:off x="-167270" y="283806"/>
              <a:ext cx="1449994" cy="55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r>
                <a:rPr sz="2000" b="1" dirty="0">
                  <a:solidFill>
                    <a:schemeClr val="bg1">
                      <a:lumMod val="75000"/>
                      <a:lumOff val="25000"/>
                    </a:schemeClr>
                  </a:solidFill>
                  <a:latin typeface="微软雅黑" panose="020B0503020204020204" pitchFamily="34" charset="-122"/>
                  <a:ea typeface="微软雅黑" panose="020B0503020204020204" pitchFamily="34" charset="-122"/>
                </a:rPr>
                <a:t>风</a:t>
              </a:r>
              <a:r>
                <a:rPr lang="zh-CN" altLang="en-US" sz="2400" b="1" dirty="0">
                  <a:latin typeface="微软雅黑" panose="020B0503020204020204" pitchFamily="34" charset="-122"/>
                  <a:ea typeface="微软雅黑" panose="020B0503020204020204" pitchFamily="34" charset="-122"/>
                </a:rPr>
                <a:t>二级</a:t>
              </a:r>
              <a:endParaRPr lang="zh-CN" altLang="en-US" sz="2400" b="1" dirty="0">
                <a:solidFill>
                  <a:schemeClr val="bg1">
                    <a:lumMod val="75000"/>
                    <a:lumOff val="25000"/>
                  </a:schemeClr>
                </a:solidFill>
                <a:latin typeface="微软雅黑" panose="020B0503020204020204" pitchFamily="34" charset="-122"/>
                <a:ea typeface="微软雅黑" panose="020B0503020204020204" pitchFamily="34" charset="-122"/>
              </a:endParaRPr>
            </a:p>
          </p:txBody>
        </p:sp>
      </p:grpSp>
      <p:sp>
        <p:nvSpPr>
          <p:cNvPr id="94" name="矩形 31"/>
          <p:cNvSpPr>
            <a:spLocks noChangeArrowheads="1"/>
          </p:cNvSpPr>
          <p:nvPr/>
        </p:nvSpPr>
        <p:spPr bwMode="auto">
          <a:xfrm>
            <a:off x="2844800" y="5440045"/>
            <a:ext cx="76200" cy="1155065"/>
          </a:xfrm>
          <a:prstGeom prst="rect">
            <a:avLst/>
          </a:prstGeom>
          <a:solidFill>
            <a:srgbClr val="F14124">
              <a:lumMod val="75000"/>
            </a:srgbClr>
          </a:solidFill>
          <a:ln>
            <a:solidFill>
              <a:srgbClr val="F14124">
                <a:lumMod val="75000"/>
              </a:srgbClr>
            </a:solidFill>
          </a:ln>
          <a:effectLst/>
        </p:spPr>
        <p:txBody>
          <a:bodyPr lIns="76734" tIns="38367" rIns="76734" bIns="38367" anchor="ctr"/>
          <a:lstStyle/>
          <a:p>
            <a:pPr algn="ctr"/>
            <a:endParaRPr lang="zh-CN" altLang="zh-CN" sz="2000">
              <a:solidFill>
                <a:srgbClr val="FFFFFF"/>
              </a:solidFill>
              <a:latin typeface="宋体" panose="02010600030101010101" pitchFamily="2" charset="-122"/>
              <a:sym typeface="宋体" panose="02010600030101010101" pitchFamily="2" charset="-122"/>
            </a:endParaRPr>
          </a:p>
        </p:txBody>
      </p:sp>
      <p:sp>
        <p:nvSpPr>
          <p:cNvPr id="95" name="矩形 8"/>
          <p:cNvSpPr>
            <a:spLocks noChangeArrowheads="1"/>
          </p:cNvSpPr>
          <p:nvPr/>
        </p:nvSpPr>
        <p:spPr bwMode="auto">
          <a:xfrm>
            <a:off x="3209290" y="5603875"/>
            <a:ext cx="650684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76734" tIns="38367" rIns="76734" bIns="38367">
            <a:spAutoFit/>
          </a:bodyPr>
          <a:lstStyle/>
          <a:p>
            <a:pPr>
              <a:lnSpc>
                <a:spcPct val="130000"/>
              </a:lnSpc>
            </a:pPr>
            <a:r>
              <a:rPr lang="zh-CN" sz="2000" b="1">
                <a:latin typeface="微软雅黑" panose="020B0503020204020204" pitchFamily="34" charset="-122"/>
                <a:ea typeface="微软雅黑" panose="020B0503020204020204" pitchFamily="34" charset="-122"/>
                <a:cs typeface="微软雅黑" panose="020B0503020204020204" pitchFamily="34" charset="-122"/>
                <a:sym typeface="+mn-ea"/>
              </a:rPr>
              <a:t>除特级动火作业和一级动火作业以外的动火作业。</a:t>
            </a:r>
            <a:endParaRPr lang="zh-CN" sz="20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圆角矩形 1"/>
          <p:cNvSpPr/>
          <p:nvPr/>
        </p:nvSpPr>
        <p:spPr>
          <a:xfrm>
            <a:off x="9050020" y="5022215"/>
            <a:ext cx="2791460" cy="15386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划分原则，结合实际，确定动火区域的级别。</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p:cBhvr>
                                        <p:cTn id="7" dur="250"/>
                                        <p:tgtEl>
                                          <p:spTgt spid="8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4"/>
                                        </p:tgtEl>
                                        <p:attrNameLst>
                                          <p:attrName>style.visibility</p:attrName>
                                        </p:attrNameLst>
                                      </p:cBhvr>
                                      <p:to>
                                        <p:strVal val="visible"/>
                                      </p:to>
                                    </p:set>
                                    <p:animEffect>
                                      <p:cBhvr>
                                        <p:cTn id="11" dur="250"/>
                                        <p:tgtEl>
                                          <p:spTgt spid="9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9"/>
                                        </p:tgtEl>
                                        <p:attrNameLst>
                                          <p:attrName>style.visibility</p:attrName>
                                        </p:attrNameLst>
                                      </p:cBhvr>
                                      <p:to>
                                        <p:strVal val="visible"/>
                                      </p:to>
                                    </p:set>
                                    <p:animEffect>
                                      <p:cBhvr>
                                        <p:cTn id="15" dur="250"/>
                                        <p:tgtEl>
                                          <p:spTgt spid="89"/>
                                        </p:tgtEl>
                                      </p:cBhvr>
                                    </p:animEffect>
                                  </p:childTnLst>
                                </p:cTn>
                              </p:par>
                            </p:childTnLst>
                          </p:cTn>
                        </p:par>
                        <p:par>
                          <p:cTn id="16" fill="hold">
                            <p:stCondLst>
                              <p:cond delay="1500"/>
                            </p:stCondLst>
                            <p:childTnLst>
                              <p:par>
                                <p:cTn id="17" presetID="2" presetClass="entr" presetSubtype="2" decel="100000" fill="hold" nodeType="afterEffect">
                                  <p:stCondLst>
                                    <p:cond delay="0"/>
                                  </p:stCondLst>
                                  <p:childTnLst>
                                    <p:set>
                                      <p:cBhvr>
                                        <p:cTn id="18" dur="1" fill="hold">
                                          <p:stCondLst>
                                            <p:cond delay="0"/>
                                          </p:stCondLst>
                                        </p:cTn>
                                        <p:tgtEl>
                                          <p:spTgt spid="81"/>
                                        </p:tgtEl>
                                        <p:attrNameLst>
                                          <p:attrName>style.visibility</p:attrName>
                                        </p:attrNameLst>
                                      </p:cBhvr>
                                      <p:to>
                                        <p:strVal val="visible"/>
                                      </p:to>
                                    </p:set>
                                    <p:anim calcmode="lin" valueType="num">
                                      <p:cBhvr>
                                        <p:cTn id="19" dur="500" fill="hold"/>
                                        <p:tgtEl>
                                          <p:spTgt spid="81"/>
                                        </p:tgtEl>
                                        <p:attrNameLst>
                                          <p:attrName>ppt_x</p:attrName>
                                        </p:attrNameLst>
                                      </p:cBhvr>
                                      <p:tavLst>
                                        <p:tav tm="0">
                                          <p:val>
                                            <p:strVal val="1+#ppt_w/2"/>
                                          </p:val>
                                        </p:tav>
                                        <p:tav tm="100000">
                                          <p:val>
                                            <p:strVal val="#ppt_x"/>
                                          </p:val>
                                        </p:tav>
                                      </p:tavLst>
                                    </p:anim>
                                    <p:anim calcmode="lin" valueType="num">
                                      <p:cBhvr>
                                        <p:cTn id="20" dur="500" fill="hold"/>
                                        <p:tgtEl>
                                          <p:spTgt spid="81"/>
                                        </p:tgtEl>
                                        <p:attrNameLst>
                                          <p:attrName>ppt_y</p:attrName>
                                        </p:attrNameLst>
                                      </p:cBhvr>
                                      <p:tavLst>
                                        <p:tav tm="0">
                                          <p:val>
                                            <p:strVal val="#ppt_y"/>
                                          </p:val>
                                        </p:tav>
                                        <p:tav tm="100000">
                                          <p:val>
                                            <p:strVal val="#ppt_y"/>
                                          </p:val>
                                        </p:tav>
                                      </p:tavLst>
                                    </p:anim>
                                  </p:childTnLst>
                                </p:cTn>
                              </p:par>
                              <p:par>
                                <p:cTn id="21" presetID="2" presetClass="entr" presetSubtype="2" decel="100000" fill="hold" nodeType="withEffect">
                                  <p:stCondLst>
                                    <p:cond delay="0"/>
                                  </p:stCondLst>
                                  <p:childTnLst>
                                    <p:set>
                                      <p:cBhvr>
                                        <p:cTn id="22" dur="1" fill="hold">
                                          <p:stCondLst>
                                            <p:cond delay="0"/>
                                          </p:stCondLst>
                                        </p:cTn>
                                        <p:tgtEl>
                                          <p:spTgt spid="91"/>
                                        </p:tgtEl>
                                        <p:attrNameLst>
                                          <p:attrName>style.visibility</p:attrName>
                                        </p:attrNameLst>
                                      </p:cBhvr>
                                      <p:to>
                                        <p:strVal val="visible"/>
                                      </p:to>
                                    </p:set>
                                    <p:anim calcmode="lin" valueType="num">
                                      <p:cBhvr>
                                        <p:cTn id="23" dur="500" fill="hold"/>
                                        <p:tgtEl>
                                          <p:spTgt spid="91"/>
                                        </p:tgtEl>
                                        <p:attrNameLst>
                                          <p:attrName>ppt_x</p:attrName>
                                        </p:attrNameLst>
                                      </p:cBhvr>
                                      <p:tavLst>
                                        <p:tav tm="0">
                                          <p:val>
                                            <p:strVal val="1+#ppt_w/2"/>
                                          </p:val>
                                        </p:tav>
                                        <p:tav tm="100000">
                                          <p:val>
                                            <p:strVal val="#ppt_x"/>
                                          </p:val>
                                        </p:tav>
                                      </p:tavLst>
                                    </p:anim>
                                    <p:anim calcmode="lin" valueType="num">
                                      <p:cBhvr>
                                        <p:cTn id="24" dur="500" fill="hold"/>
                                        <p:tgtEl>
                                          <p:spTgt spid="91"/>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 calcmode="lin" valueType="num">
                                      <p:cBhvr>
                                        <p:cTn id="27" dur="500" fill="hold"/>
                                        <p:tgtEl>
                                          <p:spTgt spid="86"/>
                                        </p:tgtEl>
                                        <p:attrNameLst>
                                          <p:attrName>ppt_x</p:attrName>
                                        </p:attrNameLst>
                                      </p:cBhvr>
                                      <p:tavLst>
                                        <p:tav tm="0">
                                          <p:val>
                                            <p:strVal val="1+#ppt_w/2"/>
                                          </p:val>
                                        </p:tav>
                                        <p:tav tm="100000">
                                          <p:val>
                                            <p:strVal val="#ppt_x"/>
                                          </p:val>
                                        </p:tav>
                                      </p:tavLst>
                                    </p:anim>
                                    <p:anim calcmode="lin" valueType="num">
                                      <p:cBhvr>
                                        <p:cTn id="28" dur="500" fill="hold"/>
                                        <p:tgtEl>
                                          <p:spTgt spid="86"/>
                                        </p:tgtEl>
                                        <p:attrNameLst>
                                          <p:attrName>ppt_y</p:attrName>
                                        </p:attrNameLst>
                                      </p:cBhvr>
                                      <p:tavLst>
                                        <p:tav tm="0">
                                          <p:val>
                                            <p:strVal val="#ppt_y"/>
                                          </p:val>
                                        </p:tav>
                                        <p:tav tm="100000">
                                          <p:val>
                                            <p:strVal val="#ppt_y"/>
                                          </p:val>
                                        </p:tav>
                                      </p:tavLst>
                                    </p:anim>
                                  </p:childTnLst>
                                </p:cTn>
                              </p:par>
                            </p:childTnLst>
                          </p:cTn>
                        </p:par>
                        <p:par>
                          <p:cTn id="29" fill="hold">
                            <p:stCondLst>
                              <p:cond delay="2000"/>
                            </p:stCondLst>
                            <p:childTnLst>
                              <p:par>
                                <p:cTn id="30" presetID="2" presetClass="entr" presetSubtype="2" decel="100000" fill="hold" grpId="0" nodeType="afterEffect">
                                  <p:stCondLst>
                                    <p:cond delay="0"/>
                                  </p:stCondLst>
                                  <p:childTnLst>
                                    <p:set>
                                      <p:cBhvr>
                                        <p:cTn id="31" dur="1" fill="hold">
                                          <p:stCondLst>
                                            <p:cond delay="0"/>
                                          </p:stCondLst>
                                        </p:cTn>
                                        <p:tgtEl>
                                          <p:spTgt spid="85"/>
                                        </p:tgtEl>
                                        <p:attrNameLst>
                                          <p:attrName>style.visibility</p:attrName>
                                        </p:attrNameLst>
                                      </p:cBhvr>
                                      <p:to>
                                        <p:strVal val="visible"/>
                                      </p:to>
                                    </p:set>
                                    <p:anim calcmode="lin" valueType="num">
                                      <p:cBhvr>
                                        <p:cTn id="32" dur="500" fill="hold"/>
                                        <p:tgtEl>
                                          <p:spTgt spid="85"/>
                                        </p:tgtEl>
                                        <p:attrNameLst>
                                          <p:attrName>ppt_x</p:attrName>
                                        </p:attrNameLst>
                                      </p:cBhvr>
                                      <p:tavLst>
                                        <p:tav tm="0">
                                          <p:val>
                                            <p:strVal val="1+#ppt_w/2"/>
                                          </p:val>
                                        </p:tav>
                                        <p:tav tm="100000">
                                          <p:val>
                                            <p:strVal val="#ppt_x"/>
                                          </p:val>
                                        </p:tav>
                                      </p:tavLst>
                                    </p:anim>
                                    <p:anim calcmode="lin" valueType="num">
                                      <p:cBhvr>
                                        <p:cTn id="33" dur="500" fill="hold"/>
                                        <p:tgtEl>
                                          <p:spTgt spid="85"/>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p:cTn id="36" dur="500" fill="hold"/>
                                        <p:tgtEl>
                                          <p:spTgt spid="90"/>
                                        </p:tgtEl>
                                        <p:attrNameLst>
                                          <p:attrName>ppt_x</p:attrName>
                                        </p:attrNameLst>
                                      </p:cBhvr>
                                      <p:tavLst>
                                        <p:tav tm="0">
                                          <p:val>
                                            <p:strVal val="1+#ppt_w/2"/>
                                          </p:val>
                                        </p:tav>
                                        <p:tav tm="100000">
                                          <p:val>
                                            <p:strVal val="#ppt_x"/>
                                          </p:val>
                                        </p:tav>
                                      </p:tavLst>
                                    </p:anim>
                                    <p:anim calcmode="lin" valueType="num">
                                      <p:cBhvr>
                                        <p:cTn id="37" dur="5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10000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 calcmode="lin" valueType="num">
                                      <p:cBhvr>
                                        <p:cTn id="40" dur="500" fill="hold"/>
                                        <p:tgtEl>
                                          <p:spTgt spid="95"/>
                                        </p:tgtEl>
                                        <p:attrNameLst>
                                          <p:attrName>ppt_x</p:attrName>
                                        </p:attrNameLst>
                                      </p:cBhvr>
                                      <p:tavLst>
                                        <p:tav tm="0">
                                          <p:val>
                                            <p:strVal val="1+#ppt_w/2"/>
                                          </p:val>
                                        </p:tav>
                                        <p:tav tm="100000">
                                          <p:val>
                                            <p:strVal val="#ppt_x"/>
                                          </p:val>
                                        </p:tav>
                                      </p:tavLst>
                                    </p:anim>
                                    <p:anim calcmode="lin" valueType="num">
                                      <p:cBhvr>
                                        <p:cTn id="41"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autoUpdateAnimBg="0"/>
      <p:bldP spid="85" grpId="0" bldLvl="0" animBg="1" autoUpdateAnimBg="0"/>
      <p:bldP spid="89" grpId="0" bldLvl="0" animBg="1" autoUpdateAnimBg="0"/>
      <p:bldP spid="90" grpId="0" bldLvl="0" animBg="1" autoUpdateAnimBg="0"/>
      <p:bldP spid="94" grpId="0" bldLvl="0" animBg="1" autoUpdateAnimBg="0"/>
      <p:bldP spid="95" grpId="0" bldLvl="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33705" y="1061720"/>
            <a:ext cx="11531600" cy="1770380"/>
          </a:xfrm>
          <a:prstGeom prst="rect">
            <a:avLst/>
          </a:prstGeom>
          <a:noFill/>
          <a:ln w="9525">
            <a:noFill/>
          </a:ln>
        </p:spPr>
        <p:txBody>
          <a:bodyPr wrap="square">
            <a:spAutoFit/>
          </a:bodyPr>
          <a:lstStyle/>
          <a:p>
            <a:pPr marL="0" indent="0" fontAlgn="auto">
              <a:lnSpc>
                <a:spcPct val="130000"/>
              </a:lnSpc>
              <a:spcBef>
                <a:spcPts val="0"/>
              </a:spcBef>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生产装置或系统全部停车，装置经清洗、置换分析合格并采取安全隔离措施后，根据其火灾爆炸危险性大小,经危险化学品企业生产负责人或安全管理负责人批准。动火作业可按二级动火作业管理。</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67937" name="组合 36"/>
          <p:cNvGrpSpPr/>
          <p:nvPr/>
        </p:nvGrpSpPr>
        <p:grpSpPr>
          <a:xfrm>
            <a:off x="2254885" y="3187065"/>
            <a:ext cx="2620963" cy="2620963"/>
            <a:chOff x="1136647" y="1556141"/>
            <a:chExt cx="2620469" cy="2620469"/>
          </a:xfrm>
        </p:grpSpPr>
        <p:sp>
          <p:nvSpPr>
            <p:cNvPr id="12" name="椭圆 11"/>
            <p:cNvSpPr/>
            <p:nvPr/>
          </p:nvSpPr>
          <p:spPr>
            <a:xfrm>
              <a:off x="1136647" y="1556141"/>
              <a:ext cx="2620469" cy="2620469"/>
            </a:xfrm>
            <a:prstGeom prst="ellipse">
              <a:avLst/>
            </a:prstGeom>
            <a:noFill/>
            <a:ln w="12700" cap="flat" cmpd="sng" algn="ctr">
              <a:solidFill>
                <a:srgbClr val="485766"/>
              </a:solidFill>
              <a:prstDash val="dash"/>
              <a:miter lim="800000"/>
            </a:ln>
            <a:effectLst/>
          </p:spPr>
          <p:txBody>
            <a:bodyPr rtlCol="0" anchor="ctr"/>
            <a:lstStyle/>
            <a:p>
              <a:pPr algn="ctr" fontAlgn="base"/>
              <a:endParaRPr lang="zh-HK" altLang="en-US" sz="1800" strike="noStrike" noProof="1"/>
            </a:p>
          </p:txBody>
        </p:sp>
        <p:sp>
          <p:nvSpPr>
            <p:cNvPr id="3" name="椭圆 2"/>
            <p:cNvSpPr/>
            <p:nvPr/>
          </p:nvSpPr>
          <p:spPr>
            <a:xfrm>
              <a:off x="1282229" y="1701723"/>
              <a:ext cx="2329306" cy="2329306"/>
            </a:xfrm>
            <a:prstGeom prst="ellipse">
              <a:avLst/>
            </a:prstGeom>
            <a:solidFill>
              <a:srgbClr val="383838"/>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indent="0" algn="ctr" defTabSz="914400" rtl="0" eaLnBrk="0" fontAlgn="base" latinLnBrk="0" hangingPunct="0">
                <a:lnSpc>
                  <a:spcPct val="100000"/>
                </a:lnSpc>
                <a:spcBef>
                  <a:spcPct val="0"/>
                </a:spcBef>
                <a:spcAft>
                  <a:spcPct val="0"/>
                </a:spcAft>
                <a:buFont typeface="Arial" panose="020B0604020202020204" pitchFamily="34" charset="0"/>
                <a:buNone/>
              </a:pPr>
              <a:r>
                <a:rPr lang="en-US" altLang="zh-HK"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特级</a:t>
              </a:r>
              <a:endParaRPr lang="en-US" altLang="zh-HK"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indent="0" algn="ctr" defTabSz="914400" rtl="0" eaLnBrk="0" fontAlgn="base" latinLnBrk="0" hangingPunct="0">
                <a:lnSpc>
                  <a:spcPct val="100000"/>
                </a:lnSpc>
                <a:spcBef>
                  <a:spcPct val="0"/>
                </a:spcBef>
                <a:spcAft>
                  <a:spcPct val="0"/>
                </a:spcAft>
                <a:buFont typeface="Arial" panose="020B0604020202020204" pitchFamily="34" charset="0"/>
                <a:buNone/>
              </a:pPr>
              <a:r>
                <a:rPr lang="zh-CN" altLang="en-US"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一级</a:t>
              </a:r>
              <a:endParaRPr lang="zh-CN" altLang="en-US"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indent="0" algn="ctr" defTabSz="914400" rtl="0" eaLnBrk="0" fontAlgn="base" latinLnBrk="0" hangingPunct="0">
                <a:lnSpc>
                  <a:spcPct val="100000"/>
                </a:lnSpc>
                <a:spcBef>
                  <a:spcPct val="0"/>
                </a:spcBef>
                <a:spcAft>
                  <a:spcPct val="0"/>
                </a:spcAft>
                <a:buFont typeface="Arial" panose="020B0604020202020204" pitchFamily="34" charset="0"/>
                <a:buNone/>
              </a:pPr>
              <a:r>
                <a:rPr lang="en-US" altLang="zh-CN"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en-US" altLang="zh-HK"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h</a:t>
              </a:r>
              <a:endParaRPr kumimoji="0" lang="en-US" altLang="zh-CN" sz="3200" b="1" i="0" u="none" strike="noStrike" kern="1200" cap="none" spc="0" normalizeH="0" baseline="0" noProof="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167940" name="组合 39"/>
          <p:cNvGrpSpPr/>
          <p:nvPr/>
        </p:nvGrpSpPr>
        <p:grpSpPr>
          <a:xfrm>
            <a:off x="7242493" y="3186748"/>
            <a:ext cx="2619375" cy="2619375"/>
            <a:chOff x="4785765" y="3896672"/>
            <a:chExt cx="2620469" cy="2620469"/>
          </a:xfrm>
        </p:grpSpPr>
        <p:sp>
          <p:nvSpPr>
            <p:cNvPr id="4" name="椭圆 3"/>
            <p:cNvSpPr/>
            <p:nvPr/>
          </p:nvSpPr>
          <p:spPr>
            <a:xfrm>
              <a:off x="4785765" y="3896672"/>
              <a:ext cx="2620469" cy="2620469"/>
            </a:xfrm>
            <a:prstGeom prst="ellipse">
              <a:avLst/>
            </a:prstGeom>
            <a:noFill/>
            <a:ln w="12700" cap="flat" cmpd="sng" algn="ctr">
              <a:solidFill>
                <a:srgbClr val="485766"/>
              </a:solidFill>
              <a:prstDash val="dash"/>
              <a:miter lim="800000"/>
            </a:ln>
            <a:effectLst/>
          </p:spPr>
          <p:txBody>
            <a:bodyPr rtlCol="0" anchor="ctr"/>
            <a:lstStyle/>
            <a:p>
              <a:pPr algn="ctr" fontAlgn="base"/>
              <a:endParaRPr lang="zh-HK" altLang="en-US" sz="1800" strike="noStrike" noProof="1"/>
            </a:p>
          </p:txBody>
        </p:sp>
        <p:sp>
          <p:nvSpPr>
            <p:cNvPr id="5" name="椭圆 4"/>
            <p:cNvSpPr/>
            <p:nvPr/>
          </p:nvSpPr>
          <p:spPr>
            <a:xfrm>
              <a:off x="4931347" y="4042254"/>
              <a:ext cx="2329306" cy="2329306"/>
            </a:xfrm>
            <a:prstGeom prst="ellipse">
              <a:avLst/>
            </a:prstGeom>
            <a:solidFill>
              <a:srgbClr val="C00000"/>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indent="0" algn="ctr" defTabSz="914400" rtl="0" eaLnBrk="0" fontAlgn="base" latinLnBrk="0" hangingPunct="0">
                <a:lnSpc>
                  <a:spcPct val="100000"/>
                </a:lnSpc>
                <a:spcBef>
                  <a:spcPct val="0"/>
                </a:spcBef>
                <a:spcAft>
                  <a:spcPct val="0"/>
                </a:spcAft>
                <a:buFont typeface="Arial" panose="020B0604020202020204" pitchFamily="34" charset="0"/>
                <a:buNone/>
              </a:pPr>
              <a:r>
                <a:rPr lang="zh-CN"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HK" sz="3200" b="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mn-ea"/>
                </a:rPr>
                <a:t>级72h</a:t>
              </a:r>
              <a:endParaRPr kumimoji="0" lang="en-US" altLang="zh-HK" sz="3200" b="1" i="0" u="none" strike="noStrike" kern="1200" cap="none" spc="0" normalizeH="0" baseline="0" noProof="1">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sym typeface="PMingLiU" panose="02020300000000000000" charset="-120"/>
              </a:endParaRPr>
            </a:p>
          </p:txBody>
        </p:sp>
      </p:grpSp>
      <p:grpSp>
        <p:nvGrpSpPr>
          <p:cNvPr id="167946" name="组合 25"/>
          <p:cNvGrpSpPr/>
          <p:nvPr/>
        </p:nvGrpSpPr>
        <p:grpSpPr>
          <a:xfrm>
            <a:off x="5736908" y="3889693"/>
            <a:ext cx="903287" cy="1074737"/>
            <a:chOff x="6865257" y="1118912"/>
            <a:chExt cx="902848" cy="1074675"/>
          </a:xfrm>
        </p:grpSpPr>
        <p:sp>
          <p:nvSpPr>
            <p:cNvPr id="27" name="燕尾形 26"/>
            <p:cNvSpPr/>
            <p:nvPr/>
          </p:nvSpPr>
          <p:spPr>
            <a:xfrm>
              <a:off x="6865257" y="1118912"/>
              <a:ext cx="395396" cy="1074675"/>
            </a:xfrm>
            <a:prstGeom prst="chevron">
              <a:avLst/>
            </a:prstGeom>
            <a:solidFill>
              <a:schemeClr val="bg2">
                <a:lumMod val="50000"/>
                <a:alpha val="58000"/>
              </a:schemeClr>
            </a:solidFill>
            <a:ln w="12700" cap="flat" cmpd="sng" algn="ctr">
              <a:noFill/>
              <a:prstDash val="solid"/>
              <a:miter lim="800000"/>
            </a:ln>
            <a:effectLst/>
          </p:spPr>
          <p:txBody>
            <a:bodyPr rtlCol="0" anchor="ctr"/>
            <a:lstStyle/>
            <a:p>
              <a:pPr algn="ctr" fontAlgn="base"/>
              <a:endParaRPr lang="zh-HK" altLang="en-US" sz="1800" strike="noStrike" noProof="1">
                <a:solidFill>
                  <a:sysClr val="windowText" lastClr="000000"/>
                </a:solidFill>
              </a:endParaRPr>
            </a:p>
          </p:txBody>
        </p:sp>
        <p:sp>
          <p:nvSpPr>
            <p:cNvPr id="28" name="燕尾形 27"/>
            <p:cNvSpPr/>
            <p:nvPr/>
          </p:nvSpPr>
          <p:spPr>
            <a:xfrm>
              <a:off x="7118983" y="1118912"/>
              <a:ext cx="395396" cy="1074675"/>
            </a:xfrm>
            <a:prstGeom prst="chevron">
              <a:avLst/>
            </a:prstGeom>
            <a:solidFill>
              <a:schemeClr val="tx2">
                <a:lumMod val="75000"/>
                <a:alpha val="78000"/>
              </a:schemeClr>
            </a:solidFill>
            <a:ln w="12700" cap="flat" cmpd="sng" algn="ctr">
              <a:noFill/>
              <a:prstDash val="solid"/>
              <a:miter lim="800000"/>
            </a:ln>
            <a:effectLst/>
          </p:spPr>
          <p:txBody>
            <a:bodyPr rtlCol="0" anchor="ctr"/>
            <a:lstStyle/>
            <a:p>
              <a:pPr algn="ctr" fontAlgn="base"/>
              <a:endParaRPr lang="zh-HK" altLang="en-US" sz="1800" strike="noStrike" noProof="1">
                <a:solidFill>
                  <a:sysClr val="windowText" lastClr="000000"/>
                </a:solidFill>
              </a:endParaRPr>
            </a:p>
          </p:txBody>
        </p:sp>
        <p:sp>
          <p:nvSpPr>
            <p:cNvPr id="29" name="燕尾形 28"/>
            <p:cNvSpPr/>
            <p:nvPr/>
          </p:nvSpPr>
          <p:spPr>
            <a:xfrm>
              <a:off x="7372709" y="1118912"/>
              <a:ext cx="395396" cy="1074675"/>
            </a:xfrm>
            <a:prstGeom prst="chevron">
              <a:avLst/>
            </a:prstGeom>
            <a:solidFill>
              <a:srgbClr val="383838"/>
            </a:solidFill>
            <a:ln w="12700" cap="flat" cmpd="sng" algn="ctr">
              <a:noFill/>
              <a:prstDash val="solid"/>
              <a:miter lim="800000"/>
            </a:ln>
            <a:effectLst/>
          </p:spPr>
          <p:txBody>
            <a:bodyPr rtlCol="0" anchor="ctr"/>
            <a:lstStyle/>
            <a:p>
              <a:pPr algn="ctr" fontAlgn="base"/>
              <a:endParaRPr lang="zh-HK" altLang="en-US" sz="1800" strike="noStrike" noProof="1">
                <a:solidFill>
                  <a:sysClr val="windowText" lastClr="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67937"/>
                                        </p:tgtEl>
                                        <p:attrNameLst>
                                          <p:attrName>style.visibility</p:attrName>
                                        </p:attrNameLst>
                                      </p:cBhvr>
                                      <p:to>
                                        <p:strVal val="visible"/>
                                      </p:to>
                                    </p:set>
                                    <p:anim calcmode="lin" valueType="num">
                                      <p:cBhvr>
                                        <p:cTn id="7" dur="500" fill="hold"/>
                                        <p:tgtEl>
                                          <p:spTgt spid="167937"/>
                                        </p:tgtEl>
                                        <p:attrNameLst>
                                          <p:attrName>ppt_w</p:attrName>
                                        </p:attrNameLst>
                                      </p:cBhvr>
                                      <p:tavLst>
                                        <p:tav tm="0">
                                          <p:val>
                                            <p:fltVal val="0"/>
                                          </p:val>
                                        </p:tav>
                                        <p:tav tm="100000">
                                          <p:val>
                                            <p:strVal val="#ppt_w"/>
                                          </p:val>
                                        </p:tav>
                                      </p:tavLst>
                                    </p:anim>
                                    <p:anim calcmode="lin" valueType="num">
                                      <p:cBhvr>
                                        <p:cTn id="8" dur="500" fill="hold"/>
                                        <p:tgtEl>
                                          <p:spTgt spid="167937"/>
                                        </p:tgtEl>
                                        <p:attrNameLst>
                                          <p:attrName>ppt_h</p:attrName>
                                        </p:attrNameLst>
                                      </p:cBhvr>
                                      <p:tavLst>
                                        <p:tav tm="0">
                                          <p:val>
                                            <p:fltVal val="0"/>
                                          </p:val>
                                        </p:tav>
                                        <p:tav tm="100000">
                                          <p:val>
                                            <p:strVal val="#ppt_h"/>
                                          </p:val>
                                        </p:tav>
                                      </p:tavLst>
                                    </p:anim>
                                    <p:animEffect transition="in" filter="fade">
                                      <p:cBhvr>
                                        <p:cTn id="9" dur="500"/>
                                        <p:tgtEl>
                                          <p:spTgt spid="167937"/>
                                        </p:tgtEl>
                                      </p:cBhvr>
                                    </p:animEffect>
                                  </p:childTnLst>
                                </p:cTn>
                              </p:par>
                            </p:childTnLst>
                          </p:cTn>
                        </p:par>
                        <p:par>
                          <p:cTn id="10" fill="hold">
                            <p:stCondLst>
                              <p:cond delay="500"/>
                            </p:stCondLst>
                            <p:childTnLst>
                              <p:par>
                                <p:cTn id="11" presetID="15" presetClass="entr" presetSubtype="0" fill="hold" nodeType="afterEffect">
                                  <p:stCondLst>
                                    <p:cond delay="0"/>
                                  </p:stCondLst>
                                  <p:childTnLst>
                                    <p:set>
                                      <p:cBhvr>
                                        <p:cTn id="12" dur="1" fill="hold">
                                          <p:stCondLst>
                                            <p:cond delay="0"/>
                                          </p:stCondLst>
                                        </p:cTn>
                                        <p:tgtEl>
                                          <p:spTgt spid="167946"/>
                                        </p:tgtEl>
                                        <p:attrNameLst>
                                          <p:attrName>style.visibility</p:attrName>
                                        </p:attrNameLst>
                                      </p:cBhvr>
                                      <p:to>
                                        <p:strVal val="visible"/>
                                      </p:to>
                                    </p:set>
                                    <p:anim calcmode="lin" valueType="num">
                                      <p:cBhvr>
                                        <p:cTn id="13" dur="1000" fill="hold"/>
                                        <p:tgtEl>
                                          <p:spTgt spid="167946"/>
                                        </p:tgtEl>
                                        <p:attrNameLst>
                                          <p:attrName>ppt_w</p:attrName>
                                        </p:attrNameLst>
                                      </p:cBhvr>
                                      <p:tavLst>
                                        <p:tav tm="0">
                                          <p:val>
                                            <p:fltVal val="0"/>
                                          </p:val>
                                        </p:tav>
                                        <p:tav tm="100000">
                                          <p:val>
                                            <p:strVal val="#ppt_w"/>
                                          </p:val>
                                        </p:tav>
                                      </p:tavLst>
                                    </p:anim>
                                    <p:anim calcmode="lin" valueType="num">
                                      <p:cBhvr>
                                        <p:cTn id="14" dur="1000" fill="hold"/>
                                        <p:tgtEl>
                                          <p:spTgt spid="167946"/>
                                        </p:tgtEl>
                                        <p:attrNameLst>
                                          <p:attrName>ppt_h</p:attrName>
                                        </p:attrNameLst>
                                      </p:cBhvr>
                                      <p:tavLst>
                                        <p:tav tm="0">
                                          <p:val>
                                            <p:fltVal val="0"/>
                                          </p:val>
                                        </p:tav>
                                        <p:tav tm="100000">
                                          <p:val>
                                            <p:strVal val="#ppt_h"/>
                                          </p:val>
                                        </p:tav>
                                      </p:tavLst>
                                    </p:anim>
                                    <p:anim calcmode="lin" valueType="num">
                                      <p:cBhvr>
                                        <p:cTn id="15" dur="1000" fill="hold"/>
                                        <p:tgtEl>
                                          <p:spTgt spid="16794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167946"/>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500"/>
                            </p:stCondLst>
                            <p:childTnLst>
                              <p:par>
                                <p:cTn id="18" presetID="53" presetClass="entr" presetSubtype="16" fill="hold" nodeType="afterEffect">
                                  <p:stCondLst>
                                    <p:cond delay="0"/>
                                  </p:stCondLst>
                                  <p:childTnLst>
                                    <p:set>
                                      <p:cBhvr>
                                        <p:cTn id="19" dur="1" fill="hold">
                                          <p:stCondLst>
                                            <p:cond delay="0"/>
                                          </p:stCondLst>
                                        </p:cTn>
                                        <p:tgtEl>
                                          <p:spTgt spid="167940"/>
                                        </p:tgtEl>
                                        <p:attrNameLst>
                                          <p:attrName>style.visibility</p:attrName>
                                        </p:attrNameLst>
                                      </p:cBhvr>
                                      <p:to>
                                        <p:strVal val="visible"/>
                                      </p:to>
                                    </p:set>
                                    <p:anim calcmode="lin" valueType="num">
                                      <p:cBhvr>
                                        <p:cTn id="20" dur="500" fill="hold"/>
                                        <p:tgtEl>
                                          <p:spTgt spid="167940"/>
                                        </p:tgtEl>
                                        <p:attrNameLst>
                                          <p:attrName>ppt_w</p:attrName>
                                        </p:attrNameLst>
                                      </p:cBhvr>
                                      <p:tavLst>
                                        <p:tav tm="0">
                                          <p:val>
                                            <p:fltVal val="0"/>
                                          </p:val>
                                        </p:tav>
                                        <p:tav tm="100000">
                                          <p:val>
                                            <p:strVal val="#ppt_w"/>
                                          </p:val>
                                        </p:tav>
                                      </p:tavLst>
                                    </p:anim>
                                    <p:anim calcmode="lin" valueType="num">
                                      <p:cBhvr>
                                        <p:cTn id="21" dur="500" fill="hold"/>
                                        <p:tgtEl>
                                          <p:spTgt spid="167940"/>
                                        </p:tgtEl>
                                        <p:attrNameLst>
                                          <p:attrName>ppt_h</p:attrName>
                                        </p:attrNameLst>
                                      </p:cBhvr>
                                      <p:tavLst>
                                        <p:tav tm="0">
                                          <p:val>
                                            <p:fltVal val="0"/>
                                          </p:val>
                                        </p:tav>
                                        <p:tav tm="100000">
                                          <p:val>
                                            <p:strVal val="#ppt_h"/>
                                          </p:val>
                                        </p:tav>
                                      </p:tavLst>
                                    </p:anim>
                                    <p:animEffect transition="in" filter="fade">
                                      <p:cBhvr>
                                        <p:cTn id="22" dur="500"/>
                                        <p:tgtEl>
                                          <p:spTgt spid="167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760730"/>
            <a:ext cx="11205845" cy="568896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2、作业基本要求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（1）动火作业应有专人监护，作业前应清除动火现场及周围的易燃物品，或采取其他有效安全防火措施，并配备消防器材，满足作业现场应急需求。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（2）凡在盛有或盛装过助燃或易燃易爆危险化学品的设备、管道等生产、储存设施及本文件规定的火灾爆炸危险场所中生产设备上的动火作业，应将上述设备设施与生产系统彻底断开或隔离，</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不应以水封或仅关闭阀门代替盲板作为隔断措施。</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（3）拆除管线进行动火作业时，应先查明其内部介质危险特性、工艺条件及其走向，并根据所要拆除管线的情况制定安全防护措施。</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4"/>
          <p:cNvPicPr>
            <a:picLocks noChangeAspect="1"/>
          </p:cNvPicPr>
          <p:nvPr/>
        </p:nvPicPr>
        <p:blipFill>
          <a:blip r:embed="rId1"/>
          <a:stretch>
            <a:fillRect/>
          </a:stretch>
        </p:blipFill>
        <p:spPr>
          <a:xfrm>
            <a:off x="2024063" y="2071688"/>
            <a:ext cx="5897562" cy="4162425"/>
          </a:xfrm>
          <a:prstGeom prst="rect">
            <a:avLst/>
          </a:prstGeom>
          <a:noFill/>
          <a:ln w="9525">
            <a:noFill/>
          </a:ln>
        </p:spPr>
      </p:pic>
      <p:sp>
        <p:nvSpPr>
          <p:cNvPr id="24579" name="Text Box 5"/>
          <p:cNvSpPr txBox="1"/>
          <p:nvPr/>
        </p:nvSpPr>
        <p:spPr>
          <a:xfrm>
            <a:off x="7167563" y="1700213"/>
            <a:ext cx="3032125" cy="368300"/>
          </a:xfrm>
          <a:prstGeom prst="rect">
            <a:avLst/>
          </a:prstGeom>
          <a:solidFill>
            <a:srgbClr val="00FF00"/>
          </a:solidFill>
          <a:ln w="9525">
            <a:noFill/>
          </a:ln>
        </p:spPr>
        <p:txBody>
          <a:bodyPr>
            <a:spAutoFit/>
          </a:bodyPr>
          <a:p>
            <a:pPr>
              <a:spcBef>
                <a:spcPct val="50000"/>
              </a:spcBef>
            </a:pPr>
            <a:r>
              <a:rPr lang="zh-CN" altLang="en-US" b="1" dirty="0">
                <a:solidFill>
                  <a:srgbClr val="FF0000"/>
                </a:solidFill>
                <a:latin typeface="仿宋_GB2312"/>
                <a:ea typeface="仿宋_GB2312"/>
              </a:rPr>
              <a:t>用关闭阀门替代盲板</a:t>
            </a:r>
            <a:endParaRPr lang="zh-CN" altLang="en-US" b="1" dirty="0">
              <a:solidFill>
                <a:srgbClr val="FF0000"/>
              </a:solidFill>
              <a:latin typeface="仿宋_GB2312"/>
              <a:ea typeface="仿宋_GB2312"/>
            </a:endParaRPr>
          </a:p>
        </p:txBody>
      </p:sp>
      <p:sp>
        <p:nvSpPr>
          <p:cNvPr id="24580" name="Line 6"/>
          <p:cNvSpPr/>
          <p:nvPr/>
        </p:nvSpPr>
        <p:spPr>
          <a:xfrm flipH="1">
            <a:off x="4810125" y="1989138"/>
            <a:ext cx="3086100" cy="1154112"/>
          </a:xfrm>
          <a:prstGeom prst="line">
            <a:avLst/>
          </a:prstGeom>
          <a:ln w="38100" cap="flat" cmpd="sng">
            <a:solidFill>
              <a:srgbClr val="FF6600"/>
            </a:solidFill>
            <a:prstDash val="solid"/>
            <a:headEnd type="none" w="med" len="med"/>
            <a:tailEnd type="triangle" w="med" len="med"/>
          </a:ln>
        </p:spPr>
      </p:sp>
      <p:pic>
        <p:nvPicPr>
          <p:cNvPr id="4" name="Picture 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0" y="45085"/>
            <a:ext cx="12118340" cy="1655445"/>
          </a:xfrm>
          <a:prstGeom prst="rect">
            <a:avLst/>
          </a:prstGeom>
        </p:spPr>
        <p:style>
          <a:lnRef idx="2">
            <a:schemeClr val="accent4"/>
          </a:lnRef>
          <a:fillRef idx="1">
            <a:schemeClr val="lt1"/>
          </a:fillRef>
          <a:effectRef idx="0">
            <a:schemeClr val="accent4"/>
          </a:effectRef>
          <a:fontRef idx="minor">
            <a:schemeClr val="dk1"/>
          </a:fontRef>
        </p:style>
      </p:pic>
      <p:sp>
        <p:nvSpPr>
          <p:cNvPr id="2" name="Rectangle 5"/>
          <p:cNvSpPr>
            <a:spLocks noChangeArrowheads="1"/>
          </p:cNvSpPr>
          <p:nvPr>
            <p:custDataLst>
              <p:tags r:id="rId4"/>
            </p:custDataLst>
          </p:nvPr>
        </p:nvSpPr>
        <p:spPr bwMode="auto">
          <a:xfrm>
            <a:off x="176530" y="5368290"/>
            <a:ext cx="11869420" cy="1375410"/>
          </a:xfrm>
          <a:prstGeom prst="rect">
            <a:avLst/>
          </a:prstGeom>
        </p:spPr>
        <p:style>
          <a:lnRef idx="2">
            <a:schemeClr val="accent6"/>
          </a:lnRef>
          <a:fillRef idx="1">
            <a:schemeClr val="lt1"/>
          </a:fillRef>
          <a:effectRef idx="0">
            <a:schemeClr val="accent6"/>
          </a:effectRef>
          <a:fontRef idx="minor">
            <a:schemeClr val="dk1"/>
          </a:fontRef>
        </p:style>
        <p:txBody>
          <a:bodyPr wrap="square">
            <a:noAutofit/>
          </a:bodyPr>
          <a:p>
            <a:pPr eaLnBrk="1" hangingPunct="1">
              <a:lnSpc>
                <a:spcPct val="100000"/>
              </a:lnSpc>
              <a:spcBef>
                <a:spcPct val="0"/>
              </a:spcBef>
              <a:buFontTx/>
              <a:buNone/>
            </a:pPr>
            <a:r>
              <a:rPr kumimoji="0" lang="zh-CN" altLang="en-US" sz="2800" b="1" dirty="0"/>
              <a:t>工艺隔离一般采用的方法有三种：绝对隔离（加盲板或拆除短管），双切断阀隔离，单阀隔离。工艺隔离原则采用实际可行的最高标准的隔离，实施绝对工艺隔离。</a:t>
            </a:r>
            <a:endParaRPr kumimoji="0" lang="zh-CN" altLang="en-US" sz="28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573530"/>
            <a:ext cx="11205845" cy="400939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动火点周围或其下方如有可燃物、电缆桥架、孔洞、窨井、地沟、水封设施、污水井等，应检查分析并采取清理或封盖等措施;对于动火点周围15m范围内有可能泄漏易燃、可燃物料的设备设施，应采取隔离措施;对于受热分解可产生易燃易爆、有毒有害物质的场所，应进行风险分析并采取清理或封盖等防护措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（5）在有可燃物构件和使用可燃物做防腐内衬的设备内部进行动火作业时，应采取防火隔绝措施。</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应在彻底隔绝区域内分段采样分析。</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130300"/>
            <a:ext cx="11205845" cy="5688965"/>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（6）在作业过程中可能释放出易燃易爆、有毒有害物质的设备上或设备内部动火时，动火前应进行风险分析，并采取有效的防范措施，必要时应</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连续检测气体浓度</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，发现气体浓度超限报警时，应立即停止作业:在较长的物料管线上动火，动火前应在彻底隔绝区域内分段采样分析。</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在生产、使用、储存氧气的设备上进行动火作业时，设备内氧含量不应超过23.5%(体积分数)。</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 在油气罐区防火堤内进行动火作业时，不应同时进行切水、取样作业。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02335" y="1788795"/>
            <a:ext cx="6053455" cy="3449955"/>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（9）动火期间，距动火点30m内不应排放可燃气体;距动火点15m内不应排放可燃液体;在动火点10m范围内、动火点上方及下方不应同时进行可燃溶剂清洗或喷漆作业;在动火点10m范围内不应进行可燃性粉尘清扫作业。</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pic1.zhimg.com_v2-6efaf89ab44d460358081ec74927b55c_b.jpg&amp;refer=http___pic1.zhimg.webp"/>
          <p:cNvPicPr>
            <a:picLocks noChangeAspect="1"/>
          </p:cNvPicPr>
          <p:nvPr/>
        </p:nvPicPr>
        <p:blipFill>
          <a:blip r:embed="rId1"/>
          <a:stretch>
            <a:fillRect/>
          </a:stretch>
        </p:blipFill>
        <p:spPr>
          <a:xfrm>
            <a:off x="7095490" y="1868805"/>
            <a:ext cx="4469765" cy="360362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399540"/>
            <a:ext cx="6762750" cy="456946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（10）在厂内铁路沿线25m以内动火作业时如遇装有危险化学品的火车通过或停留时，应立即停止作业。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（11）特级动火作业应采集全过程作业影像,其作业现场使用的摄录设备应为防爆型。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（12）使用电焊机作业时,电焊机与动火点的间距不应超过10m，不能满足要求时应将电焊机作为动火点进行管理。</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2002907700,2116726930&amp;fm=224&amp;app=112&amp;f=JPEG"/>
          <p:cNvPicPr>
            <a:picLocks noChangeAspect="1"/>
          </p:cNvPicPr>
          <p:nvPr/>
        </p:nvPicPr>
        <p:blipFill>
          <a:blip r:embed="rId1"/>
          <a:stretch>
            <a:fillRect/>
          </a:stretch>
        </p:blipFill>
        <p:spPr>
          <a:xfrm>
            <a:off x="7594600" y="1581785"/>
            <a:ext cx="3863340" cy="397319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832485" y="2033270"/>
            <a:ext cx="6104890" cy="3449955"/>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（13）使用气焊、气割动火作业时，乙炔瓶应直立放置，不应卧放使用；氧气瓶与乙炔瓶的间距不应小于5m,二者与动火点间距不应小于10m,并应采取防晒和防倾倒措施；乙炔瓶应安装防回火装置。</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7209155" y="2239645"/>
            <a:ext cx="3986530" cy="3037205"/>
            <a:chOff x="668" y="1318"/>
            <a:chExt cx="11862" cy="8102"/>
          </a:xfrm>
          <a:effectLst>
            <a:glow rad="63500">
              <a:schemeClr val="accent2">
                <a:satMod val="175000"/>
                <a:alpha val="40000"/>
              </a:schemeClr>
            </a:glow>
            <a:outerShdw blurRad="50800" dist="38100" dir="2700000" algn="tl" rotWithShape="0">
              <a:prstClr val="black">
                <a:alpha val="40000"/>
              </a:prstClr>
            </a:outerShdw>
          </a:effectLst>
        </p:grpSpPr>
        <p:sp>
          <p:nvSpPr>
            <p:cNvPr id="5" name="AutoShape 2" descr="图片2"/>
            <p:cNvSpPr/>
            <p:nvPr/>
          </p:nvSpPr>
          <p:spPr>
            <a:xfrm>
              <a:off x="668" y="6925"/>
              <a:ext cx="3060" cy="2495"/>
            </a:xfrm>
            <a:prstGeom prst="hexagon">
              <a:avLst>
                <a:gd name="adj" fmla="val 30661"/>
                <a:gd name="vf" fmla="val 115470"/>
              </a:avLst>
            </a:prstGeom>
            <a:blipFill rotWithShape="1">
              <a:blip r:embed="rId1"/>
              <a:stretch>
                <a:fillRect/>
              </a:stretch>
            </a:blipFill>
            <a:ln w="38100" cap="rnd" cmpd="sng">
              <a:solidFill>
                <a:srgbClr val="008000"/>
              </a:solidFill>
              <a:prstDash val="sysDot"/>
              <a:miter/>
              <a:headEnd type="none" w="med" len="med"/>
              <a:tailEnd type="none" w="med" len="med"/>
            </a:ln>
          </p:spPr>
          <p:txBody>
            <a:bodyPr wrap="none" anchor="ctr"/>
            <a:lstStyle/>
            <a:p>
              <a:pPr>
                <a:spcBef>
                  <a:spcPct val="20000"/>
                </a:spcBef>
                <a:buFont typeface="Arial" panose="020B0604020202020204" pitchFamily="34" charset="0"/>
                <a:buChar char="•"/>
              </a:pPr>
              <a:endParaRPr lang="zh-CN" altLang="en-US" sz="1000" dirty="0">
                <a:latin typeface="Arial" panose="020B0604020202020204" pitchFamily="34" charset="0"/>
              </a:endParaRPr>
            </a:p>
          </p:txBody>
        </p:sp>
        <p:sp>
          <p:nvSpPr>
            <p:cNvPr id="6" name="AutoShape 3" descr="图片1"/>
            <p:cNvSpPr/>
            <p:nvPr/>
          </p:nvSpPr>
          <p:spPr>
            <a:xfrm>
              <a:off x="738" y="1318"/>
              <a:ext cx="2837" cy="2495"/>
            </a:xfrm>
            <a:prstGeom prst="hexagon">
              <a:avLst>
                <a:gd name="adj" fmla="val 28431"/>
                <a:gd name="vf" fmla="val 115470"/>
              </a:avLst>
            </a:prstGeom>
            <a:blipFill rotWithShape="1">
              <a:blip r:embed="rId2"/>
              <a:stretch>
                <a:fillRect/>
              </a:stretch>
            </a:blipFill>
            <a:ln w="38100" cap="rnd" cmpd="sng">
              <a:solidFill>
                <a:srgbClr val="008000"/>
              </a:solidFill>
              <a:prstDash val="sysDot"/>
              <a:miter/>
              <a:headEnd type="none" w="med" len="med"/>
              <a:tailEnd type="none" w="med" len="med"/>
            </a:ln>
          </p:spPr>
          <p:txBody>
            <a:bodyPr wrap="none" anchor="ctr"/>
            <a:lstStyle/>
            <a:p>
              <a:pPr>
                <a:spcBef>
                  <a:spcPct val="20000"/>
                </a:spcBef>
                <a:buFont typeface="Arial" panose="020B0604020202020204" pitchFamily="34" charset="0"/>
                <a:buChar char="•"/>
              </a:pPr>
              <a:endParaRPr lang="zh-CN" altLang="en-US" sz="1000" dirty="0">
                <a:latin typeface="Arial" panose="020B0604020202020204" pitchFamily="34" charset="0"/>
              </a:endParaRPr>
            </a:p>
          </p:txBody>
        </p:sp>
        <p:sp>
          <p:nvSpPr>
            <p:cNvPr id="7" name="AutoShape 4" descr="图片3"/>
            <p:cNvSpPr/>
            <p:nvPr/>
          </p:nvSpPr>
          <p:spPr>
            <a:xfrm>
              <a:off x="8225" y="2910"/>
              <a:ext cx="4305" cy="3740"/>
            </a:xfrm>
            <a:prstGeom prst="hexagon">
              <a:avLst>
                <a:gd name="adj" fmla="val 28776"/>
                <a:gd name="vf" fmla="val 115470"/>
              </a:avLst>
            </a:prstGeom>
            <a:blipFill rotWithShape="1">
              <a:blip r:embed="rId3"/>
              <a:stretch>
                <a:fillRect/>
              </a:stretch>
            </a:blipFill>
            <a:ln w="38100" cap="rnd" cmpd="sng">
              <a:solidFill>
                <a:srgbClr val="008000"/>
              </a:solidFill>
              <a:prstDash val="sysDot"/>
              <a:miter/>
              <a:headEnd type="none" w="med" len="med"/>
              <a:tailEnd type="none" w="med" len="med"/>
            </a:ln>
          </p:spPr>
          <p:txBody>
            <a:bodyPr wrap="none" anchor="ctr"/>
            <a:lstStyle/>
            <a:p>
              <a:pPr>
                <a:spcBef>
                  <a:spcPct val="20000"/>
                </a:spcBef>
                <a:buFont typeface="Arial" panose="020B0604020202020204" pitchFamily="34" charset="0"/>
                <a:buChar char="•"/>
              </a:pPr>
              <a:endParaRPr lang="zh-CN" altLang="en-US" sz="1000" dirty="0">
                <a:latin typeface="Arial" panose="020B0604020202020204" pitchFamily="34" charset="0"/>
              </a:endParaRPr>
            </a:p>
          </p:txBody>
        </p:sp>
        <p:sp>
          <p:nvSpPr>
            <p:cNvPr id="8" name="AutoShape 6"/>
            <p:cNvSpPr/>
            <p:nvPr/>
          </p:nvSpPr>
          <p:spPr>
            <a:xfrm>
              <a:off x="1305" y="3813"/>
              <a:ext cx="1700" cy="3112"/>
            </a:xfrm>
            <a:prstGeom prst="upDownArrow">
              <a:avLst>
                <a:gd name="adj1" fmla="val 50000"/>
                <a:gd name="adj2" fmla="val 33354"/>
              </a:avLst>
            </a:prstGeom>
            <a:solidFill>
              <a:srgbClr val="0000FF"/>
            </a:solidFill>
            <a:ln w="9525" cap="flat" cmpd="sng">
              <a:solidFill>
                <a:schemeClr val="hlink"/>
              </a:solidFill>
              <a:prstDash val="solid"/>
              <a:miter/>
              <a:headEnd type="none" w="med" len="med"/>
              <a:tailEnd type="none" w="med" len="med"/>
            </a:ln>
          </p:spPr>
          <p:txBody>
            <a:bodyPr/>
            <a:lstStyle/>
            <a:p>
              <a:pPr algn="ctr">
                <a:spcBef>
                  <a:spcPct val="20000"/>
                </a:spcBef>
              </a:pPr>
              <a:r>
                <a:rPr lang="zh-CN" altLang="en-US" sz="1200" dirty="0">
                  <a:solidFill>
                    <a:schemeClr val="bg1"/>
                  </a:solidFill>
                  <a:latin typeface="微软雅黑" panose="020B0503020204020204" pitchFamily="34" charset="-122"/>
                  <a:ea typeface="微软雅黑" panose="020B0503020204020204" pitchFamily="34" charset="-122"/>
                </a:rPr>
                <a:t>不小于</a:t>
              </a:r>
              <a:endParaRPr lang="zh-CN" altLang="en-US" sz="1200" dirty="0">
                <a:solidFill>
                  <a:schemeClr val="bg1"/>
                </a:solidFill>
                <a:latin typeface="微软雅黑" panose="020B0503020204020204" pitchFamily="34" charset="-122"/>
                <a:ea typeface="微软雅黑" panose="020B0503020204020204" pitchFamily="34" charset="-122"/>
              </a:endParaRPr>
            </a:p>
            <a:p>
              <a:pPr algn="ctr">
                <a:spcBef>
                  <a:spcPct val="20000"/>
                </a:spcBef>
              </a:pPr>
              <a:r>
                <a:rPr lang="en-US" altLang="zh-CN" sz="1200" dirty="0">
                  <a:solidFill>
                    <a:schemeClr val="bg1"/>
                  </a:solidFill>
                  <a:latin typeface="微软雅黑" panose="020B0503020204020204" pitchFamily="34" charset="-122"/>
                  <a:ea typeface="微软雅黑" panose="020B0503020204020204" pitchFamily="34" charset="-122"/>
                </a:rPr>
                <a:t>5</a:t>
              </a:r>
              <a:endParaRPr lang="en-US" altLang="zh-CN" sz="1200" dirty="0">
                <a:solidFill>
                  <a:schemeClr val="bg1"/>
                </a:solidFill>
                <a:latin typeface="微软雅黑" panose="020B0503020204020204" pitchFamily="34" charset="-122"/>
                <a:ea typeface="微软雅黑" panose="020B0503020204020204" pitchFamily="34" charset="-122"/>
              </a:endParaRPr>
            </a:p>
            <a:p>
              <a:pPr algn="ctr">
                <a:spcBef>
                  <a:spcPct val="20000"/>
                </a:spcBef>
              </a:pPr>
              <a:r>
                <a:rPr lang="zh-CN" altLang="en-US" sz="1200" dirty="0">
                  <a:solidFill>
                    <a:schemeClr val="bg1"/>
                  </a:solidFill>
                  <a:latin typeface="微软雅黑" panose="020B0503020204020204" pitchFamily="34" charset="-122"/>
                  <a:ea typeface="微软雅黑" panose="020B0503020204020204" pitchFamily="34" charset="-122"/>
                </a:rPr>
                <a:t>米</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9" name="AutoShape 7"/>
            <p:cNvSpPr/>
            <p:nvPr/>
          </p:nvSpPr>
          <p:spPr>
            <a:xfrm rot="-1200000">
              <a:off x="3798" y="6308"/>
              <a:ext cx="5200" cy="1287"/>
            </a:xfrm>
            <a:prstGeom prst="leftRightArrow">
              <a:avLst>
                <a:gd name="adj1" fmla="val 50000"/>
                <a:gd name="adj2" fmla="val 80776"/>
              </a:avLst>
            </a:prstGeom>
            <a:solidFill>
              <a:srgbClr val="0000FF"/>
            </a:solidFill>
            <a:ln w="9525" cap="flat" cmpd="sng">
              <a:solidFill>
                <a:schemeClr val="hlink"/>
              </a:solidFill>
              <a:prstDash val="solid"/>
              <a:miter/>
              <a:headEnd type="none" w="med" len="med"/>
              <a:tailEnd type="none" w="med" len="med"/>
            </a:ln>
          </p:spPr>
          <p:txBody>
            <a:bodyPr/>
            <a:lstStyle/>
            <a:p>
              <a:pPr algn="ctr">
                <a:spcBef>
                  <a:spcPct val="20000"/>
                </a:spcBef>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距离明火不小于</a:t>
              </a:r>
              <a:r>
                <a:rPr lang="en-US" altLang="zh-CN" sz="1200" dirty="0">
                  <a:solidFill>
                    <a:srgbClr val="C00000"/>
                  </a:solidFill>
                  <a:latin typeface="微软雅黑" panose="020B0503020204020204" pitchFamily="34" charset="-122"/>
                  <a:ea typeface="微软雅黑" panose="020B0503020204020204" pitchFamily="34" charset="-122"/>
                </a:rPr>
                <a:t>10</a:t>
              </a:r>
              <a:r>
                <a:rPr lang="zh-CN" altLang="en-US" sz="1200" dirty="0">
                  <a:solidFill>
                    <a:srgbClr val="C00000"/>
                  </a:solidFill>
                  <a:latin typeface="微软雅黑" panose="020B0503020204020204" pitchFamily="34" charset="-122"/>
                  <a:ea typeface="微软雅黑" panose="020B0503020204020204" pitchFamily="34" charset="-122"/>
                </a:rPr>
                <a:t>米</a:t>
              </a:r>
              <a:endParaRPr lang="zh-CN" altLang="en-US" sz="1200" dirty="0">
                <a:solidFill>
                  <a:schemeClr val="bg1"/>
                </a:solidFill>
                <a:latin typeface="微软雅黑" panose="020B0503020204020204" pitchFamily="34" charset="-122"/>
                <a:ea typeface="微软雅黑" panose="020B0503020204020204" pitchFamily="34" charset="-122"/>
              </a:endParaRPr>
            </a:p>
            <a:p>
              <a:pPr algn="ctr">
                <a:spcBef>
                  <a:spcPct val="20000"/>
                </a:spcBef>
                <a:buFont typeface="Arial" panose="020B0604020202020204" pitchFamily="34" charset="0"/>
                <a:buChar char="•"/>
              </a:pP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0" name="AutoShape 8"/>
            <p:cNvSpPr/>
            <p:nvPr/>
          </p:nvSpPr>
          <p:spPr>
            <a:xfrm rot="600000">
              <a:off x="3657" y="2443"/>
              <a:ext cx="5343" cy="1239"/>
            </a:xfrm>
            <a:prstGeom prst="leftRightArrow">
              <a:avLst>
                <a:gd name="adj1" fmla="val 50000"/>
                <a:gd name="adj2" fmla="val 83870"/>
              </a:avLst>
            </a:prstGeom>
            <a:solidFill>
              <a:srgbClr val="0000FF"/>
            </a:solidFill>
            <a:ln w="9525" cap="flat" cmpd="sng">
              <a:solidFill>
                <a:schemeClr val="hlink"/>
              </a:solidFill>
              <a:prstDash val="solid"/>
              <a:miter/>
              <a:headEnd type="none" w="med" len="med"/>
              <a:tailEnd type="none" w="med" len="med"/>
            </a:ln>
          </p:spPr>
          <p:txBody>
            <a:bodyPr/>
            <a:lstStyle/>
            <a:p>
              <a:pPr algn="ctr">
                <a:spcBef>
                  <a:spcPct val="20000"/>
                </a:spcBef>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距离明火不小于</a:t>
              </a:r>
              <a:r>
                <a:rPr lang="en-US" altLang="zh-CN" sz="1200" dirty="0">
                  <a:solidFill>
                    <a:srgbClr val="C00000"/>
                  </a:solidFill>
                  <a:latin typeface="微软雅黑" panose="020B0503020204020204" pitchFamily="34" charset="-122"/>
                  <a:ea typeface="微软雅黑" panose="020B0503020204020204" pitchFamily="34" charset="-122"/>
                </a:rPr>
                <a:t>10</a:t>
              </a:r>
              <a:r>
                <a:rPr lang="zh-CN" altLang="en-US" sz="1200" dirty="0">
                  <a:solidFill>
                    <a:srgbClr val="C00000"/>
                  </a:solidFill>
                  <a:latin typeface="微软雅黑" panose="020B0503020204020204" pitchFamily="34" charset="-122"/>
                  <a:ea typeface="微软雅黑" panose="020B0503020204020204" pitchFamily="34" charset="-122"/>
                </a:rPr>
                <a:t>米</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294130"/>
            <a:ext cx="6154420" cy="4163695"/>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（14）作业完毕后应清理现场，确认无残留火种后方可离开。</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（15）遇五级风以上(含五级风)天气，禁止露天动火作业；因生产确需动火，动火作业应升级管理。</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（16）涉及可燃性粉尘环境的动火作业应满足GB 15577要求。</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p0.ssl.cdn.btime.com_t0104da2f8cc05af6e8.jpg_size=500x335&amp;refer=http___p0.ssl.cdn.btime.webp"/>
          <p:cNvPicPr>
            <a:picLocks noChangeAspect="1"/>
          </p:cNvPicPr>
          <p:nvPr/>
        </p:nvPicPr>
        <p:blipFill>
          <a:blip r:embed="rId1"/>
          <a:stretch>
            <a:fillRect/>
          </a:stretch>
        </p:blipFill>
        <p:spPr>
          <a:xfrm>
            <a:off x="6647815" y="1932940"/>
            <a:ext cx="4762500" cy="319087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294130"/>
            <a:ext cx="11205845" cy="456946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rPr>
              <a:t>3、</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动火分析及合格判定指标</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（1）动火作业前应进行气体分析，要求如下: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a)气体分析的检测点要有代表性，在较大的设备内动火，应对上、中、下(左、中、右)各部位进行检测分析;</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b)在管道、储罐、塔器等设备外壁上动火，应在动火点10m范围内进行气体分析，同时还应检测设备内气体含量:在设备及管道外环境动火，应在动火点10m范围内进行气体分析；</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 c)气体分析取样时间与动火作业开始时间间隔不应超过30min;</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294130"/>
            <a:ext cx="7441565" cy="4613275"/>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d)特级、一级动火作业中断时间超过30min，一级动火作业中断时间超过60min，应重新进行气体分析；每日动火前均应进行气体分析；特级动火作业期间应连续进行监测。</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ts val="32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（2）动火分析合格判定指标为:</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32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a)当被测气体或蒸气的爆炸下限大于或等于4%时，其被测浓度应不大于0.5%(体积分数);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32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b)当被测气体或蒸气的爆炸下限小于4%时，其被测浓度应不大于0.2%(体积分数)。</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8413750" y="1837690"/>
            <a:ext cx="3086100" cy="352552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633855"/>
            <a:ext cx="11205845" cy="400939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4、特级动火作业要求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（1）特级动火作业应符合5.2、5.3的规定。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（2）特级动火作业还应符合以下规定: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 应预先制定作业方案，落实安全防火防爆及应急措施;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b)设备或管道上进行特级动火作业时，设备或管道内应保持微正压;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c)存在受分解爆炸、自爆物料的管道和设备设施上不应进行动火作业;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 生产装置运行不稳定时，不应进行带压不置换动火作业。</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872490" y="1608455"/>
            <a:ext cx="5734685" cy="400939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5、固定动火区管理</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（1）固定动火区的设定应由危险化学品企业审批后确定，设置明显标志;应每年至少对固定动火区进行一次风险辨识,周围环境发生变化时，危险化学品企业应及时辨识、重新划定。</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pic.ntimg.cn_file_20190914_5846816_094209258000_2.jpg&amp;refer=http___pic.ntimg.webp"/>
          <p:cNvPicPr>
            <a:picLocks noChangeAspect="1"/>
          </p:cNvPicPr>
          <p:nvPr/>
        </p:nvPicPr>
        <p:blipFill>
          <a:blip r:embed="rId1"/>
          <a:stretch>
            <a:fillRect/>
          </a:stretch>
        </p:blipFill>
        <p:spPr>
          <a:xfrm>
            <a:off x="7068185" y="2116455"/>
            <a:ext cx="3875405" cy="356362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12495" y="1643380"/>
            <a:ext cx="5374640" cy="400939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 固定动火区的设置应满足以下安全条件要求: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a)不应设置在火灾爆炸危险场所；</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b)应设在火灾爆炸危险场所全年最小频率风向的下风或侧风方向，并与相邻企业火灾爆炸危险场所满足防火间距要求;</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src=http___pic1.zhimg.com_80_v2-690494dab556bccb90dc078bc106b2b4_hd.png&amp;refer=http___pic1.zhimg.webp"/>
          <p:cNvPicPr>
            <a:picLocks noChangeAspect="1"/>
          </p:cNvPicPr>
          <p:nvPr/>
        </p:nvPicPr>
        <p:blipFill>
          <a:blip r:embed="rId1"/>
          <a:stretch>
            <a:fillRect/>
          </a:stretch>
        </p:blipFill>
        <p:spPr>
          <a:xfrm>
            <a:off x="6852920" y="1917065"/>
            <a:ext cx="3990975" cy="351472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22935" y="1593850"/>
            <a:ext cx="8159750" cy="4569460"/>
          </a:xfrm>
          <a:prstGeom prst="rect">
            <a:avLst/>
          </a:prstGeom>
          <a:noFill/>
          <a:ln w="9525">
            <a:noFill/>
          </a:ln>
        </p:spPr>
        <p:txBody>
          <a:bodyPr wrap="square">
            <a:spAutoFit/>
          </a:bodyPr>
          <a:lstStyle/>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c)距火灾爆炸危险场所的厂房、库房、罐区、设备、装置、窨井、排水沟、水封设施等不应小于30m;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d)室内固定动火区应以实体防火墙与其他部分隔开，门窗外开,室外道路畅通；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e)位于生产装置区的固定动火区应设置带有声光报警功能的固定式可燃气体检测报警器；</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f)固定动火区内不应存放可燃物及其他杂物，应制定并落实完善的防火安全措施，明确防火责任人。</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nimg.ws.126.net__url=http%3A%2F%2Fdingyue.ws.126.net%2F2022%2F0412%2Fb32f9b6fj00ra7c54006kc000x800m2m.jpg&amp;thumbnail=660x2147483647&amp;quality=80&amp;type=jpg&amp;refer=http___nimg.ws.126.webp"/>
          <p:cNvPicPr>
            <a:picLocks noChangeAspect="1"/>
          </p:cNvPicPr>
          <p:nvPr/>
        </p:nvPicPr>
        <p:blipFill>
          <a:blip r:embed="rId1"/>
          <a:stretch>
            <a:fillRect/>
          </a:stretch>
        </p:blipFill>
        <p:spPr>
          <a:xfrm rot="5400000">
            <a:off x="8171815" y="2468245"/>
            <a:ext cx="4239895" cy="282003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313180" y="6132195"/>
            <a:ext cx="675894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endParaRPr lang="zh-CN" altLang="en-US"/>
          </a:p>
        </p:txBody>
      </p:sp>
      <p:pic>
        <p:nvPicPr>
          <p:cNvPr id="2" name="图片 1"/>
          <p:cNvPicPr>
            <a:picLocks noChangeAspect="1"/>
          </p:cNvPicPr>
          <p:nvPr>
            <p:custDataLst>
              <p:tags r:id="rId1"/>
            </p:custDataLst>
          </p:nvPr>
        </p:nvPicPr>
        <p:blipFill>
          <a:blip r:embed="rId2"/>
          <a:stretch>
            <a:fillRect/>
          </a:stretch>
        </p:blipFill>
        <p:spPr>
          <a:xfrm>
            <a:off x="472440" y="356870"/>
            <a:ext cx="11346180" cy="6143625"/>
          </a:xfrm>
          <a:prstGeom prst="rect">
            <a:avLst/>
          </a:prstGeom>
          <a:ln w="28575" cmpd="sng">
            <a:solidFill>
              <a:schemeClr val="accent1">
                <a:shade val="50000"/>
              </a:schemeClr>
            </a:solidFill>
            <a:prstDash val="solid"/>
          </a:ln>
        </p:spPr>
      </p:pic>
      <p:sp>
        <p:nvSpPr>
          <p:cNvPr id="3" name="TextBox 1"/>
          <p:cNvSpPr txBox="1"/>
          <p:nvPr>
            <p:custDataLst>
              <p:tags r:id="rId3"/>
            </p:custDataLst>
          </p:nvPr>
        </p:nvSpPr>
        <p:spPr>
          <a:xfrm>
            <a:off x="2548667" y="429037"/>
            <a:ext cx="1800200" cy="369332"/>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dirty="0" smtClean="0">
                <a:solidFill>
                  <a:srgbClr val="FF0000"/>
                </a:solidFill>
                <a:latin typeface="楷体" panose="02010609060101010101" pitchFamily="49" charset="-122"/>
                <a:ea typeface="楷体" panose="02010609060101010101" pitchFamily="49" charset="-122"/>
              </a:rPr>
              <a:t>动火点所在单位</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7" name="TextBox 6"/>
          <p:cNvSpPr txBox="1"/>
          <p:nvPr>
            <p:custDataLst>
              <p:tags r:id="rId4"/>
            </p:custDataLst>
          </p:nvPr>
        </p:nvSpPr>
        <p:spPr>
          <a:xfrm>
            <a:off x="5941060" y="2675255"/>
            <a:ext cx="2867025" cy="36830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dirty="0" smtClean="0">
                <a:solidFill>
                  <a:srgbClr val="FF0000"/>
                </a:solidFill>
                <a:latin typeface="楷体" panose="02010609060101010101" pitchFamily="49" charset="-122"/>
                <a:ea typeface="楷体" panose="02010609060101010101" pitchFamily="49" charset="-122"/>
              </a:rPr>
              <a:t>动火设备内部、作业环境。</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8" name="TextBox 7"/>
          <p:cNvSpPr txBox="1"/>
          <p:nvPr>
            <p:custDataLst>
              <p:tags r:id="rId5"/>
            </p:custDataLst>
          </p:nvPr>
        </p:nvSpPr>
        <p:spPr>
          <a:xfrm>
            <a:off x="8569325" y="3239135"/>
            <a:ext cx="3064510" cy="59690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noAutofit/>
          </a:bodyPr>
          <a:p>
            <a:r>
              <a:rPr lang="zh-CN" altLang="en-US" dirty="0" smtClean="0">
                <a:solidFill>
                  <a:srgbClr val="FF0000"/>
                </a:solidFill>
                <a:latin typeface="楷体" panose="02010609060101010101" pitchFamily="49" charset="-122"/>
                <a:ea typeface="楷体" panose="02010609060101010101" pitchFamily="49" charset="-122"/>
              </a:rPr>
              <a:t>进入受限空间作业（证号）、临时用电作业（证号）</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4" name="矩形 3"/>
          <p:cNvSpPr/>
          <p:nvPr/>
        </p:nvSpPr>
        <p:spPr>
          <a:xfrm>
            <a:off x="10690860" y="4787900"/>
            <a:ext cx="1025525" cy="1617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非同一人确认</a:t>
            </a:r>
            <a:endParaRPr lang="zh-CN" altLang="en-US"/>
          </a:p>
        </p:txBody>
      </p:sp>
      <p:sp>
        <p:nvSpPr>
          <p:cNvPr id="5" name="矩形 4"/>
          <p:cNvSpPr/>
          <p:nvPr/>
        </p:nvSpPr>
        <p:spPr>
          <a:xfrm>
            <a:off x="8072120" y="6222365"/>
            <a:ext cx="2001520" cy="2832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样票填写不正确</a:t>
            </a:r>
            <a:endParaRPr lang="zh-CN" altLang="en-US"/>
          </a:p>
        </p:txBody>
      </p:sp>
      <p:sp>
        <p:nvSpPr>
          <p:cNvPr id="6" name="TextBox 4"/>
          <p:cNvSpPr txBox="1"/>
          <p:nvPr>
            <p:custDataLst>
              <p:tags r:id="rId6"/>
            </p:custDataLst>
          </p:nvPr>
        </p:nvSpPr>
        <p:spPr>
          <a:xfrm>
            <a:off x="3665628" y="5725299"/>
            <a:ext cx="2522546" cy="369332"/>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smtClean="0">
                <a:solidFill>
                  <a:srgbClr val="FF0000"/>
                </a:solidFill>
                <a:latin typeface="楷体" panose="02010609060101010101" pitchFamily="49" charset="-122"/>
                <a:ea typeface="楷体" panose="02010609060101010101" pitchFamily="49" charset="-122"/>
              </a:rPr>
              <a:t>接火盆</a:t>
            </a:r>
            <a:r>
              <a:rPr lang="en-US" altLang="zh-CN" dirty="0" smtClean="0">
                <a:solidFill>
                  <a:srgbClr val="FF0000"/>
                </a:solidFill>
                <a:latin typeface="楷体" panose="02010609060101010101" pitchFamily="49" charset="-122"/>
                <a:ea typeface="楷体" panose="02010609060101010101" pitchFamily="49" charset="-122"/>
              </a:rPr>
              <a:t>1</a:t>
            </a:r>
            <a:r>
              <a:rPr lang="zh-CN" altLang="en-US" dirty="0" smtClean="0">
                <a:solidFill>
                  <a:srgbClr val="FF0000"/>
                </a:solidFill>
                <a:latin typeface="楷体" panose="02010609060101010101" pitchFamily="49" charset="-122"/>
                <a:ea typeface="楷体" panose="02010609060101010101" pitchFamily="49" charset="-122"/>
              </a:rPr>
              <a:t>只或防火毯</a:t>
            </a:r>
            <a:r>
              <a:rPr lang="en-US" altLang="zh-CN" dirty="0" smtClean="0">
                <a:solidFill>
                  <a:srgbClr val="FF0000"/>
                </a:solidFill>
                <a:latin typeface="楷体" panose="02010609060101010101" pitchFamily="49" charset="-122"/>
                <a:ea typeface="楷体" panose="02010609060101010101" pitchFamily="49" charset="-122"/>
              </a:rPr>
              <a:t>3</a:t>
            </a:r>
            <a:r>
              <a:rPr lang="zh-CN" altLang="en-US" dirty="0">
                <a:solidFill>
                  <a:srgbClr val="FF0000"/>
                </a:solidFill>
                <a:latin typeface="楷体" panose="02010609060101010101" pitchFamily="49" charset="-122"/>
                <a:ea typeface="楷体" panose="02010609060101010101" pitchFamily="49" charset="-122"/>
              </a:rPr>
              <a:t>块</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9" name="TextBox 6"/>
          <p:cNvSpPr txBox="1"/>
          <p:nvPr>
            <p:custDataLst>
              <p:tags r:id="rId7"/>
            </p:custDataLst>
          </p:nvPr>
        </p:nvSpPr>
        <p:spPr>
          <a:xfrm>
            <a:off x="8486775" y="2199640"/>
            <a:ext cx="2867025" cy="36830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dirty="0" smtClean="0">
                <a:solidFill>
                  <a:srgbClr val="FF0000"/>
                </a:solidFill>
                <a:latin typeface="楷体" panose="02010609060101010101" pitchFamily="49" charset="-122"/>
                <a:ea typeface="楷体" panose="02010609060101010101" pitchFamily="49" charset="-122"/>
              </a:rPr>
              <a:t>动火实施单位现场负责人。</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65100" y="276225"/>
            <a:ext cx="11895455" cy="6305550"/>
          </a:xfrm>
          <a:prstGeom prst="rect">
            <a:avLst/>
          </a:prstGeom>
        </p:spPr>
      </p:pic>
      <p:sp>
        <p:nvSpPr>
          <p:cNvPr id="3" name="矩形 2"/>
          <p:cNvSpPr/>
          <p:nvPr/>
        </p:nvSpPr>
        <p:spPr>
          <a:xfrm>
            <a:off x="10949305" y="443230"/>
            <a:ext cx="983615" cy="3093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非同一人确认</a:t>
            </a:r>
            <a:endParaRPr lang="zh-CN" altLang="en-US"/>
          </a:p>
        </p:txBody>
      </p:sp>
      <p:sp>
        <p:nvSpPr>
          <p:cNvPr id="6" name="TextBox 5"/>
          <p:cNvSpPr txBox="1"/>
          <p:nvPr>
            <p:custDataLst>
              <p:tags r:id="rId3"/>
            </p:custDataLst>
          </p:nvPr>
        </p:nvSpPr>
        <p:spPr>
          <a:xfrm>
            <a:off x="1810782" y="5410815"/>
            <a:ext cx="3384376" cy="369332"/>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smtClean="0">
                <a:solidFill>
                  <a:srgbClr val="FF0000"/>
                </a:solidFill>
                <a:latin typeface="楷体" panose="02010609060101010101" pitchFamily="49" charset="-122"/>
                <a:ea typeface="楷体" panose="02010609060101010101" pitchFamily="49" charset="-122"/>
              </a:rPr>
              <a:t>审批时间不得早于动火分析时间</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4" name="TextBox 5"/>
          <p:cNvSpPr txBox="1"/>
          <p:nvPr>
            <p:custDataLst>
              <p:tags r:id="rId4"/>
            </p:custDataLst>
          </p:nvPr>
        </p:nvSpPr>
        <p:spPr>
          <a:xfrm>
            <a:off x="7565390" y="3968115"/>
            <a:ext cx="1591945" cy="36830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txBody>
          <a:bodyPr wrap="square" rtlCol="0">
            <a:spAutoFit/>
          </a:bodyPr>
          <a:p>
            <a:r>
              <a:rPr lang="zh-CN" altLang="en-US" smtClean="0">
                <a:solidFill>
                  <a:srgbClr val="FF0000"/>
                </a:solidFill>
                <a:latin typeface="楷体" panose="02010609060101010101" pitchFamily="49" charset="-122"/>
                <a:ea typeface="楷体" panose="02010609060101010101" pitchFamily="49" charset="-122"/>
              </a:rPr>
              <a:t>监护证号</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7"/>
          <p:cNvSpPr txBox="1"/>
          <p:nvPr/>
        </p:nvSpPr>
        <p:spPr>
          <a:xfrm>
            <a:off x="737235" y="335915"/>
            <a:ext cx="10535285" cy="645160"/>
          </a:xfrm>
          <a:prstGeom prst="rect">
            <a:avLst/>
          </a:prstGeom>
          <a:noFill/>
          <a:ln w="9525">
            <a:noFill/>
          </a:ln>
        </p:spPr>
        <p:txBody>
          <a:bodyPr wrap="square">
            <a:spAutoFit/>
          </a:bodyPr>
          <a:lstStyle/>
          <a:p>
            <a:pPr algn="ctr"/>
            <a:r>
              <a:rPr lang="zh-CN" sz="3600" b="1" dirty="0">
                <a:solidFill>
                  <a:srgbClr val="C00000"/>
                </a:solidFill>
                <a:latin typeface="微软雅黑" panose="020B0503020204020204" pitchFamily="34" charset="-122"/>
                <a:ea typeface="微软雅黑" panose="020B0503020204020204" pitchFamily="34" charset="-122"/>
                <a:sym typeface="+mn-ea"/>
              </a:rPr>
              <a:t>动火票填写注意事项</a:t>
            </a:r>
            <a:r>
              <a:rPr lang="en-US" altLang="zh-CN" sz="3600" b="1">
                <a:solidFill>
                  <a:schemeClr val="bg1"/>
                </a:solidFill>
                <a:latin typeface="微软雅黑" panose="020B0503020204020204" pitchFamily="34" charset="-122"/>
                <a:ea typeface="微软雅黑" panose="020B0503020204020204" pitchFamily="34" charset="-122"/>
                <a:sym typeface="+mn-ea"/>
              </a:rPr>
              <a:t>  </a:t>
            </a:r>
            <a:endParaRPr lang="zh-CN" altLang="en-US" sz="3600" b="1" dirty="0">
              <a:solidFill>
                <a:srgbClr val="C00000"/>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custDataLst>
              <p:tags r:id="rId1"/>
            </p:custDataLst>
          </p:nvPr>
        </p:nvPicPr>
        <p:blipFill>
          <a:blip r:embed="rId2"/>
          <a:stretch>
            <a:fillRect/>
          </a:stretch>
        </p:blipFill>
        <p:spPr>
          <a:xfrm>
            <a:off x="386080" y="1268730"/>
            <a:ext cx="10636885" cy="6079490"/>
          </a:xfrm>
          <a:prstGeom prst="rect">
            <a:avLst/>
          </a:prstGeom>
        </p:spPr>
      </p:pic>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994410" y="833120"/>
            <a:ext cx="9799320" cy="519112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1239520" y="683260"/>
            <a:ext cx="9480550" cy="5491480"/>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332230" y="725805"/>
            <a:ext cx="9582150" cy="540575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827405" y="490220"/>
            <a:ext cx="10298430" cy="587692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06</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受限空间作业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43255" y="1591945"/>
            <a:ext cx="7943850" cy="4569460"/>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1、作业前,应对受限空间进行安全隔离,要求如下: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a)与受限空间连通的可能危及安全作业的管道应采用</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加盲板或拆除一段管道的方式进行隔离</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;不应采用水封或关闭阀门代替盲板作为隔断措施: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b)与受限空间连通的可能危及安全作业的孔洞应进行严密封堵；</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c)对作业设备上的电器电源,应采取可靠的断电措施，电源开关处应上锁并加挂警示牌。</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2523543977,3057587549&amp;fm=253&amp;fmt=auto&amp;app=138&amp;f=JPEG.webp"/>
          <p:cNvPicPr>
            <a:picLocks noChangeAspect="1"/>
          </p:cNvPicPr>
          <p:nvPr/>
        </p:nvPicPr>
        <p:blipFill>
          <a:blip r:embed="rId1"/>
          <a:stretch>
            <a:fillRect/>
          </a:stretch>
        </p:blipFill>
        <p:spPr>
          <a:xfrm>
            <a:off x="8517255" y="2199640"/>
            <a:ext cx="3209290" cy="298513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802640" y="1252220"/>
            <a:ext cx="7511415" cy="512889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2、作业前，应保持受限空间内空气流通良好，可采取如下措施: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a)打开人孔、手孔、料孔、风门、烟门等与大气相通的设施进行自然通风:</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b)必要时，可采用强制通风或管道送风，管道送风前应对管道内介质和风源进行分析确认;</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c)在忌氧环境中作业，通风前应对作业环境中与氧性质相抵物料采取卸放、置换或清洗合格的措施,达到可以通风的安全条件要求。</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3810099961,774970529&amp;fm=253&amp;fmt=auto&amp;app=138&amp;f=JPEG.webp"/>
          <p:cNvPicPr>
            <a:picLocks noChangeAspect="1"/>
          </p:cNvPicPr>
          <p:nvPr/>
        </p:nvPicPr>
        <p:blipFill>
          <a:blip r:embed="rId1"/>
          <a:stretch>
            <a:fillRect/>
          </a:stretch>
        </p:blipFill>
        <p:spPr>
          <a:xfrm>
            <a:off x="8314055" y="2091055"/>
            <a:ext cx="3124835" cy="297497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12420" y="1391920"/>
            <a:ext cx="11694160" cy="512889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3、作业前,应确保受限空间内的气体环境满足作业要求，内容如下: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作业前30min内，对受限空间进行气体检测，检测分析合格后方可进入;</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b)检测点应有代表性，容积较大的受限空间，应对上、中、下(左、中、右)各部位进行检测分析</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c)检测人员进入或探入受限空间检测时，应佩戴6.6中规定的个体防护装备; </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d)涂刷具有挥发性溶剂的涂料时，应采取强制通风措施；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e)不应向受限空间充纯氧气或富氧空气;</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作业中断时间超过60min时,应重新进行气体检测分析。</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12889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4、受限空间内气体检测内容及要求如下: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氧气含量为19.5%--21%(体积分数)，在富氧环境下不应大于23.5%(体积分数);</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b)有毒物质允许浓度应符合GBZ2.1的规定: </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c)可燃气体、蒸气浓度要求应符合5.3.2的规定</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5、作业时,作业现场应配置移动式气体检测报警仪，</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连续检测受限空间内可燃气体、有毒气体及氧气浓度，并2h记录1次</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:气体浓度超限报警时，应立即停止作业、撤离人员、对现场进行处理，重新检测合格后方可恢复作业。</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68896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6、进入受限空间作业人员应正确穿戴相应的个体防护装备。进入下列受限空间作业应采取如下防护措施: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a)缺氧或有毒的受限空间经清洗或置换仍达不到6.4要求的，应佩戴满足GB/T18664要求的隔绝式呼吸防护装备，并正确拴带救生绳;</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b)易燃易爆的受限空间经清洗或置换仍达不到6.4要求的，应穿防静电工作服及工作鞋,使用防爆工器具;</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c)存在酸碱等腐蚀性介质的受限空间，应穿戴防酸碱防护服、防护鞋、防护手套等防腐蚀装备;</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d)在受限空间内从事电焊作业时，应穿绝缘鞋:</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e)有噪声产生的受限空间，应佩戴耳塞或耳罩等防噪声护具;</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7739380" cy="568896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f）有粉尘产生的受限空间，应在满足GB</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15577要求的条件下，按GB39800.1要求佩戴防尘口罩等防尘护具;</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g)高温的受限空间，应穿戴高温防护用品，必要时采取通风、隔热等防护措施;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h) 低温的受限空间，应穿戴低温防护用品，必要时采取供暖措施;</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i) 受限空间内从事清污作业，应佩戴隔绝式呼吸防护装备，并正确拴带救生绳:</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j)在受限空间内作业时，应配备相应的通信工具。</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descr="图片4"/>
          <p:cNvPicPr>
            <a:picLocks noChangeAspect="1"/>
          </p:cNvPicPr>
          <p:nvPr/>
        </p:nvPicPr>
        <p:blipFill>
          <a:blip r:embed="rId1"/>
          <a:stretch>
            <a:fillRect/>
          </a:stretch>
        </p:blipFill>
        <p:spPr>
          <a:xfrm>
            <a:off x="8332470" y="1270635"/>
            <a:ext cx="2736850" cy="2572385"/>
          </a:xfrm>
          <a:prstGeom prst="rect">
            <a:avLst/>
          </a:prstGeom>
        </p:spPr>
      </p:pic>
      <p:pic>
        <p:nvPicPr>
          <p:cNvPr id="5" name="图片 4" descr="图片5"/>
          <p:cNvPicPr>
            <a:picLocks noChangeAspect="1"/>
          </p:cNvPicPr>
          <p:nvPr/>
        </p:nvPicPr>
        <p:blipFill>
          <a:blip r:embed="rId2"/>
          <a:stretch>
            <a:fillRect/>
          </a:stretch>
        </p:blipFill>
        <p:spPr>
          <a:xfrm>
            <a:off x="8967470" y="3524250"/>
            <a:ext cx="2743200" cy="302387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128895"/>
          </a:xfrm>
          <a:prstGeom prst="rect">
            <a:avLst/>
          </a:prstGeom>
          <a:noFill/>
          <a:ln w="9525">
            <a:noFill/>
          </a:ln>
        </p:spPr>
        <p:txBody>
          <a:bodyPr wrap="square">
            <a:spAutoFit/>
          </a:bodyPr>
          <a:lstStyle/>
          <a:p>
            <a:pPr marL="0" algn="l" fontAlgn="auto">
              <a:lnSpc>
                <a:spcPct val="13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当一处受限空间存在动火作业时，该处受限空间内不应安排涂刷油漆、涂料等其他可能产生有毒有害、可燃物质的作业活动。</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对监护人的特殊要求：</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监护人应在受限空间外进行全程监护，不应在无任何防护措施的情况下探人或进入受限空间；</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在风险较大的受限空间作业时，应增设监护人员，并随时与受限空间内作业人员保持联络；</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c)监护人应对进入受限空间的人员及其携带的工器具种类、数量进行登记，作业完毕后再次进行清点，防止遗漏在受限空间内。</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4569460"/>
          </a:xfrm>
          <a:prstGeom prst="rect">
            <a:avLst/>
          </a:prstGeom>
          <a:noFill/>
          <a:ln w="9525">
            <a:noFill/>
          </a:ln>
        </p:spPr>
        <p:txBody>
          <a:bodyPr wrap="square">
            <a:spAutoFit/>
          </a:bodyPr>
          <a:lstStyle/>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9、受限空间作业应满足的其他要求: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a)受限空间出入口应保持畅通;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b)作业人员不应携带与作业无关的物品进入受限空间；作业中不应抛掷材料、工器具等物品;在有毒、缺氧环境下不应摘下防护面具;</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c)难度大、劳动强度大、时间长、高温的受限空间作业应采取轮换作业方式;</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d)接入受限空间的电线、电缆、通气管应在进口处进行保护或加强绝缘，应避免与人员出入使用同一出入口;</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3449955"/>
          </a:xfrm>
          <a:prstGeom prst="rect">
            <a:avLst/>
          </a:prstGeom>
          <a:noFill/>
          <a:ln w="9525">
            <a:noFill/>
          </a:ln>
        </p:spPr>
        <p:txBody>
          <a:bodyPr wrap="square">
            <a:spAutoFit/>
          </a:bodyPr>
          <a:lstStyle/>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e)作业期间发生异常情况时，未穿戴6.6规定个体防护装备的人员严禁入内救援: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f)停止作业期间，应在受限空间入口处增设警示标志，并采取防止人员误入的措施;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 作业结束后，应将工器具带出受限空间。</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10、受限空间安全作业票有效期不应超过24 h。</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4810" y="1842770"/>
            <a:ext cx="10520680" cy="4354195"/>
            <a:chOff x="465" y="5550"/>
            <a:chExt cx="13703" cy="4861"/>
          </a:xfrm>
        </p:grpSpPr>
        <p:sp>
          <p:nvSpPr>
            <p:cNvPr id="2" name="MH_SubTitle_1"/>
            <p:cNvSpPr/>
            <p:nvPr>
              <p:custDataLst>
                <p:tags r:id="rId1"/>
              </p:custDataLst>
            </p:nvPr>
          </p:nvSpPr>
          <p:spPr>
            <a:xfrm>
              <a:off x="701" y="5550"/>
              <a:ext cx="12938" cy="888"/>
            </a:xfrm>
            <a:custGeom>
              <a:avLst/>
              <a:gdLst>
                <a:gd name="connsiteX0" fmla="*/ 0 w 2969523"/>
                <a:gd name="connsiteY0" fmla="*/ 743759 h 800909"/>
                <a:gd name="connsiteX1" fmla="*/ 704850 w 2969523"/>
                <a:gd name="connsiteY1" fmla="*/ 800909 h 800909"/>
                <a:gd name="connsiteX2" fmla="*/ 2228850 w 2969523"/>
                <a:gd name="connsiteY2" fmla="*/ 743759 h 800909"/>
                <a:gd name="connsiteX3" fmla="*/ 2876550 w 2969523"/>
                <a:gd name="connsiteY3" fmla="*/ 515159 h 800909"/>
                <a:gd name="connsiteX4" fmla="*/ 2933700 w 2969523"/>
                <a:gd name="connsiteY4" fmla="*/ 286559 h 800909"/>
                <a:gd name="connsiteX5" fmla="*/ 2571750 w 2969523"/>
                <a:gd name="connsiteY5" fmla="*/ 809 h 800909"/>
                <a:gd name="connsiteX6" fmla="*/ 590550 w 2969523"/>
                <a:gd name="connsiteY6" fmla="*/ 210359 h 800909"/>
                <a:gd name="connsiteX7" fmla="*/ 38100 w 2969523"/>
                <a:gd name="connsiteY7" fmla="*/ 496109 h 800909"/>
                <a:gd name="connsiteX8" fmla="*/ 114300 w 2969523"/>
                <a:gd name="connsiteY8" fmla="*/ 781859 h 800909"/>
                <a:gd name="connsiteX0-1" fmla="*/ 0 w 3033023"/>
                <a:gd name="connsiteY0-2" fmla="*/ 743759 h 800909"/>
                <a:gd name="connsiteX1-3" fmla="*/ 768350 w 3033023"/>
                <a:gd name="connsiteY1-4" fmla="*/ 800909 h 800909"/>
                <a:gd name="connsiteX2-5" fmla="*/ 2292350 w 3033023"/>
                <a:gd name="connsiteY2-6" fmla="*/ 743759 h 800909"/>
                <a:gd name="connsiteX3-7" fmla="*/ 2940050 w 3033023"/>
                <a:gd name="connsiteY3-8" fmla="*/ 515159 h 800909"/>
                <a:gd name="connsiteX4-9" fmla="*/ 2997200 w 3033023"/>
                <a:gd name="connsiteY4-10" fmla="*/ 286559 h 800909"/>
                <a:gd name="connsiteX5-11" fmla="*/ 2635250 w 3033023"/>
                <a:gd name="connsiteY5-12" fmla="*/ 809 h 800909"/>
                <a:gd name="connsiteX6-13" fmla="*/ 654050 w 3033023"/>
                <a:gd name="connsiteY6-14" fmla="*/ 210359 h 800909"/>
                <a:gd name="connsiteX7-15" fmla="*/ 101600 w 3033023"/>
                <a:gd name="connsiteY7-16" fmla="*/ 496109 h 800909"/>
                <a:gd name="connsiteX8-17" fmla="*/ 177800 w 3033023"/>
                <a:gd name="connsiteY8-18" fmla="*/ 781859 h 800909"/>
                <a:gd name="connsiteX0-19" fmla="*/ 0 w 3033023"/>
                <a:gd name="connsiteY0-20" fmla="*/ 743759 h 800909"/>
                <a:gd name="connsiteX1-21" fmla="*/ 768350 w 3033023"/>
                <a:gd name="connsiteY1-22" fmla="*/ 800909 h 800909"/>
                <a:gd name="connsiteX2-23" fmla="*/ 2292350 w 3033023"/>
                <a:gd name="connsiteY2-24" fmla="*/ 743759 h 800909"/>
                <a:gd name="connsiteX3-25" fmla="*/ 2940050 w 3033023"/>
                <a:gd name="connsiteY3-26" fmla="*/ 515159 h 800909"/>
                <a:gd name="connsiteX4-27" fmla="*/ 2997200 w 3033023"/>
                <a:gd name="connsiteY4-28" fmla="*/ 286559 h 800909"/>
                <a:gd name="connsiteX5-29" fmla="*/ 2635250 w 3033023"/>
                <a:gd name="connsiteY5-30" fmla="*/ 809 h 800909"/>
                <a:gd name="connsiteX6-31" fmla="*/ 654050 w 3033023"/>
                <a:gd name="connsiteY6-32" fmla="*/ 210359 h 800909"/>
                <a:gd name="connsiteX7-33" fmla="*/ 101600 w 3033023"/>
                <a:gd name="connsiteY7-34" fmla="*/ 496109 h 800909"/>
                <a:gd name="connsiteX8-35" fmla="*/ 254000 w 3033023"/>
                <a:gd name="connsiteY8-36" fmla="*/ 704777 h 800909"/>
                <a:gd name="connsiteX0-37" fmla="*/ 0 w 3033023"/>
                <a:gd name="connsiteY0-38" fmla="*/ 743759 h 800909"/>
                <a:gd name="connsiteX1-39" fmla="*/ 768350 w 3033023"/>
                <a:gd name="connsiteY1-40" fmla="*/ 800909 h 800909"/>
                <a:gd name="connsiteX2-41" fmla="*/ 2292350 w 3033023"/>
                <a:gd name="connsiteY2-42" fmla="*/ 743759 h 800909"/>
                <a:gd name="connsiteX3-43" fmla="*/ 2940050 w 3033023"/>
                <a:gd name="connsiteY3-44" fmla="*/ 515159 h 800909"/>
                <a:gd name="connsiteX4-45" fmla="*/ 2997200 w 3033023"/>
                <a:gd name="connsiteY4-46" fmla="*/ 286559 h 800909"/>
                <a:gd name="connsiteX5-47" fmla="*/ 2635250 w 3033023"/>
                <a:gd name="connsiteY5-48" fmla="*/ 809 h 800909"/>
                <a:gd name="connsiteX6-49" fmla="*/ 654050 w 3033023"/>
                <a:gd name="connsiteY6-50" fmla="*/ 210359 h 800909"/>
                <a:gd name="connsiteX7-51" fmla="*/ 101600 w 3033023"/>
                <a:gd name="connsiteY7-52" fmla="*/ 496109 h 800909"/>
                <a:gd name="connsiteX8-53" fmla="*/ 349250 w 3033023"/>
                <a:gd name="connsiteY8-54" fmla="*/ 751026 h 800909"/>
                <a:gd name="connsiteX0-55" fmla="*/ 0 w 3033023"/>
                <a:gd name="connsiteY0-56" fmla="*/ 743759 h 800909"/>
                <a:gd name="connsiteX1-57" fmla="*/ 768350 w 3033023"/>
                <a:gd name="connsiteY1-58" fmla="*/ 800909 h 800909"/>
                <a:gd name="connsiteX2-59" fmla="*/ 2292350 w 3033023"/>
                <a:gd name="connsiteY2-60" fmla="*/ 743759 h 800909"/>
                <a:gd name="connsiteX3-61" fmla="*/ 2940050 w 3033023"/>
                <a:gd name="connsiteY3-62" fmla="*/ 515159 h 800909"/>
                <a:gd name="connsiteX4-63" fmla="*/ 2997200 w 3033023"/>
                <a:gd name="connsiteY4-64" fmla="*/ 286559 h 800909"/>
                <a:gd name="connsiteX5-65" fmla="*/ 2635250 w 3033023"/>
                <a:gd name="connsiteY5-66" fmla="*/ 809 h 800909"/>
                <a:gd name="connsiteX6-67" fmla="*/ 654050 w 3033023"/>
                <a:gd name="connsiteY6-68" fmla="*/ 210359 h 800909"/>
                <a:gd name="connsiteX7-69" fmla="*/ 101600 w 3033023"/>
                <a:gd name="connsiteY7-70" fmla="*/ 496109 h 800909"/>
                <a:gd name="connsiteX8-71" fmla="*/ 349250 w 3033023"/>
                <a:gd name="connsiteY8-72" fmla="*/ 751026 h 800909"/>
                <a:gd name="connsiteX0-73" fmla="*/ 0 w 3033023"/>
                <a:gd name="connsiteY0-74" fmla="*/ 743759 h 800909"/>
                <a:gd name="connsiteX1-75" fmla="*/ 768350 w 3033023"/>
                <a:gd name="connsiteY1-76" fmla="*/ 800909 h 800909"/>
                <a:gd name="connsiteX2-77" fmla="*/ 2292350 w 3033023"/>
                <a:gd name="connsiteY2-78" fmla="*/ 743759 h 800909"/>
                <a:gd name="connsiteX3-79" fmla="*/ 2940050 w 3033023"/>
                <a:gd name="connsiteY3-80" fmla="*/ 515159 h 800909"/>
                <a:gd name="connsiteX4-81" fmla="*/ 2997200 w 3033023"/>
                <a:gd name="connsiteY4-82" fmla="*/ 286559 h 800909"/>
                <a:gd name="connsiteX5-83" fmla="*/ 2635250 w 3033023"/>
                <a:gd name="connsiteY5-84" fmla="*/ 809 h 800909"/>
                <a:gd name="connsiteX6-85" fmla="*/ 654050 w 3033023"/>
                <a:gd name="connsiteY6-86" fmla="*/ 210359 h 800909"/>
                <a:gd name="connsiteX7-87" fmla="*/ 101600 w 3033023"/>
                <a:gd name="connsiteY7-88" fmla="*/ 496109 h 800909"/>
                <a:gd name="connsiteX8-89" fmla="*/ 349250 w 3033023"/>
                <a:gd name="connsiteY8-90" fmla="*/ 751026 h 800909"/>
                <a:gd name="connsiteX0-91" fmla="*/ 0 w 3247335"/>
                <a:gd name="connsiteY0-92" fmla="*/ 736529 h 800997"/>
                <a:gd name="connsiteX1-93" fmla="*/ 982662 w 3247335"/>
                <a:gd name="connsiteY1-94" fmla="*/ 800909 h 800997"/>
                <a:gd name="connsiteX2-95" fmla="*/ 2506662 w 3247335"/>
                <a:gd name="connsiteY2-96" fmla="*/ 743759 h 800997"/>
                <a:gd name="connsiteX3-97" fmla="*/ 3154362 w 3247335"/>
                <a:gd name="connsiteY3-98" fmla="*/ 515159 h 800997"/>
                <a:gd name="connsiteX4-99" fmla="*/ 3211512 w 3247335"/>
                <a:gd name="connsiteY4-100" fmla="*/ 286559 h 800997"/>
                <a:gd name="connsiteX5-101" fmla="*/ 2849562 w 3247335"/>
                <a:gd name="connsiteY5-102" fmla="*/ 809 h 800997"/>
                <a:gd name="connsiteX6-103" fmla="*/ 868362 w 3247335"/>
                <a:gd name="connsiteY6-104" fmla="*/ 210359 h 800997"/>
                <a:gd name="connsiteX7-105" fmla="*/ 315912 w 3247335"/>
                <a:gd name="connsiteY7-106" fmla="*/ 496109 h 800997"/>
                <a:gd name="connsiteX8-107" fmla="*/ 563562 w 3247335"/>
                <a:gd name="connsiteY8-108" fmla="*/ 751026 h 800997"/>
                <a:gd name="connsiteX0-109" fmla="*/ 0 w 3247335"/>
                <a:gd name="connsiteY0-110" fmla="*/ 736529 h 815129"/>
                <a:gd name="connsiteX1-111" fmla="*/ 982662 w 3247335"/>
                <a:gd name="connsiteY1-112" fmla="*/ 800909 h 815129"/>
                <a:gd name="connsiteX2-113" fmla="*/ 2506662 w 3247335"/>
                <a:gd name="connsiteY2-114" fmla="*/ 743759 h 815129"/>
                <a:gd name="connsiteX3-115" fmla="*/ 3154362 w 3247335"/>
                <a:gd name="connsiteY3-116" fmla="*/ 515159 h 815129"/>
                <a:gd name="connsiteX4-117" fmla="*/ 3211512 w 3247335"/>
                <a:gd name="connsiteY4-118" fmla="*/ 286559 h 815129"/>
                <a:gd name="connsiteX5-119" fmla="*/ 2849562 w 3247335"/>
                <a:gd name="connsiteY5-120" fmla="*/ 809 h 815129"/>
                <a:gd name="connsiteX6-121" fmla="*/ 868362 w 3247335"/>
                <a:gd name="connsiteY6-122" fmla="*/ 210359 h 815129"/>
                <a:gd name="connsiteX7-123" fmla="*/ 315912 w 3247335"/>
                <a:gd name="connsiteY7-124" fmla="*/ 496109 h 815129"/>
                <a:gd name="connsiteX8-125" fmla="*/ 563562 w 3247335"/>
                <a:gd name="connsiteY8-126" fmla="*/ 751026 h 815129"/>
                <a:gd name="connsiteX0-127" fmla="*/ 0 w 3260035"/>
                <a:gd name="connsiteY0-128" fmla="*/ 688338 h 803190"/>
                <a:gd name="connsiteX1-129" fmla="*/ 995362 w 3260035"/>
                <a:gd name="connsiteY1-130" fmla="*/ 800909 h 803190"/>
                <a:gd name="connsiteX2-131" fmla="*/ 2519362 w 3260035"/>
                <a:gd name="connsiteY2-132" fmla="*/ 743759 h 803190"/>
                <a:gd name="connsiteX3-133" fmla="*/ 3167062 w 3260035"/>
                <a:gd name="connsiteY3-134" fmla="*/ 515159 h 803190"/>
                <a:gd name="connsiteX4-135" fmla="*/ 3224212 w 3260035"/>
                <a:gd name="connsiteY4-136" fmla="*/ 286559 h 803190"/>
                <a:gd name="connsiteX5-137" fmla="*/ 2862262 w 3260035"/>
                <a:gd name="connsiteY5-138" fmla="*/ 809 h 803190"/>
                <a:gd name="connsiteX6-139" fmla="*/ 881062 w 3260035"/>
                <a:gd name="connsiteY6-140" fmla="*/ 210359 h 803190"/>
                <a:gd name="connsiteX7-141" fmla="*/ 328612 w 3260035"/>
                <a:gd name="connsiteY7-142" fmla="*/ 496109 h 803190"/>
                <a:gd name="connsiteX8-143" fmla="*/ 576262 w 3260035"/>
                <a:gd name="connsiteY8-144" fmla="*/ 751026 h 8031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260035" h="803190">
                  <a:moveTo>
                    <a:pt x="0" y="688338"/>
                  </a:moveTo>
                  <a:cubicBezTo>
                    <a:pt x="179387" y="813294"/>
                    <a:pt x="575468" y="791672"/>
                    <a:pt x="995362" y="800909"/>
                  </a:cubicBezTo>
                  <a:cubicBezTo>
                    <a:pt x="1415256" y="810146"/>
                    <a:pt x="2157412" y="791384"/>
                    <a:pt x="2519362" y="743759"/>
                  </a:cubicBezTo>
                  <a:cubicBezTo>
                    <a:pt x="2881312" y="696134"/>
                    <a:pt x="3049587" y="591359"/>
                    <a:pt x="3167062" y="515159"/>
                  </a:cubicBezTo>
                  <a:cubicBezTo>
                    <a:pt x="3284537" y="438959"/>
                    <a:pt x="3275012" y="372284"/>
                    <a:pt x="3224212" y="286559"/>
                  </a:cubicBezTo>
                  <a:cubicBezTo>
                    <a:pt x="3173412" y="200834"/>
                    <a:pt x="3252787" y="13509"/>
                    <a:pt x="2862262" y="809"/>
                  </a:cubicBezTo>
                  <a:cubicBezTo>
                    <a:pt x="2471737" y="-11891"/>
                    <a:pt x="1303337" y="127809"/>
                    <a:pt x="881062" y="210359"/>
                  </a:cubicBezTo>
                  <a:cubicBezTo>
                    <a:pt x="458787" y="292909"/>
                    <a:pt x="398462" y="321207"/>
                    <a:pt x="328612" y="496109"/>
                  </a:cubicBezTo>
                  <a:cubicBezTo>
                    <a:pt x="258762" y="671011"/>
                    <a:pt x="528637" y="703401"/>
                    <a:pt x="576262" y="751026"/>
                  </a:cubicBezTo>
                </a:path>
              </a:pathLst>
            </a:custGeom>
            <a:solidFill>
              <a:srgbClr val="92D050"/>
            </a:solidFill>
            <a:ln w="28575" cap="flat" cmpd="sng" algn="ctr">
              <a:solidFill>
                <a:schemeClr val="accent1"/>
              </a:solidFill>
              <a:prstDash val="solid"/>
              <a:miter lim="800000"/>
            </a:ln>
            <a:effectLst/>
          </p:spPr>
          <p:txBody>
            <a:bodyPr wrap="square" tIns="108000" anchor="ctr">
              <a:normAutofit/>
              <a:scene3d>
                <a:camera prst="orthographicFront">
                  <a:rot lat="0" lon="0" rev="180000"/>
                </a:camera>
                <a:lightRig rig="threePt" dir="t"/>
              </a:scene3d>
            </a:bodyPr>
            <a:lstStyle/>
            <a:p>
              <a:pPr algn="ctr"/>
              <a:r>
                <a:rPr lang="en-US" sz="2400" b="1" dirty="0">
                  <a:solidFill>
                    <a:schemeClr val="bg1"/>
                  </a:solidFill>
                  <a:latin typeface="微软雅黑" panose="020B0503020204020204" pitchFamily="34" charset="-122"/>
                  <a:sym typeface="+mn-ea"/>
                </a:rPr>
                <a:t>              </a:t>
              </a:r>
              <a:r>
                <a:rPr sz="2400" b="1" dirty="0">
                  <a:solidFill>
                    <a:schemeClr val="bg1"/>
                  </a:solidFill>
                  <a:latin typeface="微软雅黑" panose="020B0503020204020204" pitchFamily="34" charset="-122"/>
                  <a:sym typeface="+mn-ea"/>
                </a:rPr>
                <a:t>必须严格实行作业审批制度，严禁擅自进入有限空间作业。</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4" name="MH_Other_1"/>
            <p:cNvSpPr txBox="1">
              <a:spLocks noChangeArrowheads="1"/>
            </p:cNvSpPr>
            <p:nvPr>
              <p:custDataLst>
                <p:tags r:id="rId2"/>
              </p:custDataLst>
            </p:nvPr>
          </p:nvSpPr>
          <p:spPr bwMode="auto">
            <a:xfrm>
              <a:off x="701" y="5662"/>
              <a:ext cx="15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a:solidFill>
                    <a:schemeClr val="accent1"/>
                  </a:solidFill>
                  <a:latin typeface="Brush Script Std" panose="03060802040607070404" pitchFamily="66" charset="0"/>
                  <a:ea typeface="微软雅黑" panose="020B0503020204020204" pitchFamily="34" charset="-122"/>
                </a:rPr>
                <a:t>1</a:t>
              </a:r>
              <a:endParaRPr lang="en-US" altLang="zh-CN" sz="3200" b="1">
                <a:solidFill>
                  <a:schemeClr val="accent1"/>
                </a:solidFill>
                <a:latin typeface="Brush Script Std" panose="03060802040607070404" pitchFamily="66" charset="0"/>
                <a:ea typeface="微软雅黑" panose="020B0503020204020204" pitchFamily="34" charset="-122"/>
              </a:endParaRPr>
            </a:p>
          </p:txBody>
        </p:sp>
        <p:sp>
          <p:nvSpPr>
            <p:cNvPr id="5" name="MH_SubTitle_2"/>
            <p:cNvSpPr/>
            <p:nvPr>
              <p:custDataLst>
                <p:tags r:id="rId3"/>
              </p:custDataLst>
            </p:nvPr>
          </p:nvSpPr>
          <p:spPr>
            <a:xfrm>
              <a:off x="866" y="6487"/>
              <a:ext cx="12873" cy="1067"/>
            </a:xfrm>
            <a:custGeom>
              <a:avLst/>
              <a:gdLst>
                <a:gd name="connsiteX0" fmla="*/ 0 w 2969523"/>
                <a:gd name="connsiteY0" fmla="*/ 743759 h 800909"/>
                <a:gd name="connsiteX1" fmla="*/ 704850 w 2969523"/>
                <a:gd name="connsiteY1" fmla="*/ 800909 h 800909"/>
                <a:gd name="connsiteX2" fmla="*/ 2228850 w 2969523"/>
                <a:gd name="connsiteY2" fmla="*/ 743759 h 800909"/>
                <a:gd name="connsiteX3" fmla="*/ 2876550 w 2969523"/>
                <a:gd name="connsiteY3" fmla="*/ 515159 h 800909"/>
                <a:gd name="connsiteX4" fmla="*/ 2933700 w 2969523"/>
                <a:gd name="connsiteY4" fmla="*/ 286559 h 800909"/>
                <a:gd name="connsiteX5" fmla="*/ 2571750 w 2969523"/>
                <a:gd name="connsiteY5" fmla="*/ 809 h 800909"/>
                <a:gd name="connsiteX6" fmla="*/ 590550 w 2969523"/>
                <a:gd name="connsiteY6" fmla="*/ 210359 h 800909"/>
                <a:gd name="connsiteX7" fmla="*/ 38100 w 2969523"/>
                <a:gd name="connsiteY7" fmla="*/ 496109 h 800909"/>
                <a:gd name="connsiteX8" fmla="*/ 114300 w 2969523"/>
                <a:gd name="connsiteY8" fmla="*/ 781859 h 800909"/>
                <a:gd name="connsiteX0-1" fmla="*/ 0 w 3033023"/>
                <a:gd name="connsiteY0-2" fmla="*/ 743759 h 800909"/>
                <a:gd name="connsiteX1-3" fmla="*/ 768350 w 3033023"/>
                <a:gd name="connsiteY1-4" fmla="*/ 800909 h 800909"/>
                <a:gd name="connsiteX2-5" fmla="*/ 2292350 w 3033023"/>
                <a:gd name="connsiteY2-6" fmla="*/ 743759 h 800909"/>
                <a:gd name="connsiteX3-7" fmla="*/ 2940050 w 3033023"/>
                <a:gd name="connsiteY3-8" fmla="*/ 515159 h 800909"/>
                <a:gd name="connsiteX4-9" fmla="*/ 2997200 w 3033023"/>
                <a:gd name="connsiteY4-10" fmla="*/ 286559 h 800909"/>
                <a:gd name="connsiteX5-11" fmla="*/ 2635250 w 3033023"/>
                <a:gd name="connsiteY5-12" fmla="*/ 809 h 800909"/>
                <a:gd name="connsiteX6-13" fmla="*/ 654050 w 3033023"/>
                <a:gd name="connsiteY6-14" fmla="*/ 210359 h 800909"/>
                <a:gd name="connsiteX7-15" fmla="*/ 101600 w 3033023"/>
                <a:gd name="connsiteY7-16" fmla="*/ 496109 h 800909"/>
                <a:gd name="connsiteX8-17" fmla="*/ 177800 w 3033023"/>
                <a:gd name="connsiteY8-18" fmla="*/ 781859 h 800909"/>
                <a:gd name="connsiteX0-19" fmla="*/ 0 w 3033023"/>
                <a:gd name="connsiteY0-20" fmla="*/ 743759 h 800909"/>
                <a:gd name="connsiteX1-21" fmla="*/ 768350 w 3033023"/>
                <a:gd name="connsiteY1-22" fmla="*/ 800909 h 800909"/>
                <a:gd name="connsiteX2-23" fmla="*/ 2292350 w 3033023"/>
                <a:gd name="connsiteY2-24" fmla="*/ 743759 h 800909"/>
                <a:gd name="connsiteX3-25" fmla="*/ 2940050 w 3033023"/>
                <a:gd name="connsiteY3-26" fmla="*/ 515159 h 800909"/>
                <a:gd name="connsiteX4-27" fmla="*/ 2997200 w 3033023"/>
                <a:gd name="connsiteY4-28" fmla="*/ 286559 h 800909"/>
                <a:gd name="connsiteX5-29" fmla="*/ 2635250 w 3033023"/>
                <a:gd name="connsiteY5-30" fmla="*/ 809 h 800909"/>
                <a:gd name="connsiteX6-31" fmla="*/ 654050 w 3033023"/>
                <a:gd name="connsiteY6-32" fmla="*/ 210359 h 800909"/>
                <a:gd name="connsiteX7-33" fmla="*/ 101600 w 3033023"/>
                <a:gd name="connsiteY7-34" fmla="*/ 496109 h 800909"/>
                <a:gd name="connsiteX8-35" fmla="*/ 254000 w 3033023"/>
                <a:gd name="connsiteY8-36" fmla="*/ 704777 h 800909"/>
                <a:gd name="connsiteX0-37" fmla="*/ 0 w 3033023"/>
                <a:gd name="connsiteY0-38" fmla="*/ 743759 h 800909"/>
                <a:gd name="connsiteX1-39" fmla="*/ 768350 w 3033023"/>
                <a:gd name="connsiteY1-40" fmla="*/ 800909 h 800909"/>
                <a:gd name="connsiteX2-41" fmla="*/ 2292350 w 3033023"/>
                <a:gd name="connsiteY2-42" fmla="*/ 743759 h 800909"/>
                <a:gd name="connsiteX3-43" fmla="*/ 2940050 w 3033023"/>
                <a:gd name="connsiteY3-44" fmla="*/ 515159 h 800909"/>
                <a:gd name="connsiteX4-45" fmla="*/ 2997200 w 3033023"/>
                <a:gd name="connsiteY4-46" fmla="*/ 286559 h 800909"/>
                <a:gd name="connsiteX5-47" fmla="*/ 2635250 w 3033023"/>
                <a:gd name="connsiteY5-48" fmla="*/ 809 h 800909"/>
                <a:gd name="connsiteX6-49" fmla="*/ 654050 w 3033023"/>
                <a:gd name="connsiteY6-50" fmla="*/ 210359 h 800909"/>
                <a:gd name="connsiteX7-51" fmla="*/ 101600 w 3033023"/>
                <a:gd name="connsiteY7-52" fmla="*/ 496109 h 800909"/>
                <a:gd name="connsiteX8-53" fmla="*/ 349250 w 3033023"/>
                <a:gd name="connsiteY8-54" fmla="*/ 751026 h 800909"/>
                <a:gd name="connsiteX0-55" fmla="*/ 0 w 3033023"/>
                <a:gd name="connsiteY0-56" fmla="*/ 743759 h 800909"/>
                <a:gd name="connsiteX1-57" fmla="*/ 768350 w 3033023"/>
                <a:gd name="connsiteY1-58" fmla="*/ 800909 h 800909"/>
                <a:gd name="connsiteX2-59" fmla="*/ 2292350 w 3033023"/>
                <a:gd name="connsiteY2-60" fmla="*/ 743759 h 800909"/>
                <a:gd name="connsiteX3-61" fmla="*/ 2940050 w 3033023"/>
                <a:gd name="connsiteY3-62" fmla="*/ 515159 h 800909"/>
                <a:gd name="connsiteX4-63" fmla="*/ 2997200 w 3033023"/>
                <a:gd name="connsiteY4-64" fmla="*/ 286559 h 800909"/>
                <a:gd name="connsiteX5-65" fmla="*/ 2635250 w 3033023"/>
                <a:gd name="connsiteY5-66" fmla="*/ 809 h 800909"/>
                <a:gd name="connsiteX6-67" fmla="*/ 654050 w 3033023"/>
                <a:gd name="connsiteY6-68" fmla="*/ 210359 h 800909"/>
                <a:gd name="connsiteX7-69" fmla="*/ 101600 w 3033023"/>
                <a:gd name="connsiteY7-70" fmla="*/ 496109 h 800909"/>
                <a:gd name="connsiteX8-71" fmla="*/ 349250 w 3033023"/>
                <a:gd name="connsiteY8-72" fmla="*/ 751026 h 800909"/>
                <a:gd name="connsiteX0-73" fmla="*/ 0 w 3033023"/>
                <a:gd name="connsiteY0-74" fmla="*/ 743759 h 800909"/>
                <a:gd name="connsiteX1-75" fmla="*/ 768350 w 3033023"/>
                <a:gd name="connsiteY1-76" fmla="*/ 800909 h 800909"/>
                <a:gd name="connsiteX2-77" fmla="*/ 2292350 w 3033023"/>
                <a:gd name="connsiteY2-78" fmla="*/ 743759 h 800909"/>
                <a:gd name="connsiteX3-79" fmla="*/ 2940050 w 3033023"/>
                <a:gd name="connsiteY3-80" fmla="*/ 515159 h 800909"/>
                <a:gd name="connsiteX4-81" fmla="*/ 2997200 w 3033023"/>
                <a:gd name="connsiteY4-82" fmla="*/ 286559 h 800909"/>
                <a:gd name="connsiteX5-83" fmla="*/ 2635250 w 3033023"/>
                <a:gd name="connsiteY5-84" fmla="*/ 809 h 800909"/>
                <a:gd name="connsiteX6-85" fmla="*/ 654050 w 3033023"/>
                <a:gd name="connsiteY6-86" fmla="*/ 210359 h 800909"/>
                <a:gd name="connsiteX7-87" fmla="*/ 101600 w 3033023"/>
                <a:gd name="connsiteY7-88" fmla="*/ 496109 h 800909"/>
                <a:gd name="connsiteX8-89" fmla="*/ 349250 w 3033023"/>
                <a:gd name="connsiteY8-90" fmla="*/ 751026 h 800909"/>
                <a:gd name="connsiteX0-91" fmla="*/ 0 w 3247335"/>
                <a:gd name="connsiteY0-92" fmla="*/ 736529 h 800997"/>
                <a:gd name="connsiteX1-93" fmla="*/ 982662 w 3247335"/>
                <a:gd name="connsiteY1-94" fmla="*/ 800909 h 800997"/>
                <a:gd name="connsiteX2-95" fmla="*/ 2506662 w 3247335"/>
                <a:gd name="connsiteY2-96" fmla="*/ 743759 h 800997"/>
                <a:gd name="connsiteX3-97" fmla="*/ 3154362 w 3247335"/>
                <a:gd name="connsiteY3-98" fmla="*/ 515159 h 800997"/>
                <a:gd name="connsiteX4-99" fmla="*/ 3211512 w 3247335"/>
                <a:gd name="connsiteY4-100" fmla="*/ 286559 h 800997"/>
                <a:gd name="connsiteX5-101" fmla="*/ 2849562 w 3247335"/>
                <a:gd name="connsiteY5-102" fmla="*/ 809 h 800997"/>
                <a:gd name="connsiteX6-103" fmla="*/ 868362 w 3247335"/>
                <a:gd name="connsiteY6-104" fmla="*/ 210359 h 800997"/>
                <a:gd name="connsiteX7-105" fmla="*/ 315912 w 3247335"/>
                <a:gd name="connsiteY7-106" fmla="*/ 496109 h 800997"/>
                <a:gd name="connsiteX8-107" fmla="*/ 563562 w 3247335"/>
                <a:gd name="connsiteY8-108" fmla="*/ 751026 h 800997"/>
                <a:gd name="connsiteX0-109" fmla="*/ 0 w 3247335"/>
                <a:gd name="connsiteY0-110" fmla="*/ 736529 h 815129"/>
                <a:gd name="connsiteX1-111" fmla="*/ 982662 w 3247335"/>
                <a:gd name="connsiteY1-112" fmla="*/ 800909 h 815129"/>
                <a:gd name="connsiteX2-113" fmla="*/ 2506662 w 3247335"/>
                <a:gd name="connsiteY2-114" fmla="*/ 743759 h 815129"/>
                <a:gd name="connsiteX3-115" fmla="*/ 3154362 w 3247335"/>
                <a:gd name="connsiteY3-116" fmla="*/ 515159 h 815129"/>
                <a:gd name="connsiteX4-117" fmla="*/ 3211512 w 3247335"/>
                <a:gd name="connsiteY4-118" fmla="*/ 286559 h 815129"/>
                <a:gd name="connsiteX5-119" fmla="*/ 2849562 w 3247335"/>
                <a:gd name="connsiteY5-120" fmla="*/ 809 h 815129"/>
                <a:gd name="connsiteX6-121" fmla="*/ 868362 w 3247335"/>
                <a:gd name="connsiteY6-122" fmla="*/ 210359 h 815129"/>
                <a:gd name="connsiteX7-123" fmla="*/ 315912 w 3247335"/>
                <a:gd name="connsiteY7-124" fmla="*/ 496109 h 815129"/>
                <a:gd name="connsiteX8-125" fmla="*/ 563562 w 3247335"/>
                <a:gd name="connsiteY8-126" fmla="*/ 751026 h 815129"/>
                <a:gd name="connsiteX0-127" fmla="*/ 0 w 3260035"/>
                <a:gd name="connsiteY0-128" fmla="*/ 688338 h 803190"/>
                <a:gd name="connsiteX1-129" fmla="*/ 995362 w 3260035"/>
                <a:gd name="connsiteY1-130" fmla="*/ 800909 h 803190"/>
                <a:gd name="connsiteX2-131" fmla="*/ 2519362 w 3260035"/>
                <a:gd name="connsiteY2-132" fmla="*/ 743759 h 803190"/>
                <a:gd name="connsiteX3-133" fmla="*/ 3167062 w 3260035"/>
                <a:gd name="connsiteY3-134" fmla="*/ 515159 h 803190"/>
                <a:gd name="connsiteX4-135" fmla="*/ 3224212 w 3260035"/>
                <a:gd name="connsiteY4-136" fmla="*/ 286559 h 803190"/>
                <a:gd name="connsiteX5-137" fmla="*/ 2862262 w 3260035"/>
                <a:gd name="connsiteY5-138" fmla="*/ 809 h 803190"/>
                <a:gd name="connsiteX6-139" fmla="*/ 881062 w 3260035"/>
                <a:gd name="connsiteY6-140" fmla="*/ 210359 h 803190"/>
                <a:gd name="connsiteX7-141" fmla="*/ 328612 w 3260035"/>
                <a:gd name="connsiteY7-142" fmla="*/ 496109 h 803190"/>
                <a:gd name="connsiteX8-143" fmla="*/ 576262 w 3260035"/>
                <a:gd name="connsiteY8-144" fmla="*/ 751026 h 8031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260035" h="803190">
                  <a:moveTo>
                    <a:pt x="0" y="688338"/>
                  </a:moveTo>
                  <a:cubicBezTo>
                    <a:pt x="179387" y="813294"/>
                    <a:pt x="575468" y="791672"/>
                    <a:pt x="995362" y="800909"/>
                  </a:cubicBezTo>
                  <a:cubicBezTo>
                    <a:pt x="1415256" y="810146"/>
                    <a:pt x="2157412" y="791384"/>
                    <a:pt x="2519362" y="743759"/>
                  </a:cubicBezTo>
                  <a:cubicBezTo>
                    <a:pt x="2881312" y="696134"/>
                    <a:pt x="3049587" y="591359"/>
                    <a:pt x="3167062" y="515159"/>
                  </a:cubicBezTo>
                  <a:cubicBezTo>
                    <a:pt x="3284537" y="438959"/>
                    <a:pt x="3275012" y="372284"/>
                    <a:pt x="3224212" y="286559"/>
                  </a:cubicBezTo>
                  <a:cubicBezTo>
                    <a:pt x="3173412" y="200834"/>
                    <a:pt x="3252787" y="13509"/>
                    <a:pt x="2862262" y="809"/>
                  </a:cubicBezTo>
                  <a:cubicBezTo>
                    <a:pt x="2471737" y="-11891"/>
                    <a:pt x="1303337" y="127809"/>
                    <a:pt x="881062" y="210359"/>
                  </a:cubicBezTo>
                  <a:cubicBezTo>
                    <a:pt x="458787" y="292909"/>
                    <a:pt x="398462" y="321207"/>
                    <a:pt x="328612" y="496109"/>
                  </a:cubicBezTo>
                  <a:cubicBezTo>
                    <a:pt x="258762" y="671011"/>
                    <a:pt x="528637" y="703401"/>
                    <a:pt x="576262" y="751026"/>
                  </a:cubicBezTo>
                </a:path>
              </a:pathLst>
            </a:custGeom>
            <a:solidFill>
              <a:srgbClr val="92D050"/>
            </a:solidFill>
            <a:ln w="28575" cap="flat" cmpd="sng" algn="ctr">
              <a:solidFill>
                <a:schemeClr val="accent1"/>
              </a:solidFill>
              <a:prstDash val="solid"/>
              <a:miter lim="800000"/>
            </a:ln>
            <a:effectLst/>
          </p:spPr>
          <p:txBody>
            <a:bodyPr wrap="square" tIns="108000" anchor="ctr">
              <a:normAutofit/>
              <a:scene3d>
                <a:camera prst="orthographicFront">
                  <a:rot lat="0" lon="0" rev="180000"/>
                </a:camera>
                <a:lightRig rig="threePt" dir="t"/>
              </a:scene3d>
            </a:bodyPr>
            <a:lstStyle/>
            <a:p>
              <a:pPr algn="ctr"/>
              <a:r>
                <a:rPr sz="2400" b="1" dirty="0">
                  <a:solidFill>
                    <a:schemeClr val="bg1"/>
                  </a:solidFill>
                  <a:latin typeface="微软雅黑" panose="020B0503020204020204" pitchFamily="34" charset="-122"/>
                  <a:sym typeface="+mn-ea"/>
                </a:rPr>
                <a:t>必须做到“先通风、再检测、后作业”，</a:t>
              </a:r>
              <a:endParaRPr sz="2400" b="1" dirty="0">
                <a:solidFill>
                  <a:schemeClr val="bg1"/>
                </a:solidFill>
                <a:latin typeface="微软雅黑" panose="020B0503020204020204" pitchFamily="34" charset="-122"/>
                <a:sym typeface="+mn-ea"/>
              </a:endParaRPr>
            </a:p>
            <a:p>
              <a:pPr algn="ctr"/>
              <a:r>
                <a:rPr sz="2400" b="1" dirty="0">
                  <a:solidFill>
                    <a:schemeClr val="bg1"/>
                  </a:solidFill>
                  <a:latin typeface="微软雅黑" panose="020B0503020204020204" pitchFamily="34" charset="-122"/>
                  <a:sym typeface="+mn-ea"/>
                </a:rPr>
                <a:t>严禁通风、检测不合格作业。</a:t>
              </a:r>
              <a:endParaRPr sz="2400" b="1" dirty="0">
                <a:solidFill>
                  <a:schemeClr val="bg1"/>
                </a:solidFill>
                <a:latin typeface="微软雅黑" panose="020B0503020204020204" pitchFamily="34" charset="-122"/>
                <a:sym typeface="+mn-ea"/>
              </a:endParaRPr>
            </a:p>
          </p:txBody>
        </p:sp>
        <p:sp>
          <p:nvSpPr>
            <p:cNvPr id="6" name="MH_Other_2"/>
            <p:cNvSpPr txBox="1">
              <a:spLocks noChangeArrowheads="1"/>
            </p:cNvSpPr>
            <p:nvPr>
              <p:custDataLst>
                <p:tags r:id="rId4"/>
              </p:custDataLst>
            </p:nvPr>
          </p:nvSpPr>
          <p:spPr bwMode="auto">
            <a:xfrm>
              <a:off x="701" y="6711"/>
              <a:ext cx="15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a:solidFill>
                    <a:schemeClr val="accent1"/>
                  </a:solidFill>
                  <a:latin typeface="Brush Script Std" panose="03060802040607070404" pitchFamily="66" charset="0"/>
                  <a:ea typeface="微软雅黑" panose="020B0503020204020204" pitchFamily="34" charset="-122"/>
                </a:rPr>
                <a:t>2</a:t>
              </a:r>
              <a:endParaRPr lang="en-US" altLang="zh-CN" sz="3200" b="1">
                <a:solidFill>
                  <a:schemeClr val="accent1"/>
                </a:solidFill>
                <a:latin typeface="Brush Script Std" panose="03060802040607070404" pitchFamily="66" charset="0"/>
                <a:ea typeface="微软雅黑" panose="020B0503020204020204" pitchFamily="34" charset="-122"/>
              </a:endParaRPr>
            </a:p>
          </p:txBody>
        </p:sp>
        <p:sp>
          <p:nvSpPr>
            <p:cNvPr id="36" name="MH_SubTitle_3"/>
            <p:cNvSpPr/>
            <p:nvPr>
              <p:custDataLst>
                <p:tags r:id="rId5"/>
              </p:custDataLst>
            </p:nvPr>
          </p:nvSpPr>
          <p:spPr>
            <a:xfrm>
              <a:off x="701" y="7586"/>
              <a:ext cx="13198" cy="1143"/>
            </a:xfrm>
            <a:custGeom>
              <a:avLst/>
              <a:gdLst>
                <a:gd name="connsiteX0" fmla="*/ 0 w 2969523"/>
                <a:gd name="connsiteY0" fmla="*/ 743759 h 800909"/>
                <a:gd name="connsiteX1" fmla="*/ 704850 w 2969523"/>
                <a:gd name="connsiteY1" fmla="*/ 800909 h 800909"/>
                <a:gd name="connsiteX2" fmla="*/ 2228850 w 2969523"/>
                <a:gd name="connsiteY2" fmla="*/ 743759 h 800909"/>
                <a:gd name="connsiteX3" fmla="*/ 2876550 w 2969523"/>
                <a:gd name="connsiteY3" fmla="*/ 515159 h 800909"/>
                <a:gd name="connsiteX4" fmla="*/ 2933700 w 2969523"/>
                <a:gd name="connsiteY4" fmla="*/ 286559 h 800909"/>
                <a:gd name="connsiteX5" fmla="*/ 2571750 w 2969523"/>
                <a:gd name="connsiteY5" fmla="*/ 809 h 800909"/>
                <a:gd name="connsiteX6" fmla="*/ 590550 w 2969523"/>
                <a:gd name="connsiteY6" fmla="*/ 210359 h 800909"/>
                <a:gd name="connsiteX7" fmla="*/ 38100 w 2969523"/>
                <a:gd name="connsiteY7" fmla="*/ 496109 h 800909"/>
                <a:gd name="connsiteX8" fmla="*/ 114300 w 2969523"/>
                <a:gd name="connsiteY8" fmla="*/ 781859 h 800909"/>
                <a:gd name="connsiteX0-1" fmla="*/ 0 w 3033023"/>
                <a:gd name="connsiteY0-2" fmla="*/ 743759 h 800909"/>
                <a:gd name="connsiteX1-3" fmla="*/ 768350 w 3033023"/>
                <a:gd name="connsiteY1-4" fmla="*/ 800909 h 800909"/>
                <a:gd name="connsiteX2-5" fmla="*/ 2292350 w 3033023"/>
                <a:gd name="connsiteY2-6" fmla="*/ 743759 h 800909"/>
                <a:gd name="connsiteX3-7" fmla="*/ 2940050 w 3033023"/>
                <a:gd name="connsiteY3-8" fmla="*/ 515159 h 800909"/>
                <a:gd name="connsiteX4-9" fmla="*/ 2997200 w 3033023"/>
                <a:gd name="connsiteY4-10" fmla="*/ 286559 h 800909"/>
                <a:gd name="connsiteX5-11" fmla="*/ 2635250 w 3033023"/>
                <a:gd name="connsiteY5-12" fmla="*/ 809 h 800909"/>
                <a:gd name="connsiteX6-13" fmla="*/ 654050 w 3033023"/>
                <a:gd name="connsiteY6-14" fmla="*/ 210359 h 800909"/>
                <a:gd name="connsiteX7-15" fmla="*/ 101600 w 3033023"/>
                <a:gd name="connsiteY7-16" fmla="*/ 496109 h 800909"/>
                <a:gd name="connsiteX8-17" fmla="*/ 177800 w 3033023"/>
                <a:gd name="connsiteY8-18" fmla="*/ 781859 h 800909"/>
                <a:gd name="connsiteX0-19" fmla="*/ 0 w 3033023"/>
                <a:gd name="connsiteY0-20" fmla="*/ 743759 h 800909"/>
                <a:gd name="connsiteX1-21" fmla="*/ 768350 w 3033023"/>
                <a:gd name="connsiteY1-22" fmla="*/ 800909 h 800909"/>
                <a:gd name="connsiteX2-23" fmla="*/ 2292350 w 3033023"/>
                <a:gd name="connsiteY2-24" fmla="*/ 743759 h 800909"/>
                <a:gd name="connsiteX3-25" fmla="*/ 2940050 w 3033023"/>
                <a:gd name="connsiteY3-26" fmla="*/ 515159 h 800909"/>
                <a:gd name="connsiteX4-27" fmla="*/ 2997200 w 3033023"/>
                <a:gd name="connsiteY4-28" fmla="*/ 286559 h 800909"/>
                <a:gd name="connsiteX5-29" fmla="*/ 2635250 w 3033023"/>
                <a:gd name="connsiteY5-30" fmla="*/ 809 h 800909"/>
                <a:gd name="connsiteX6-31" fmla="*/ 654050 w 3033023"/>
                <a:gd name="connsiteY6-32" fmla="*/ 210359 h 800909"/>
                <a:gd name="connsiteX7-33" fmla="*/ 101600 w 3033023"/>
                <a:gd name="connsiteY7-34" fmla="*/ 496109 h 800909"/>
                <a:gd name="connsiteX8-35" fmla="*/ 254000 w 3033023"/>
                <a:gd name="connsiteY8-36" fmla="*/ 704777 h 800909"/>
                <a:gd name="connsiteX0-37" fmla="*/ 0 w 3033023"/>
                <a:gd name="connsiteY0-38" fmla="*/ 743759 h 800909"/>
                <a:gd name="connsiteX1-39" fmla="*/ 768350 w 3033023"/>
                <a:gd name="connsiteY1-40" fmla="*/ 800909 h 800909"/>
                <a:gd name="connsiteX2-41" fmla="*/ 2292350 w 3033023"/>
                <a:gd name="connsiteY2-42" fmla="*/ 743759 h 800909"/>
                <a:gd name="connsiteX3-43" fmla="*/ 2940050 w 3033023"/>
                <a:gd name="connsiteY3-44" fmla="*/ 515159 h 800909"/>
                <a:gd name="connsiteX4-45" fmla="*/ 2997200 w 3033023"/>
                <a:gd name="connsiteY4-46" fmla="*/ 286559 h 800909"/>
                <a:gd name="connsiteX5-47" fmla="*/ 2635250 w 3033023"/>
                <a:gd name="connsiteY5-48" fmla="*/ 809 h 800909"/>
                <a:gd name="connsiteX6-49" fmla="*/ 654050 w 3033023"/>
                <a:gd name="connsiteY6-50" fmla="*/ 210359 h 800909"/>
                <a:gd name="connsiteX7-51" fmla="*/ 101600 w 3033023"/>
                <a:gd name="connsiteY7-52" fmla="*/ 496109 h 800909"/>
                <a:gd name="connsiteX8-53" fmla="*/ 349250 w 3033023"/>
                <a:gd name="connsiteY8-54" fmla="*/ 751026 h 800909"/>
                <a:gd name="connsiteX0-55" fmla="*/ 0 w 3033023"/>
                <a:gd name="connsiteY0-56" fmla="*/ 743759 h 800909"/>
                <a:gd name="connsiteX1-57" fmla="*/ 768350 w 3033023"/>
                <a:gd name="connsiteY1-58" fmla="*/ 800909 h 800909"/>
                <a:gd name="connsiteX2-59" fmla="*/ 2292350 w 3033023"/>
                <a:gd name="connsiteY2-60" fmla="*/ 743759 h 800909"/>
                <a:gd name="connsiteX3-61" fmla="*/ 2940050 w 3033023"/>
                <a:gd name="connsiteY3-62" fmla="*/ 515159 h 800909"/>
                <a:gd name="connsiteX4-63" fmla="*/ 2997200 w 3033023"/>
                <a:gd name="connsiteY4-64" fmla="*/ 286559 h 800909"/>
                <a:gd name="connsiteX5-65" fmla="*/ 2635250 w 3033023"/>
                <a:gd name="connsiteY5-66" fmla="*/ 809 h 800909"/>
                <a:gd name="connsiteX6-67" fmla="*/ 654050 w 3033023"/>
                <a:gd name="connsiteY6-68" fmla="*/ 210359 h 800909"/>
                <a:gd name="connsiteX7-69" fmla="*/ 101600 w 3033023"/>
                <a:gd name="connsiteY7-70" fmla="*/ 496109 h 800909"/>
                <a:gd name="connsiteX8-71" fmla="*/ 349250 w 3033023"/>
                <a:gd name="connsiteY8-72" fmla="*/ 751026 h 800909"/>
                <a:gd name="connsiteX0-73" fmla="*/ 0 w 3033023"/>
                <a:gd name="connsiteY0-74" fmla="*/ 743759 h 800909"/>
                <a:gd name="connsiteX1-75" fmla="*/ 768350 w 3033023"/>
                <a:gd name="connsiteY1-76" fmla="*/ 800909 h 800909"/>
                <a:gd name="connsiteX2-77" fmla="*/ 2292350 w 3033023"/>
                <a:gd name="connsiteY2-78" fmla="*/ 743759 h 800909"/>
                <a:gd name="connsiteX3-79" fmla="*/ 2940050 w 3033023"/>
                <a:gd name="connsiteY3-80" fmla="*/ 515159 h 800909"/>
                <a:gd name="connsiteX4-81" fmla="*/ 2997200 w 3033023"/>
                <a:gd name="connsiteY4-82" fmla="*/ 286559 h 800909"/>
                <a:gd name="connsiteX5-83" fmla="*/ 2635250 w 3033023"/>
                <a:gd name="connsiteY5-84" fmla="*/ 809 h 800909"/>
                <a:gd name="connsiteX6-85" fmla="*/ 654050 w 3033023"/>
                <a:gd name="connsiteY6-86" fmla="*/ 210359 h 800909"/>
                <a:gd name="connsiteX7-87" fmla="*/ 101600 w 3033023"/>
                <a:gd name="connsiteY7-88" fmla="*/ 496109 h 800909"/>
                <a:gd name="connsiteX8-89" fmla="*/ 349250 w 3033023"/>
                <a:gd name="connsiteY8-90" fmla="*/ 751026 h 800909"/>
                <a:gd name="connsiteX0-91" fmla="*/ 0 w 3247335"/>
                <a:gd name="connsiteY0-92" fmla="*/ 736529 h 800997"/>
                <a:gd name="connsiteX1-93" fmla="*/ 982662 w 3247335"/>
                <a:gd name="connsiteY1-94" fmla="*/ 800909 h 800997"/>
                <a:gd name="connsiteX2-95" fmla="*/ 2506662 w 3247335"/>
                <a:gd name="connsiteY2-96" fmla="*/ 743759 h 800997"/>
                <a:gd name="connsiteX3-97" fmla="*/ 3154362 w 3247335"/>
                <a:gd name="connsiteY3-98" fmla="*/ 515159 h 800997"/>
                <a:gd name="connsiteX4-99" fmla="*/ 3211512 w 3247335"/>
                <a:gd name="connsiteY4-100" fmla="*/ 286559 h 800997"/>
                <a:gd name="connsiteX5-101" fmla="*/ 2849562 w 3247335"/>
                <a:gd name="connsiteY5-102" fmla="*/ 809 h 800997"/>
                <a:gd name="connsiteX6-103" fmla="*/ 868362 w 3247335"/>
                <a:gd name="connsiteY6-104" fmla="*/ 210359 h 800997"/>
                <a:gd name="connsiteX7-105" fmla="*/ 315912 w 3247335"/>
                <a:gd name="connsiteY7-106" fmla="*/ 496109 h 800997"/>
                <a:gd name="connsiteX8-107" fmla="*/ 563562 w 3247335"/>
                <a:gd name="connsiteY8-108" fmla="*/ 751026 h 800997"/>
                <a:gd name="connsiteX0-109" fmla="*/ 0 w 3247335"/>
                <a:gd name="connsiteY0-110" fmla="*/ 736529 h 815129"/>
                <a:gd name="connsiteX1-111" fmla="*/ 982662 w 3247335"/>
                <a:gd name="connsiteY1-112" fmla="*/ 800909 h 815129"/>
                <a:gd name="connsiteX2-113" fmla="*/ 2506662 w 3247335"/>
                <a:gd name="connsiteY2-114" fmla="*/ 743759 h 815129"/>
                <a:gd name="connsiteX3-115" fmla="*/ 3154362 w 3247335"/>
                <a:gd name="connsiteY3-116" fmla="*/ 515159 h 815129"/>
                <a:gd name="connsiteX4-117" fmla="*/ 3211512 w 3247335"/>
                <a:gd name="connsiteY4-118" fmla="*/ 286559 h 815129"/>
                <a:gd name="connsiteX5-119" fmla="*/ 2849562 w 3247335"/>
                <a:gd name="connsiteY5-120" fmla="*/ 809 h 815129"/>
                <a:gd name="connsiteX6-121" fmla="*/ 868362 w 3247335"/>
                <a:gd name="connsiteY6-122" fmla="*/ 210359 h 815129"/>
                <a:gd name="connsiteX7-123" fmla="*/ 315912 w 3247335"/>
                <a:gd name="connsiteY7-124" fmla="*/ 496109 h 815129"/>
                <a:gd name="connsiteX8-125" fmla="*/ 563562 w 3247335"/>
                <a:gd name="connsiteY8-126" fmla="*/ 751026 h 815129"/>
                <a:gd name="connsiteX0-127" fmla="*/ 0 w 3260035"/>
                <a:gd name="connsiteY0-128" fmla="*/ 688338 h 803190"/>
                <a:gd name="connsiteX1-129" fmla="*/ 995362 w 3260035"/>
                <a:gd name="connsiteY1-130" fmla="*/ 800909 h 803190"/>
                <a:gd name="connsiteX2-131" fmla="*/ 2519362 w 3260035"/>
                <a:gd name="connsiteY2-132" fmla="*/ 743759 h 803190"/>
                <a:gd name="connsiteX3-133" fmla="*/ 3167062 w 3260035"/>
                <a:gd name="connsiteY3-134" fmla="*/ 515159 h 803190"/>
                <a:gd name="connsiteX4-135" fmla="*/ 3224212 w 3260035"/>
                <a:gd name="connsiteY4-136" fmla="*/ 286559 h 803190"/>
                <a:gd name="connsiteX5-137" fmla="*/ 2862262 w 3260035"/>
                <a:gd name="connsiteY5-138" fmla="*/ 809 h 803190"/>
                <a:gd name="connsiteX6-139" fmla="*/ 881062 w 3260035"/>
                <a:gd name="connsiteY6-140" fmla="*/ 210359 h 803190"/>
                <a:gd name="connsiteX7-141" fmla="*/ 328612 w 3260035"/>
                <a:gd name="connsiteY7-142" fmla="*/ 496109 h 803190"/>
                <a:gd name="connsiteX8-143" fmla="*/ 576262 w 3260035"/>
                <a:gd name="connsiteY8-144" fmla="*/ 751026 h 8031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260035" h="803190">
                  <a:moveTo>
                    <a:pt x="0" y="688338"/>
                  </a:moveTo>
                  <a:cubicBezTo>
                    <a:pt x="179387" y="813294"/>
                    <a:pt x="575468" y="791672"/>
                    <a:pt x="995362" y="800909"/>
                  </a:cubicBezTo>
                  <a:cubicBezTo>
                    <a:pt x="1415256" y="810146"/>
                    <a:pt x="2157412" y="791384"/>
                    <a:pt x="2519362" y="743759"/>
                  </a:cubicBezTo>
                  <a:cubicBezTo>
                    <a:pt x="2881312" y="696134"/>
                    <a:pt x="3049587" y="591359"/>
                    <a:pt x="3167062" y="515159"/>
                  </a:cubicBezTo>
                  <a:cubicBezTo>
                    <a:pt x="3284537" y="438959"/>
                    <a:pt x="3275012" y="372284"/>
                    <a:pt x="3224212" y="286559"/>
                  </a:cubicBezTo>
                  <a:cubicBezTo>
                    <a:pt x="3173412" y="200834"/>
                    <a:pt x="3252787" y="13509"/>
                    <a:pt x="2862262" y="809"/>
                  </a:cubicBezTo>
                  <a:cubicBezTo>
                    <a:pt x="2471737" y="-11891"/>
                    <a:pt x="1303337" y="127809"/>
                    <a:pt x="881062" y="210359"/>
                  </a:cubicBezTo>
                  <a:cubicBezTo>
                    <a:pt x="458787" y="292909"/>
                    <a:pt x="398462" y="321207"/>
                    <a:pt x="328612" y="496109"/>
                  </a:cubicBezTo>
                  <a:cubicBezTo>
                    <a:pt x="258762" y="671011"/>
                    <a:pt x="528637" y="703401"/>
                    <a:pt x="576262" y="751026"/>
                  </a:cubicBezTo>
                </a:path>
              </a:pathLst>
            </a:custGeom>
            <a:solidFill>
              <a:srgbClr val="92D050"/>
            </a:solidFill>
            <a:ln w="28575" cap="flat" cmpd="sng" algn="ctr">
              <a:solidFill>
                <a:schemeClr val="accent1"/>
              </a:solidFill>
              <a:prstDash val="solid"/>
              <a:miter lim="800000"/>
            </a:ln>
            <a:effectLst/>
          </p:spPr>
          <p:txBody>
            <a:bodyPr wrap="square" tIns="108000" anchor="ctr">
              <a:normAutofit/>
              <a:scene3d>
                <a:camera prst="orthographicFront">
                  <a:rot lat="0" lon="0" rev="180000"/>
                </a:camera>
                <a:lightRig rig="threePt" dir="t"/>
              </a:scene3d>
            </a:bodyPr>
            <a:lstStyle/>
            <a:p>
              <a:pPr algn="ctr"/>
              <a:r>
                <a:rPr lang="en-US" sz="2400" b="1" dirty="0">
                  <a:solidFill>
                    <a:schemeClr val="bg1"/>
                  </a:solidFill>
                  <a:latin typeface="微软雅黑" panose="020B0503020204020204" pitchFamily="34" charset="-122"/>
                  <a:sym typeface="+mn-ea"/>
                </a:rPr>
                <a:t>                </a:t>
              </a:r>
              <a:r>
                <a:rPr sz="2400" b="1" dirty="0">
                  <a:solidFill>
                    <a:schemeClr val="bg1"/>
                  </a:solidFill>
                  <a:latin typeface="微软雅黑" panose="020B0503020204020204" pitchFamily="34" charset="-122"/>
                  <a:sym typeface="+mn-ea"/>
                </a:rPr>
                <a:t>必须配备个人防中毒窒息等防护装备，设置安全警示标识，</a:t>
              </a:r>
              <a:endParaRPr sz="2400" b="1" dirty="0">
                <a:solidFill>
                  <a:schemeClr val="bg1"/>
                </a:solidFill>
                <a:latin typeface="微软雅黑" panose="020B0503020204020204" pitchFamily="34" charset="-122"/>
                <a:sym typeface="+mn-ea"/>
              </a:endParaRPr>
            </a:p>
            <a:p>
              <a:pPr algn="ctr"/>
              <a:r>
                <a:rPr sz="2400" b="1" dirty="0">
                  <a:solidFill>
                    <a:schemeClr val="bg1"/>
                  </a:solidFill>
                  <a:latin typeface="微软雅黑" panose="020B0503020204020204" pitchFamily="34" charset="-122"/>
                  <a:sym typeface="+mn-ea"/>
                </a:rPr>
                <a:t>严禁无防护监护措施作业。</a:t>
              </a:r>
              <a:endParaRPr sz="2400" b="1" dirty="0">
                <a:solidFill>
                  <a:schemeClr val="bg1"/>
                </a:solidFill>
                <a:latin typeface="微软雅黑" panose="020B0503020204020204" pitchFamily="34" charset="-122"/>
                <a:sym typeface="+mn-ea"/>
              </a:endParaRPr>
            </a:p>
          </p:txBody>
        </p:sp>
        <p:sp>
          <p:nvSpPr>
            <p:cNvPr id="37" name="MH_Other_3"/>
            <p:cNvSpPr txBox="1">
              <a:spLocks noChangeArrowheads="1"/>
            </p:cNvSpPr>
            <p:nvPr>
              <p:custDataLst>
                <p:tags r:id="rId6"/>
              </p:custDataLst>
            </p:nvPr>
          </p:nvSpPr>
          <p:spPr bwMode="auto">
            <a:xfrm>
              <a:off x="603" y="7938"/>
              <a:ext cx="15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a:solidFill>
                    <a:schemeClr val="accent1"/>
                  </a:solidFill>
                  <a:latin typeface="Brush Script Std" panose="03060802040607070404" pitchFamily="66" charset="0"/>
                  <a:ea typeface="微软雅黑" panose="020B0503020204020204" pitchFamily="34" charset="-122"/>
                </a:rPr>
                <a:t>3</a:t>
              </a:r>
              <a:endParaRPr lang="en-US" altLang="zh-CN" sz="3200" b="1">
                <a:solidFill>
                  <a:schemeClr val="accent1"/>
                </a:solidFill>
                <a:latin typeface="Brush Script Std" panose="03060802040607070404" pitchFamily="66" charset="0"/>
                <a:ea typeface="微软雅黑" panose="020B0503020204020204" pitchFamily="34" charset="-122"/>
              </a:endParaRPr>
            </a:p>
          </p:txBody>
        </p:sp>
        <p:sp>
          <p:nvSpPr>
            <p:cNvPr id="38" name="MH_SubTitle_4"/>
            <p:cNvSpPr/>
            <p:nvPr>
              <p:custDataLst>
                <p:tags r:id="rId7"/>
              </p:custDataLst>
            </p:nvPr>
          </p:nvSpPr>
          <p:spPr>
            <a:xfrm>
              <a:off x="465" y="9578"/>
              <a:ext cx="13703" cy="833"/>
            </a:xfrm>
            <a:custGeom>
              <a:avLst/>
              <a:gdLst>
                <a:gd name="connsiteX0" fmla="*/ 0 w 2969523"/>
                <a:gd name="connsiteY0" fmla="*/ 743759 h 800909"/>
                <a:gd name="connsiteX1" fmla="*/ 704850 w 2969523"/>
                <a:gd name="connsiteY1" fmla="*/ 800909 h 800909"/>
                <a:gd name="connsiteX2" fmla="*/ 2228850 w 2969523"/>
                <a:gd name="connsiteY2" fmla="*/ 743759 h 800909"/>
                <a:gd name="connsiteX3" fmla="*/ 2876550 w 2969523"/>
                <a:gd name="connsiteY3" fmla="*/ 515159 h 800909"/>
                <a:gd name="connsiteX4" fmla="*/ 2933700 w 2969523"/>
                <a:gd name="connsiteY4" fmla="*/ 286559 h 800909"/>
                <a:gd name="connsiteX5" fmla="*/ 2571750 w 2969523"/>
                <a:gd name="connsiteY5" fmla="*/ 809 h 800909"/>
                <a:gd name="connsiteX6" fmla="*/ 590550 w 2969523"/>
                <a:gd name="connsiteY6" fmla="*/ 210359 h 800909"/>
                <a:gd name="connsiteX7" fmla="*/ 38100 w 2969523"/>
                <a:gd name="connsiteY7" fmla="*/ 496109 h 800909"/>
                <a:gd name="connsiteX8" fmla="*/ 114300 w 2969523"/>
                <a:gd name="connsiteY8" fmla="*/ 781859 h 800909"/>
                <a:gd name="connsiteX0-1" fmla="*/ 0 w 3033023"/>
                <a:gd name="connsiteY0-2" fmla="*/ 743759 h 800909"/>
                <a:gd name="connsiteX1-3" fmla="*/ 768350 w 3033023"/>
                <a:gd name="connsiteY1-4" fmla="*/ 800909 h 800909"/>
                <a:gd name="connsiteX2-5" fmla="*/ 2292350 w 3033023"/>
                <a:gd name="connsiteY2-6" fmla="*/ 743759 h 800909"/>
                <a:gd name="connsiteX3-7" fmla="*/ 2940050 w 3033023"/>
                <a:gd name="connsiteY3-8" fmla="*/ 515159 h 800909"/>
                <a:gd name="connsiteX4-9" fmla="*/ 2997200 w 3033023"/>
                <a:gd name="connsiteY4-10" fmla="*/ 286559 h 800909"/>
                <a:gd name="connsiteX5-11" fmla="*/ 2635250 w 3033023"/>
                <a:gd name="connsiteY5-12" fmla="*/ 809 h 800909"/>
                <a:gd name="connsiteX6-13" fmla="*/ 654050 w 3033023"/>
                <a:gd name="connsiteY6-14" fmla="*/ 210359 h 800909"/>
                <a:gd name="connsiteX7-15" fmla="*/ 101600 w 3033023"/>
                <a:gd name="connsiteY7-16" fmla="*/ 496109 h 800909"/>
                <a:gd name="connsiteX8-17" fmla="*/ 177800 w 3033023"/>
                <a:gd name="connsiteY8-18" fmla="*/ 781859 h 800909"/>
                <a:gd name="connsiteX0-19" fmla="*/ 0 w 3033023"/>
                <a:gd name="connsiteY0-20" fmla="*/ 743759 h 800909"/>
                <a:gd name="connsiteX1-21" fmla="*/ 768350 w 3033023"/>
                <a:gd name="connsiteY1-22" fmla="*/ 800909 h 800909"/>
                <a:gd name="connsiteX2-23" fmla="*/ 2292350 w 3033023"/>
                <a:gd name="connsiteY2-24" fmla="*/ 743759 h 800909"/>
                <a:gd name="connsiteX3-25" fmla="*/ 2940050 w 3033023"/>
                <a:gd name="connsiteY3-26" fmla="*/ 515159 h 800909"/>
                <a:gd name="connsiteX4-27" fmla="*/ 2997200 w 3033023"/>
                <a:gd name="connsiteY4-28" fmla="*/ 286559 h 800909"/>
                <a:gd name="connsiteX5-29" fmla="*/ 2635250 w 3033023"/>
                <a:gd name="connsiteY5-30" fmla="*/ 809 h 800909"/>
                <a:gd name="connsiteX6-31" fmla="*/ 654050 w 3033023"/>
                <a:gd name="connsiteY6-32" fmla="*/ 210359 h 800909"/>
                <a:gd name="connsiteX7-33" fmla="*/ 101600 w 3033023"/>
                <a:gd name="connsiteY7-34" fmla="*/ 496109 h 800909"/>
                <a:gd name="connsiteX8-35" fmla="*/ 254000 w 3033023"/>
                <a:gd name="connsiteY8-36" fmla="*/ 704777 h 800909"/>
                <a:gd name="connsiteX0-37" fmla="*/ 0 w 3033023"/>
                <a:gd name="connsiteY0-38" fmla="*/ 743759 h 800909"/>
                <a:gd name="connsiteX1-39" fmla="*/ 768350 w 3033023"/>
                <a:gd name="connsiteY1-40" fmla="*/ 800909 h 800909"/>
                <a:gd name="connsiteX2-41" fmla="*/ 2292350 w 3033023"/>
                <a:gd name="connsiteY2-42" fmla="*/ 743759 h 800909"/>
                <a:gd name="connsiteX3-43" fmla="*/ 2940050 w 3033023"/>
                <a:gd name="connsiteY3-44" fmla="*/ 515159 h 800909"/>
                <a:gd name="connsiteX4-45" fmla="*/ 2997200 w 3033023"/>
                <a:gd name="connsiteY4-46" fmla="*/ 286559 h 800909"/>
                <a:gd name="connsiteX5-47" fmla="*/ 2635250 w 3033023"/>
                <a:gd name="connsiteY5-48" fmla="*/ 809 h 800909"/>
                <a:gd name="connsiteX6-49" fmla="*/ 654050 w 3033023"/>
                <a:gd name="connsiteY6-50" fmla="*/ 210359 h 800909"/>
                <a:gd name="connsiteX7-51" fmla="*/ 101600 w 3033023"/>
                <a:gd name="connsiteY7-52" fmla="*/ 496109 h 800909"/>
                <a:gd name="connsiteX8-53" fmla="*/ 349250 w 3033023"/>
                <a:gd name="connsiteY8-54" fmla="*/ 751026 h 800909"/>
                <a:gd name="connsiteX0-55" fmla="*/ 0 w 3033023"/>
                <a:gd name="connsiteY0-56" fmla="*/ 743759 h 800909"/>
                <a:gd name="connsiteX1-57" fmla="*/ 768350 w 3033023"/>
                <a:gd name="connsiteY1-58" fmla="*/ 800909 h 800909"/>
                <a:gd name="connsiteX2-59" fmla="*/ 2292350 w 3033023"/>
                <a:gd name="connsiteY2-60" fmla="*/ 743759 h 800909"/>
                <a:gd name="connsiteX3-61" fmla="*/ 2940050 w 3033023"/>
                <a:gd name="connsiteY3-62" fmla="*/ 515159 h 800909"/>
                <a:gd name="connsiteX4-63" fmla="*/ 2997200 w 3033023"/>
                <a:gd name="connsiteY4-64" fmla="*/ 286559 h 800909"/>
                <a:gd name="connsiteX5-65" fmla="*/ 2635250 w 3033023"/>
                <a:gd name="connsiteY5-66" fmla="*/ 809 h 800909"/>
                <a:gd name="connsiteX6-67" fmla="*/ 654050 w 3033023"/>
                <a:gd name="connsiteY6-68" fmla="*/ 210359 h 800909"/>
                <a:gd name="connsiteX7-69" fmla="*/ 101600 w 3033023"/>
                <a:gd name="connsiteY7-70" fmla="*/ 496109 h 800909"/>
                <a:gd name="connsiteX8-71" fmla="*/ 349250 w 3033023"/>
                <a:gd name="connsiteY8-72" fmla="*/ 751026 h 800909"/>
                <a:gd name="connsiteX0-73" fmla="*/ 0 w 3033023"/>
                <a:gd name="connsiteY0-74" fmla="*/ 743759 h 800909"/>
                <a:gd name="connsiteX1-75" fmla="*/ 768350 w 3033023"/>
                <a:gd name="connsiteY1-76" fmla="*/ 800909 h 800909"/>
                <a:gd name="connsiteX2-77" fmla="*/ 2292350 w 3033023"/>
                <a:gd name="connsiteY2-78" fmla="*/ 743759 h 800909"/>
                <a:gd name="connsiteX3-79" fmla="*/ 2940050 w 3033023"/>
                <a:gd name="connsiteY3-80" fmla="*/ 515159 h 800909"/>
                <a:gd name="connsiteX4-81" fmla="*/ 2997200 w 3033023"/>
                <a:gd name="connsiteY4-82" fmla="*/ 286559 h 800909"/>
                <a:gd name="connsiteX5-83" fmla="*/ 2635250 w 3033023"/>
                <a:gd name="connsiteY5-84" fmla="*/ 809 h 800909"/>
                <a:gd name="connsiteX6-85" fmla="*/ 654050 w 3033023"/>
                <a:gd name="connsiteY6-86" fmla="*/ 210359 h 800909"/>
                <a:gd name="connsiteX7-87" fmla="*/ 101600 w 3033023"/>
                <a:gd name="connsiteY7-88" fmla="*/ 496109 h 800909"/>
                <a:gd name="connsiteX8-89" fmla="*/ 349250 w 3033023"/>
                <a:gd name="connsiteY8-90" fmla="*/ 751026 h 800909"/>
                <a:gd name="connsiteX0-91" fmla="*/ 0 w 3247335"/>
                <a:gd name="connsiteY0-92" fmla="*/ 736529 h 800997"/>
                <a:gd name="connsiteX1-93" fmla="*/ 982662 w 3247335"/>
                <a:gd name="connsiteY1-94" fmla="*/ 800909 h 800997"/>
                <a:gd name="connsiteX2-95" fmla="*/ 2506662 w 3247335"/>
                <a:gd name="connsiteY2-96" fmla="*/ 743759 h 800997"/>
                <a:gd name="connsiteX3-97" fmla="*/ 3154362 w 3247335"/>
                <a:gd name="connsiteY3-98" fmla="*/ 515159 h 800997"/>
                <a:gd name="connsiteX4-99" fmla="*/ 3211512 w 3247335"/>
                <a:gd name="connsiteY4-100" fmla="*/ 286559 h 800997"/>
                <a:gd name="connsiteX5-101" fmla="*/ 2849562 w 3247335"/>
                <a:gd name="connsiteY5-102" fmla="*/ 809 h 800997"/>
                <a:gd name="connsiteX6-103" fmla="*/ 868362 w 3247335"/>
                <a:gd name="connsiteY6-104" fmla="*/ 210359 h 800997"/>
                <a:gd name="connsiteX7-105" fmla="*/ 315912 w 3247335"/>
                <a:gd name="connsiteY7-106" fmla="*/ 496109 h 800997"/>
                <a:gd name="connsiteX8-107" fmla="*/ 563562 w 3247335"/>
                <a:gd name="connsiteY8-108" fmla="*/ 751026 h 800997"/>
                <a:gd name="connsiteX0-109" fmla="*/ 0 w 3247335"/>
                <a:gd name="connsiteY0-110" fmla="*/ 736529 h 815129"/>
                <a:gd name="connsiteX1-111" fmla="*/ 982662 w 3247335"/>
                <a:gd name="connsiteY1-112" fmla="*/ 800909 h 815129"/>
                <a:gd name="connsiteX2-113" fmla="*/ 2506662 w 3247335"/>
                <a:gd name="connsiteY2-114" fmla="*/ 743759 h 815129"/>
                <a:gd name="connsiteX3-115" fmla="*/ 3154362 w 3247335"/>
                <a:gd name="connsiteY3-116" fmla="*/ 515159 h 815129"/>
                <a:gd name="connsiteX4-117" fmla="*/ 3211512 w 3247335"/>
                <a:gd name="connsiteY4-118" fmla="*/ 286559 h 815129"/>
                <a:gd name="connsiteX5-119" fmla="*/ 2849562 w 3247335"/>
                <a:gd name="connsiteY5-120" fmla="*/ 809 h 815129"/>
                <a:gd name="connsiteX6-121" fmla="*/ 868362 w 3247335"/>
                <a:gd name="connsiteY6-122" fmla="*/ 210359 h 815129"/>
                <a:gd name="connsiteX7-123" fmla="*/ 315912 w 3247335"/>
                <a:gd name="connsiteY7-124" fmla="*/ 496109 h 815129"/>
                <a:gd name="connsiteX8-125" fmla="*/ 563562 w 3247335"/>
                <a:gd name="connsiteY8-126" fmla="*/ 751026 h 815129"/>
                <a:gd name="connsiteX0-127" fmla="*/ 0 w 3260035"/>
                <a:gd name="connsiteY0-128" fmla="*/ 688338 h 803190"/>
                <a:gd name="connsiteX1-129" fmla="*/ 995362 w 3260035"/>
                <a:gd name="connsiteY1-130" fmla="*/ 800909 h 803190"/>
                <a:gd name="connsiteX2-131" fmla="*/ 2519362 w 3260035"/>
                <a:gd name="connsiteY2-132" fmla="*/ 743759 h 803190"/>
                <a:gd name="connsiteX3-133" fmla="*/ 3167062 w 3260035"/>
                <a:gd name="connsiteY3-134" fmla="*/ 515159 h 803190"/>
                <a:gd name="connsiteX4-135" fmla="*/ 3224212 w 3260035"/>
                <a:gd name="connsiteY4-136" fmla="*/ 286559 h 803190"/>
                <a:gd name="connsiteX5-137" fmla="*/ 2862262 w 3260035"/>
                <a:gd name="connsiteY5-138" fmla="*/ 809 h 803190"/>
                <a:gd name="connsiteX6-139" fmla="*/ 881062 w 3260035"/>
                <a:gd name="connsiteY6-140" fmla="*/ 210359 h 803190"/>
                <a:gd name="connsiteX7-141" fmla="*/ 328612 w 3260035"/>
                <a:gd name="connsiteY7-142" fmla="*/ 496109 h 803190"/>
                <a:gd name="connsiteX8-143" fmla="*/ 576262 w 3260035"/>
                <a:gd name="connsiteY8-144" fmla="*/ 751026 h 8031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260035" h="803190">
                  <a:moveTo>
                    <a:pt x="0" y="688338"/>
                  </a:moveTo>
                  <a:cubicBezTo>
                    <a:pt x="179387" y="813294"/>
                    <a:pt x="575468" y="791672"/>
                    <a:pt x="995362" y="800909"/>
                  </a:cubicBezTo>
                  <a:cubicBezTo>
                    <a:pt x="1415256" y="810146"/>
                    <a:pt x="2157412" y="791384"/>
                    <a:pt x="2519362" y="743759"/>
                  </a:cubicBezTo>
                  <a:cubicBezTo>
                    <a:pt x="2881312" y="696134"/>
                    <a:pt x="3049587" y="591359"/>
                    <a:pt x="3167062" y="515159"/>
                  </a:cubicBezTo>
                  <a:cubicBezTo>
                    <a:pt x="3284537" y="438959"/>
                    <a:pt x="3275012" y="372284"/>
                    <a:pt x="3224212" y="286559"/>
                  </a:cubicBezTo>
                  <a:cubicBezTo>
                    <a:pt x="3173412" y="200834"/>
                    <a:pt x="3252787" y="13509"/>
                    <a:pt x="2862262" y="809"/>
                  </a:cubicBezTo>
                  <a:cubicBezTo>
                    <a:pt x="2471737" y="-11891"/>
                    <a:pt x="1303337" y="127809"/>
                    <a:pt x="881062" y="210359"/>
                  </a:cubicBezTo>
                  <a:cubicBezTo>
                    <a:pt x="458787" y="292909"/>
                    <a:pt x="398462" y="321207"/>
                    <a:pt x="328612" y="496109"/>
                  </a:cubicBezTo>
                  <a:cubicBezTo>
                    <a:pt x="258762" y="671011"/>
                    <a:pt x="528637" y="703401"/>
                    <a:pt x="576262" y="751026"/>
                  </a:cubicBezTo>
                </a:path>
              </a:pathLst>
            </a:custGeom>
            <a:solidFill>
              <a:srgbClr val="92D050"/>
            </a:solidFill>
            <a:ln w="28575" cap="flat" cmpd="sng" algn="ctr">
              <a:solidFill>
                <a:schemeClr val="accent1"/>
              </a:solidFill>
              <a:prstDash val="solid"/>
              <a:miter lim="800000"/>
            </a:ln>
            <a:effectLst/>
          </p:spPr>
          <p:txBody>
            <a:bodyPr wrap="square" tIns="108000" anchor="ctr">
              <a:normAutofit/>
              <a:scene3d>
                <a:camera prst="orthographicFront">
                  <a:rot lat="0" lon="0" rev="180000"/>
                </a:camera>
                <a:lightRig rig="threePt" dir="t"/>
              </a:scene3d>
            </a:bodyPr>
            <a:lstStyle/>
            <a:p>
              <a:pPr algn="ctr"/>
              <a:r>
                <a:rPr lang="en-US" sz="2400" b="1" dirty="0">
                  <a:solidFill>
                    <a:schemeClr val="bg1"/>
                  </a:solidFill>
                  <a:latin typeface="微软雅黑" panose="020B0503020204020204" pitchFamily="34" charset="-122"/>
                  <a:sym typeface="+mn-ea"/>
                </a:rPr>
                <a:t>            </a:t>
              </a:r>
              <a:r>
                <a:rPr sz="2400" b="1" dirty="0">
                  <a:solidFill>
                    <a:schemeClr val="bg1"/>
                  </a:solidFill>
                  <a:latin typeface="微软雅黑" panose="020B0503020204020204" pitchFamily="34" charset="-122"/>
                  <a:sym typeface="+mn-ea"/>
                </a:rPr>
                <a:t>必须对作业人员进行安全培训，严禁教育培训不合格上岗作业。</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39" name="MH_Other_4"/>
            <p:cNvSpPr txBox="1">
              <a:spLocks noChangeArrowheads="1"/>
            </p:cNvSpPr>
            <p:nvPr>
              <p:custDataLst>
                <p:tags r:id="rId8"/>
              </p:custDataLst>
            </p:nvPr>
          </p:nvSpPr>
          <p:spPr bwMode="auto">
            <a:xfrm>
              <a:off x="603" y="8867"/>
              <a:ext cx="15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a:solidFill>
                    <a:schemeClr val="accent1"/>
                  </a:solidFill>
                  <a:latin typeface="Brush Script Std" panose="03060802040607070404" pitchFamily="66" charset="0"/>
                  <a:ea typeface="微软雅黑" panose="020B0503020204020204" pitchFamily="34" charset="-122"/>
                </a:rPr>
                <a:t>4</a:t>
              </a:r>
              <a:endParaRPr lang="en-US" altLang="zh-CN" sz="3200" b="1">
                <a:solidFill>
                  <a:schemeClr val="accent1"/>
                </a:solidFill>
                <a:latin typeface="Brush Script Std" panose="03060802040607070404" pitchFamily="66" charset="0"/>
                <a:ea typeface="微软雅黑" panose="020B0503020204020204" pitchFamily="34" charset="-122"/>
              </a:endParaRPr>
            </a:p>
          </p:txBody>
        </p:sp>
        <p:sp>
          <p:nvSpPr>
            <p:cNvPr id="40" name="MH_SubTitle_5"/>
            <p:cNvSpPr/>
            <p:nvPr>
              <p:custDataLst>
                <p:tags r:id="rId9"/>
              </p:custDataLst>
            </p:nvPr>
          </p:nvSpPr>
          <p:spPr>
            <a:xfrm>
              <a:off x="635" y="8729"/>
              <a:ext cx="13329" cy="833"/>
            </a:xfrm>
            <a:custGeom>
              <a:avLst/>
              <a:gdLst>
                <a:gd name="connsiteX0" fmla="*/ 0 w 2969523"/>
                <a:gd name="connsiteY0" fmla="*/ 743759 h 800909"/>
                <a:gd name="connsiteX1" fmla="*/ 704850 w 2969523"/>
                <a:gd name="connsiteY1" fmla="*/ 800909 h 800909"/>
                <a:gd name="connsiteX2" fmla="*/ 2228850 w 2969523"/>
                <a:gd name="connsiteY2" fmla="*/ 743759 h 800909"/>
                <a:gd name="connsiteX3" fmla="*/ 2876550 w 2969523"/>
                <a:gd name="connsiteY3" fmla="*/ 515159 h 800909"/>
                <a:gd name="connsiteX4" fmla="*/ 2933700 w 2969523"/>
                <a:gd name="connsiteY4" fmla="*/ 286559 h 800909"/>
                <a:gd name="connsiteX5" fmla="*/ 2571750 w 2969523"/>
                <a:gd name="connsiteY5" fmla="*/ 809 h 800909"/>
                <a:gd name="connsiteX6" fmla="*/ 590550 w 2969523"/>
                <a:gd name="connsiteY6" fmla="*/ 210359 h 800909"/>
                <a:gd name="connsiteX7" fmla="*/ 38100 w 2969523"/>
                <a:gd name="connsiteY7" fmla="*/ 496109 h 800909"/>
                <a:gd name="connsiteX8" fmla="*/ 114300 w 2969523"/>
                <a:gd name="connsiteY8" fmla="*/ 781859 h 800909"/>
                <a:gd name="connsiteX0-1" fmla="*/ 0 w 3033023"/>
                <a:gd name="connsiteY0-2" fmla="*/ 743759 h 800909"/>
                <a:gd name="connsiteX1-3" fmla="*/ 768350 w 3033023"/>
                <a:gd name="connsiteY1-4" fmla="*/ 800909 h 800909"/>
                <a:gd name="connsiteX2-5" fmla="*/ 2292350 w 3033023"/>
                <a:gd name="connsiteY2-6" fmla="*/ 743759 h 800909"/>
                <a:gd name="connsiteX3-7" fmla="*/ 2940050 w 3033023"/>
                <a:gd name="connsiteY3-8" fmla="*/ 515159 h 800909"/>
                <a:gd name="connsiteX4-9" fmla="*/ 2997200 w 3033023"/>
                <a:gd name="connsiteY4-10" fmla="*/ 286559 h 800909"/>
                <a:gd name="connsiteX5-11" fmla="*/ 2635250 w 3033023"/>
                <a:gd name="connsiteY5-12" fmla="*/ 809 h 800909"/>
                <a:gd name="connsiteX6-13" fmla="*/ 654050 w 3033023"/>
                <a:gd name="connsiteY6-14" fmla="*/ 210359 h 800909"/>
                <a:gd name="connsiteX7-15" fmla="*/ 101600 w 3033023"/>
                <a:gd name="connsiteY7-16" fmla="*/ 496109 h 800909"/>
                <a:gd name="connsiteX8-17" fmla="*/ 177800 w 3033023"/>
                <a:gd name="connsiteY8-18" fmla="*/ 781859 h 800909"/>
                <a:gd name="connsiteX0-19" fmla="*/ 0 w 3033023"/>
                <a:gd name="connsiteY0-20" fmla="*/ 743759 h 800909"/>
                <a:gd name="connsiteX1-21" fmla="*/ 768350 w 3033023"/>
                <a:gd name="connsiteY1-22" fmla="*/ 800909 h 800909"/>
                <a:gd name="connsiteX2-23" fmla="*/ 2292350 w 3033023"/>
                <a:gd name="connsiteY2-24" fmla="*/ 743759 h 800909"/>
                <a:gd name="connsiteX3-25" fmla="*/ 2940050 w 3033023"/>
                <a:gd name="connsiteY3-26" fmla="*/ 515159 h 800909"/>
                <a:gd name="connsiteX4-27" fmla="*/ 2997200 w 3033023"/>
                <a:gd name="connsiteY4-28" fmla="*/ 286559 h 800909"/>
                <a:gd name="connsiteX5-29" fmla="*/ 2635250 w 3033023"/>
                <a:gd name="connsiteY5-30" fmla="*/ 809 h 800909"/>
                <a:gd name="connsiteX6-31" fmla="*/ 654050 w 3033023"/>
                <a:gd name="connsiteY6-32" fmla="*/ 210359 h 800909"/>
                <a:gd name="connsiteX7-33" fmla="*/ 101600 w 3033023"/>
                <a:gd name="connsiteY7-34" fmla="*/ 496109 h 800909"/>
                <a:gd name="connsiteX8-35" fmla="*/ 254000 w 3033023"/>
                <a:gd name="connsiteY8-36" fmla="*/ 704777 h 800909"/>
                <a:gd name="connsiteX0-37" fmla="*/ 0 w 3033023"/>
                <a:gd name="connsiteY0-38" fmla="*/ 743759 h 800909"/>
                <a:gd name="connsiteX1-39" fmla="*/ 768350 w 3033023"/>
                <a:gd name="connsiteY1-40" fmla="*/ 800909 h 800909"/>
                <a:gd name="connsiteX2-41" fmla="*/ 2292350 w 3033023"/>
                <a:gd name="connsiteY2-42" fmla="*/ 743759 h 800909"/>
                <a:gd name="connsiteX3-43" fmla="*/ 2940050 w 3033023"/>
                <a:gd name="connsiteY3-44" fmla="*/ 515159 h 800909"/>
                <a:gd name="connsiteX4-45" fmla="*/ 2997200 w 3033023"/>
                <a:gd name="connsiteY4-46" fmla="*/ 286559 h 800909"/>
                <a:gd name="connsiteX5-47" fmla="*/ 2635250 w 3033023"/>
                <a:gd name="connsiteY5-48" fmla="*/ 809 h 800909"/>
                <a:gd name="connsiteX6-49" fmla="*/ 654050 w 3033023"/>
                <a:gd name="connsiteY6-50" fmla="*/ 210359 h 800909"/>
                <a:gd name="connsiteX7-51" fmla="*/ 101600 w 3033023"/>
                <a:gd name="connsiteY7-52" fmla="*/ 496109 h 800909"/>
                <a:gd name="connsiteX8-53" fmla="*/ 349250 w 3033023"/>
                <a:gd name="connsiteY8-54" fmla="*/ 751026 h 800909"/>
                <a:gd name="connsiteX0-55" fmla="*/ 0 w 3033023"/>
                <a:gd name="connsiteY0-56" fmla="*/ 743759 h 800909"/>
                <a:gd name="connsiteX1-57" fmla="*/ 768350 w 3033023"/>
                <a:gd name="connsiteY1-58" fmla="*/ 800909 h 800909"/>
                <a:gd name="connsiteX2-59" fmla="*/ 2292350 w 3033023"/>
                <a:gd name="connsiteY2-60" fmla="*/ 743759 h 800909"/>
                <a:gd name="connsiteX3-61" fmla="*/ 2940050 w 3033023"/>
                <a:gd name="connsiteY3-62" fmla="*/ 515159 h 800909"/>
                <a:gd name="connsiteX4-63" fmla="*/ 2997200 w 3033023"/>
                <a:gd name="connsiteY4-64" fmla="*/ 286559 h 800909"/>
                <a:gd name="connsiteX5-65" fmla="*/ 2635250 w 3033023"/>
                <a:gd name="connsiteY5-66" fmla="*/ 809 h 800909"/>
                <a:gd name="connsiteX6-67" fmla="*/ 654050 w 3033023"/>
                <a:gd name="connsiteY6-68" fmla="*/ 210359 h 800909"/>
                <a:gd name="connsiteX7-69" fmla="*/ 101600 w 3033023"/>
                <a:gd name="connsiteY7-70" fmla="*/ 496109 h 800909"/>
                <a:gd name="connsiteX8-71" fmla="*/ 349250 w 3033023"/>
                <a:gd name="connsiteY8-72" fmla="*/ 751026 h 800909"/>
                <a:gd name="connsiteX0-73" fmla="*/ 0 w 3033023"/>
                <a:gd name="connsiteY0-74" fmla="*/ 743759 h 800909"/>
                <a:gd name="connsiteX1-75" fmla="*/ 768350 w 3033023"/>
                <a:gd name="connsiteY1-76" fmla="*/ 800909 h 800909"/>
                <a:gd name="connsiteX2-77" fmla="*/ 2292350 w 3033023"/>
                <a:gd name="connsiteY2-78" fmla="*/ 743759 h 800909"/>
                <a:gd name="connsiteX3-79" fmla="*/ 2940050 w 3033023"/>
                <a:gd name="connsiteY3-80" fmla="*/ 515159 h 800909"/>
                <a:gd name="connsiteX4-81" fmla="*/ 2997200 w 3033023"/>
                <a:gd name="connsiteY4-82" fmla="*/ 286559 h 800909"/>
                <a:gd name="connsiteX5-83" fmla="*/ 2635250 w 3033023"/>
                <a:gd name="connsiteY5-84" fmla="*/ 809 h 800909"/>
                <a:gd name="connsiteX6-85" fmla="*/ 654050 w 3033023"/>
                <a:gd name="connsiteY6-86" fmla="*/ 210359 h 800909"/>
                <a:gd name="connsiteX7-87" fmla="*/ 101600 w 3033023"/>
                <a:gd name="connsiteY7-88" fmla="*/ 496109 h 800909"/>
                <a:gd name="connsiteX8-89" fmla="*/ 349250 w 3033023"/>
                <a:gd name="connsiteY8-90" fmla="*/ 751026 h 800909"/>
                <a:gd name="connsiteX0-91" fmla="*/ 0 w 3247335"/>
                <a:gd name="connsiteY0-92" fmla="*/ 736529 h 800997"/>
                <a:gd name="connsiteX1-93" fmla="*/ 982662 w 3247335"/>
                <a:gd name="connsiteY1-94" fmla="*/ 800909 h 800997"/>
                <a:gd name="connsiteX2-95" fmla="*/ 2506662 w 3247335"/>
                <a:gd name="connsiteY2-96" fmla="*/ 743759 h 800997"/>
                <a:gd name="connsiteX3-97" fmla="*/ 3154362 w 3247335"/>
                <a:gd name="connsiteY3-98" fmla="*/ 515159 h 800997"/>
                <a:gd name="connsiteX4-99" fmla="*/ 3211512 w 3247335"/>
                <a:gd name="connsiteY4-100" fmla="*/ 286559 h 800997"/>
                <a:gd name="connsiteX5-101" fmla="*/ 2849562 w 3247335"/>
                <a:gd name="connsiteY5-102" fmla="*/ 809 h 800997"/>
                <a:gd name="connsiteX6-103" fmla="*/ 868362 w 3247335"/>
                <a:gd name="connsiteY6-104" fmla="*/ 210359 h 800997"/>
                <a:gd name="connsiteX7-105" fmla="*/ 315912 w 3247335"/>
                <a:gd name="connsiteY7-106" fmla="*/ 496109 h 800997"/>
                <a:gd name="connsiteX8-107" fmla="*/ 563562 w 3247335"/>
                <a:gd name="connsiteY8-108" fmla="*/ 751026 h 800997"/>
                <a:gd name="connsiteX0-109" fmla="*/ 0 w 3247335"/>
                <a:gd name="connsiteY0-110" fmla="*/ 736529 h 815129"/>
                <a:gd name="connsiteX1-111" fmla="*/ 982662 w 3247335"/>
                <a:gd name="connsiteY1-112" fmla="*/ 800909 h 815129"/>
                <a:gd name="connsiteX2-113" fmla="*/ 2506662 w 3247335"/>
                <a:gd name="connsiteY2-114" fmla="*/ 743759 h 815129"/>
                <a:gd name="connsiteX3-115" fmla="*/ 3154362 w 3247335"/>
                <a:gd name="connsiteY3-116" fmla="*/ 515159 h 815129"/>
                <a:gd name="connsiteX4-117" fmla="*/ 3211512 w 3247335"/>
                <a:gd name="connsiteY4-118" fmla="*/ 286559 h 815129"/>
                <a:gd name="connsiteX5-119" fmla="*/ 2849562 w 3247335"/>
                <a:gd name="connsiteY5-120" fmla="*/ 809 h 815129"/>
                <a:gd name="connsiteX6-121" fmla="*/ 868362 w 3247335"/>
                <a:gd name="connsiteY6-122" fmla="*/ 210359 h 815129"/>
                <a:gd name="connsiteX7-123" fmla="*/ 315912 w 3247335"/>
                <a:gd name="connsiteY7-124" fmla="*/ 496109 h 815129"/>
                <a:gd name="connsiteX8-125" fmla="*/ 563562 w 3247335"/>
                <a:gd name="connsiteY8-126" fmla="*/ 751026 h 815129"/>
                <a:gd name="connsiteX0-127" fmla="*/ 0 w 3260035"/>
                <a:gd name="connsiteY0-128" fmla="*/ 688338 h 803190"/>
                <a:gd name="connsiteX1-129" fmla="*/ 995362 w 3260035"/>
                <a:gd name="connsiteY1-130" fmla="*/ 800909 h 803190"/>
                <a:gd name="connsiteX2-131" fmla="*/ 2519362 w 3260035"/>
                <a:gd name="connsiteY2-132" fmla="*/ 743759 h 803190"/>
                <a:gd name="connsiteX3-133" fmla="*/ 3167062 w 3260035"/>
                <a:gd name="connsiteY3-134" fmla="*/ 515159 h 803190"/>
                <a:gd name="connsiteX4-135" fmla="*/ 3224212 w 3260035"/>
                <a:gd name="connsiteY4-136" fmla="*/ 286559 h 803190"/>
                <a:gd name="connsiteX5-137" fmla="*/ 2862262 w 3260035"/>
                <a:gd name="connsiteY5-138" fmla="*/ 809 h 803190"/>
                <a:gd name="connsiteX6-139" fmla="*/ 881062 w 3260035"/>
                <a:gd name="connsiteY6-140" fmla="*/ 210359 h 803190"/>
                <a:gd name="connsiteX7-141" fmla="*/ 328612 w 3260035"/>
                <a:gd name="connsiteY7-142" fmla="*/ 496109 h 803190"/>
                <a:gd name="connsiteX8-143" fmla="*/ 576262 w 3260035"/>
                <a:gd name="connsiteY8-144" fmla="*/ 751026 h 8031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260035" h="803190">
                  <a:moveTo>
                    <a:pt x="0" y="688338"/>
                  </a:moveTo>
                  <a:cubicBezTo>
                    <a:pt x="179387" y="813294"/>
                    <a:pt x="575468" y="791672"/>
                    <a:pt x="995362" y="800909"/>
                  </a:cubicBezTo>
                  <a:cubicBezTo>
                    <a:pt x="1415256" y="810146"/>
                    <a:pt x="2157412" y="791384"/>
                    <a:pt x="2519362" y="743759"/>
                  </a:cubicBezTo>
                  <a:cubicBezTo>
                    <a:pt x="2881312" y="696134"/>
                    <a:pt x="3049587" y="591359"/>
                    <a:pt x="3167062" y="515159"/>
                  </a:cubicBezTo>
                  <a:cubicBezTo>
                    <a:pt x="3284537" y="438959"/>
                    <a:pt x="3275012" y="372284"/>
                    <a:pt x="3224212" y="286559"/>
                  </a:cubicBezTo>
                  <a:cubicBezTo>
                    <a:pt x="3173412" y="200834"/>
                    <a:pt x="3252787" y="13509"/>
                    <a:pt x="2862262" y="809"/>
                  </a:cubicBezTo>
                  <a:cubicBezTo>
                    <a:pt x="2471737" y="-11891"/>
                    <a:pt x="1303337" y="127809"/>
                    <a:pt x="881062" y="210359"/>
                  </a:cubicBezTo>
                  <a:cubicBezTo>
                    <a:pt x="458787" y="292909"/>
                    <a:pt x="398462" y="321207"/>
                    <a:pt x="328612" y="496109"/>
                  </a:cubicBezTo>
                  <a:cubicBezTo>
                    <a:pt x="258762" y="671011"/>
                    <a:pt x="528637" y="703401"/>
                    <a:pt x="576262" y="751026"/>
                  </a:cubicBezTo>
                </a:path>
              </a:pathLst>
            </a:custGeom>
            <a:solidFill>
              <a:srgbClr val="92D050"/>
            </a:solidFill>
            <a:ln w="28575" cap="flat" cmpd="sng" algn="ctr">
              <a:solidFill>
                <a:schemeClr val="accent1"/>
              </a:solidFill>
              <a:prstDash val="solid"/>
              <a:miter lim="800000"/>
            </a:ln>
            <a:effectLst/>
          </p:spPr>
          <p:txBody>
            <a:bodyPr wrap="square" tIns="108000" anchor="ctr">
              <a:normAutofit/>
              <a:scene3d>
                <a:camera prst="orthographicFront">
                  <a:rot lat="0" lon="0" rev="180000"/>
                </a:camera>
                <a:lightRig rig="threePt" dir="t"/>
              </a:scene3d>
            </a:bodyPr>
            <a:lstStyle/>
            <a:p>
              <a:pPr lvl="0" algn="ctr"/>
              <a:r>
                <a:rPr sz="2400" b="1" dirty="0">
                  <a:solidFill>
                    <a:schemeClr val="bg1"/>
                  </a:solidFill>
                  <a:latin typeface="微软雅黑" panose="020B0503020204020204" pitchFamily="34" charset="-122"/>
                  <a:sym typeface="+mn-ea"/>
                </a:rPr>
                <a:t>必须制定应急措施，现场配备应急装备，严禁盲目施救</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41" name="MH_Other_5"/>
            <p:cNvSpPr txBox="1">
              <a:spLocks noChangeArrowheads="1"/>
            </p:cNvSpPr>
            <p:nvPr>
              <p:custDataLst>
                <p:tags r:id="rId10"/>
              </p:custDataLst>
            </p:nvPr>
          </p:nvSpPr>
          <p:spPr bwMode="auto">
            <a:xfrm>
              <a:off x="465" y="9700"/>
              <a:ext cx="15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a:solidFill>
                    <a:schemeClr val="accent1"/>
                  </a:solidFill>
                  <a:latin typeface="Brush Script Std" panose="03060802040607070404" pitchFamily="66" charset="0"/>
                  <a:ea typeface="微软雅黑" panose="020B0503020204020204" pitchFamily="34" charset="-122"/>
                </a:rPr>
                <a:t>5</a:t>
              </a:r>
              <a:endParaRPr lang="en-US" altLang="zh-CN" sz="3200" b="1">
                <a:solidFill>
                  <a:schemeClr val="accent1"/>
                </a:solidFill>
                <a:latin typeface="Brush Script Std" panose="03060802040607070404" pitchFamily="66" charset="0"/>
                <a:ea typeface="微软雅黑" panose="020B0503020204020204" pitchFamily="34" charset="-122"/>
              </a:endParaRPr>
            </a:p>
          </p:txBody>
        </p:sp>
      </p:grpSp>
      <p:sp>
        <p:nvSpPr>
          <p:cNvPr id="44" name="PA_圆角矩形 18"/>
          <p:cNvSpPr/>
          <p:nvPr>
            <p:custDataLst>
              <p:tags r:id="rId11"/>
            </p:custDataLst>
          </p:nvPr>
        </p:nvSpPr>
        <p:spPr>
          <a:xfrm>
            <a:off x="4233545" y="631190"/>
            <a:ext cx="4255135" cy="723900"/>
          </a:xfrm>
          <a:prstGeom prst="roundRect">
            <a:avLst>
              <a:gd name="adj" fmla="val 50000"/>
            </a:avLst>
          </a:prstGeom>
          <a:solidFill>
            <a:srgbClr val="92D050"/>
          </a:solidFill>
          <a:ln w="25400">
            <a:gradFill flip="none" rotWithShape="1">
              <a:gsLst>
                <a:gs pos="0">
                  <a:srgbClr val="CFCFCF"/>
                </a:gs>
                <a:gs pos="100000">
                  <a:schemeClr val="bg1"/>
                </a:gs>
              </a:gsLst>
              <a:lin ang="2700000" scaled="1"/>
              <a:tileRect/>
            </a:gradFill>
          </a:ln>
          <a:effectLst>
            <a:innerShdw blurRad="101600" dist="1016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800" b="1" noProof="1">
                <a:latin typeface="微软雅黑" panose="020B0503020204020204" pitchFamily="34" charset="-122"/>
                <a:ea typeface="微软雅黑" panose="020B0503020204020204" pitchFamily="34" charset="-122"/>
              </a:rPr>
              <a:t>有限空间五条规定</a:t>
            </a:r>
            <a:endParaRPr lang="zh-CN" altLang="en-US" sz="2800" b="1" noProof="1">
              <a:latin typeface="微软雅黑" panose="020B0503020204020204" pitchFamily="34" charset="-122"/>
              <a:ea typeface="微软雅黑" panose="020B0503020204020204" pitchFamily="34" charset="-122"/>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899"/>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86995" y="138430"/>
            <a:ext cx="11941810" cy="641286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76530" y="254635"/>
            <a:ext cx="11638280" cy="623125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1600" y="188595"/>
            <a:ext cx="11855450" cy="648843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991870" y="626110"/>
            <a:ext cx="10173335" cy="5245100"/>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876935" y="518795"/>
            <a:ext cx="10240010" cy="581977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202690" y="557530"/>
            <a:ext cx="9575165" cy="520509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2811780" y="1296670"/>
            <a:ext cx="6567805" cy="3679190"/>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1"/>
          <p:cNvSpPr/>
          <p:nvPr/>
        </p:nvSpPr>
        <p:spPr>
          <a:xfrm>
            <a:off x="1524000" y="1189832"/>
            <a:ext cx="9144000" cy="368300"/>
          </a:xfrm>
          <a:prstGeom prst="rect">
            <a:avLst/>
          </a:prstGeom>
          <a:noFill/>
          <a:ln w="9525">
            <a:noFill/>
          </a:ln>
        </p:spPr>
        <p:txBody>
          <a:bodyPr anchor="ctr" anchorCtr="0">
            <a:spAutoFit/>
          </a:bodyPr>
          <a:p>
            <a:pPr indent="355600">
              <a:buNone/>
            </a:pPr>
            <a:r>
              <a:rPr lang="zh-CN" altLang="en-US" b="1" dirty="0">
                <a:solidFill>
                  <a:srgbClr val="FF0000"/>
                </a:solidFill>
                <a:latin typeface="Calibri" panose="020F0502020204030204" pitchFamily="34" charset="0"/>
                <a:ea typeface="楷体_GB2312"/>
              </a:rPr>
              <a:t>                      案例</a:t>
            </a:r>
            <a:r>
              <a:rPr lang="en-US" altLang="zh-CN" b="1" dirty="0">
                <a:solidFill>
                  <a:srgbClr val="FF0000"/>
                </a:solidFill>
                <a:latin typeface="Calibri" panose="020F0502020204030204" pitchFamily="34" charset="0"/>
                <a:ea typeface="楷体_GB2312"/>
              </a:rPr>
              <a:t>2</a:t>
            </a:r>
            <a:r>
              <a:rPr lang="zh-CN" altLang="en-US" b="1" dirty="0">
                <a:solidFill>
                  <a:srgbClr val="FF0000"/>
                </a:solidFill>
                <a:latin typeface="Calibri" panose="020F0502020204030204" pitchFamily="34" charset="0"/>
                <a:ea typeface="楷体_GB2312"/>
              </a:rPr>
              <a:t>：某公司</a:t>
            </a:r>
            <a:r>
              <a:rPr lang="en-US" altLang="zh-CN" b="1" dirty="0">
                <a:solidFill>
                  <a:srgbClr val="FF0000"/>
                </a:solidFill>
                <a:latin typeface="Calibri" panose="020F0502020204030204" pitchFamily="34" charset="0"/>
                <a:ea typeface="楷体_GB2312"/>
              </a:rPr>
              <a:t>2015</a:t>
            </a:r>
            <a:r>
              <a:rPr lang="zh-CN" altLang="en-US" b="1" dirty="0">
                <a:solidFill>
                  <a:srgbClr val="FF0000"/>
                </a:solidFill>
                <a:latin typeface="Calibri" panose="020F0502020204030204" pitchFamily="34" charset="0"/>
                <a:ea typeface="楷体_GB2312"/>
              </a:rPr>
              <a:t>年</a:t>
            </a:r>
            <a:r>
              <a:rPr lang="zh-CN" altLang="x-none" b="1" dirty="0">
                <a:solidFill>
                  <a:srgbClr val="FF0000"/>
                </a:solidFill>
                <a:latin typeface="Arial" panose="020B0604020202020204" pitchFamily="34" charset="0"/>
                <a:ea typeface="楷体_GB2312"/>
              </a:rPr>
              <a:t>“</a:t>
            </a:r>
            <a:r>
              <a:rPr lang="en-US" altLang="zh-CN" b="1" dirty="0">
                <a:solidFill>
                  <a:srgbClr val="FF0000"/>
                </a:solidFill>
                <a:latin typeface="Calibri" panose="020F0502020204030204" pitchFamily="34" charset="0"/>
                <a:ea typeface="楷体_GB2312"/>
              </a:rPr>
              <a:t>5.13</a:t>
            </a:r>
            <a:r>
              <a:rPr lang="zh-CN" altLang="en-US" b="1" dirty="0">
                <a:solidFill>
                  <a:srgbClr val="FF0000"/>
                </a:solidFill>
                <a:latin typeface="Calibri" panose="020F0502020204030204" pitchFamily="34" charset="0"/>
                <a:ea typeface="楷体_GB2312"/>
              </a:rPr>
              <a:t>氮气窒息事故。</a:t>
            </a:r>
            <a:endParaRPr lang="zh-CN" altLang="en-US" dirty="0">
              <a:solidFill>
                <a:srgbClr val="FF0000"/>
              </a:solidFill>
              <a:latin typeface="Arial" panose="020B0604020202020204" pitchFamily="34" charset="0"/>
              <a:ea typeface="楷体_GB2312"/>
            </a:endParaRPr>
          </a:p>
        </p:txBody>
      </p:sp>
      <p:sp>
        <p:nvSpPr>
          <p:cNvPr id="27651" name="矩形 2"/>
          <p:cNvSpPr/>
          <p:nvPr/>
        </p:nvSpPr>
        <p:spPr>
          <a:xfrm>
            <a:off x="1809750" y="1857375"/>
            <a:ext cx="4357688" cy="4092575"/>
          </a:xfrm>
          <a:prstGeom prst="rect">
            <a:avLst/>
          </a:prstGeom>
          <a:noFill/>
          <a:ln w="9525">
            <a:noFill/>
          </a:ln>
        </p:spPr>
        <p:txBody>
          <a:bodyPr>
            <a:spAutoFit/>
          </a:bodyPr>
          <a:p>
            <a:pPr indent="349250" eaLnBrk="0" hangingPunct="0">
              <a:buNone/>
            </a:pPr>
            <a:r>
              <a:rPr lang="en-US" altLang="zh-CN" sz="2000" b="1" dirty="0">
                <a:solidFill>
                  <a:srgbClr val="000000"/>
                </a:solidFill>
                <a:latin typeface="Calibri" panose="020F0502020204030204" pitchFamily="34" charset="0"/>
                <a:ea typeface="仿宋_GB2312"/>
              </a:rPr>
              <a:t>2015</a:t>
            </a:r>
            <a:r>
              <a:rPr lang="zh-CN" altLang="en-US" sz="2000" b="1" dirty="0">
                <a:solidFill>
                  <a:srgbClr val="000000"/>
                </a:solidFill>
                <a:latin typeface="Calibri" panose="020F0502020204030204" pitchFamily="34" charset="0"/>
                <a:ea typeface="仿宋_GB2312"/>
              </a:rPr>
              <a:t>年</a:t>
            </a:r>
            <a:r>
              <a:rPr lang="en-US" altLang="zh-CN" sz="2000" b="1" dirty="0">
                <a:solidFill>
                  <a:srgbClr val="000000"/>
                </a:solidFill>
                <a:latin typeface="Calibri" panose="020F0502020204030204" pitchFamily="34" charset="0"/>
                <a:ea typeface="仿宋_GB2312"/>
              </a:rPr>
              <a:t>5</a:t>
            </a:r>
            <a:r>
              <a:rPr lang="zh-CN" altLang="en-US" sz="2000" b="1" dirty="0">
                <a:solidFill>
                  <a:srgbClr val="000000"/>
                </a:solidFill>
                <a:latin typeface="Calibri" panose="020F0502020204030204" pitchFamily="34" charset="0"/>
                <a:ea typeface="仿宋_GB2312"/>
              </a:rPr>
              <a:t>月</a:t>
            </a:r>
            <a:r>
              <a:rPr lang="en-US" altLang="zh-CN" sz="2000" b="1" dirty="0">
                <a:solidFill>
                  <a:srgbClr val="000000"/>
                </a:solidFill>
                <a:latin typeface="Calibri" panose="020F0502020204030204" pitchFamily="34" charset="0"/>
                <a:ea typeface="仿宋_GB2312"/>
              </a:rPr>
              <a:t>13</a:t>
            </a:r>
            <a:r>
              <a:rPr lang="zh-CN" altLang="en-US" sz="2000" b="1" dirty="0">
                <a:solidFill>
                  <a:srgbClr val="000000"/>
                </a:solidFill>
                <a:latin typeface="Calibri" panose="020F0502020204030204" pitchFamily="34" charset="0"/>
                <a:ea typeface="仿宋_GB2312"/>
              </a:rPr>
              <a:t>日，某公司苯酚丙酮装置发生氮气窒息事故，造成</a:t>
            </a:r>
            <a:r>
              <a:rPr lang="en-US" altLang="zh-CN" sz="2000" b="1" dirty="0">
                <a:solidFill>
                  <a:srgbClr val="000000"/>
                </a:solidFill>
                <a:latin typeface="Calibri" panose="020F0502020204030204" pitchFamily="34" charset="0"/>
                <a:ea typeface="仿宋_GB2312"/>
              </a:rPr>
              <a:t>2</a:t>
            </a:r>
            <a:r>
              <a:rPr lang="zh-CN" altLang="en-US" sz="2000" b="1" dirty="0">
                <a:solidFill>
                  <a:srgbClr val="000000"/>
                </a:solidFill>
                <a:latin typeface="Calibri" panose="020F0502020204030204" pitchFamily="34" charset="0"/>
                <a:ea typeface="仿宋_GB2312"/>
              </a:rPr>
              <a:t>人死亡。</a:t>
            </a:r>
            <a:endParaRPr lang="zh-CN" altLang="en-US" sz="200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indent="349250" eaLnBrk="0" hangingPunct="0">
              <a:buNone/>
            </a:pPr>
            <a:r>
              <a:rPr lang="zh-CN" altLang="en-US" sz="2000" b="1" dirty="0">
                <a:solidFill>
                  <a:srgbClr val="000000"/>
                </a:solidFill>
                <a:latin typeface="Calibri" panose="020F0502020204030204" pitchFamily="34" charset="0"/>
                <a:ea typeface="仿宋_GB2312"/>
              </a:rPr>
              <a:t>事故直接原因：</a:t>
            </a:r>
            <a:endParaRPr lang="zh-CN" altLang="en-US" sz="2000" dirty="0">
              <a:solidFill>
                <a:srgbClr val="000000"/>
              </a:solidFill>
              <a:latin typeface="Arial" panose="020B0604020202020204" pitchFamily="34" charset="0"/>
              <a:ea typeface="宋体" panose="02010600030101010101" pitchFamily="2" charset="-122"/>
            </a:endParaRPr>
          </a:p>
          <a:p>
            <a:pPr indent="349250" eaLnBrk="0" hangingPunct="0">
              <a:buNone/>
            </a:pPr>
            <a:r>
              <a:rPr lang="en-US" altLang="zh-CN" sz="2000" b="1" dirty="0">
                <a:solidFill>
                  <a:srgbClr val="000000"/>
                </a:solidFill>
                <a:latin typeface="Calibri" panose="020F0502020204030204" pitchFamily="34" charset="0"/>
                <a:ea typeface="仿宋_GB2312"/>
              </a:rPr>
              <a:t>1</a:t>
            </a:r>
            <a:r>
              <a:rPr lang="zh-CN" altLang="en-US" sz="2000" b="1" dirty="0">
                <a:solidFill>
                  <a:srgbClr val="000000"/>
                </a:solidFill>
                <a:latin typeface="Calibri" panose="020F0502020204030204" pitchFamily="34" charset="0"/>
                <a:ea typeface="仿宋_GB2312"/>
              </a:rPr>
              <a:t>、装置停车后氮气阀门联锁自动打开，反应器与氮气管道之间未</a:t>
            </a:r>
            <a:r>
              <a:rPr lang="zh-CN" altLang="en-US" sz="2000" b="1" dirty="0">
                <a:solidFill>
                  <a:srgbClr val="FF0000"/>
                </a:solidFill>
                <a:latin typeface="Calibri" panose="020F0502020204030204" pitchFamily="34" charset="0"/>
                <a:ea typeface="仿宋_GB2312"/>
              </a:rPr>
              <a:t>加盲板隔离</a:t>
            </a:r>
            <a:r>
              <a:rPr lang="en-US" altLang="zh-CN" sz="2000" b="1" dirty="0">
                <a:solidFill>
                  <a:srgbClr val="000000"/>
                </a:solidFill>
                <a:latin typeface="Calibri" panose="020F0502020204030204" pitchFamily="34" charset="0"/>
                <a:ea typeface="仿宋_GB2312"/>
              </a:rPr>
              <a:t>,</a:t>
            </a:r>
            <a:r>
              <a:rPr lang="zh-CN" altLang="en-US" sz="2000" b="1" dirty="0">
                <a:solidFill>
                  <a:srgbClr val="000000"/>
                </a:solidFill>
                <a:latin typeface="Calibri" panose="020F0502020204030204" pitchFamily="34" charset="0"/>
                <a:ea typeface="仿宋_GB2312"/>
              </a:rPr>
              <a:t>致使反应器内充满氮气；</a:t>
            </a:r>
            <a:endParaRPr lang="zh-CN" altLang="en-US" sz="2000" dirty="0">
              <a:solidFill>
                <a:srgbClr val="000000"/>
              </a:solidFill>
              <a:latin typeface="Arial" panose="020B0604020202020204" pitchFamily="34" charset="0"/>
              <a:ea typeface="宋体" panose="02010600030101010101" pitchFamily="2" charset="-122"/>
            </a:endParaRPr>
          </a:p>
          <a:p>
            <a:pPr indent="349250" eaLnBrk="0" hangingPunct="0">
              <a:buNone/>
            </a:pPr>
            <a:r>
              <a:rPr lang="en-US" altLang="zh-CN" sz="2000" b="1" dirty="0">
                <a:solidFill>
                  <a:srgbClr val="000000"/>
                </a:solidFill>
                <a:latin typeface="Calibri" panose="020F0502020204030204" pitchFamily="34" charset="0"/>
                <a:ea typeface="仿宋_GB2312"/>
              </a:rPr>
              <a:t>2</a:t>
            </a:r>
            <a:r>
              <a:rPr lang="zh-CN" altLang="en-US" sz="2000" b="1" dirty="0">
                <a:solidFill>
                  <a:srgbClr val="000000"/>
                </a:solidFill>
                <a:latin typeface="Calibri" panose="020F0502020204030204" pitchFamily="34" charset="0"/>
                <a:ea typeface="仿宋_GB2312"/>
              </a:rPr>
              <a:t>、分包商员工在</a:t>
            </a:r>
            <a:r>
              <a:rPr lang="zh-CN" altLang="en-US" sz="2000" b="1" dirty="0">
                <a:solidFill>
                  <a:srgbClr val="FF0000"/>
                </a:solidFill>
                <a:latin typeface="Calibri" panose="020F0502020204030204" pitchFamily="34" charset="0"/>
                <a:ea typeface="仿宋_GB2312"/>
              </a:rPr>
              <a:t>没有受限空间作业许可</a:t>
            </a:r>
            <a:r>
              <a:rPr lang="zh-CN" altLang="en-US" sz="2000" b="1" dirty="0">
                <a:solidFill>
                  <a:srgbClr val="000000"/>
                </a:solidFill>
                <a:latin typeface="Calibri" panose="020F0502020204030204" pitchFamily="34" charset="0"/>
                <a:ea typeface="仿宋_GB2312"/>
              </a:rPr>
              <a:t>的情况下违章进入氧化尾气催化反应器，窒息晕倒；</a:t>
            </a:r>
            <a:endParaRPr lang="zh-CN" altLang="en-US" sz="2000" b="1" dirty="0">
              <a:solidFill>
                <a:srgbClr val="000000"/>
              </a:solidFill>
              <a:latin typeface="Arial" panose="020B0604020202020204" pitchFamily="34" charset="0"/>
              <a:ea typeface="仿宋_GB2312"/>
            </a:endParaRPr>
          </a:p>
          <a:p>
            <a:pPr indent="349250" eaLnBrk="0" hangingPunct="0">
              <a:buNone/>
            </a:pPr>
            <a:r>
              <a:rPr lang="en-US" altLang="zh-CN" sz="2000" b="1" dirty="0">
                <a:solidFill>
                  <a:srgbClr val="000000"/>
                </a:solidFill>
                <a:latin typeface="Arial" panose="020B0604020202020204" pitchFamily="34" charset="0"/>
                <a:ea typeface="仿宋_GB2312"/>
              </a:rPr>
              <a:t>3</a:t>
            </a:r>
            <a:r>
              <a:rPr lang="zh-CN" altLang="en-US" sz="2000" b="1" dirty="0">
                <a:solidFill>
                  <a:srgbClr val="000000"/>
                </a:solidFill>
                <a:latin typeface="Arial" panose="020B0604020202020204" pitchFamily="34" charset="0"/>
                <a:ea typeface="仿宋_GB2312"/>
              </a:rPr>
              <a:t>、设备员在</a:t>
            </a:r>
            <a:r>
              <a:rPr lang="zh-CN" altLang="en-US" sz="2000" b="1" dirty="0">
                <a:solidFill>
                  <a:srgbClr val="FF0000"/>
                </a:solidFill>
                <a:latin typeface="Arial" panose="020B0604020202020204" pitchFamily="34" charset="0"/>
                <a:ea typeface="仿宋_GB2312"/>
              </a:rPr>
              <a:t>没采取任何防护措施的情况下冒险施救，导致事故伤亡扩大。</a:t>
            </a:r>
            <a:r>
              <a:rPr lang="zh-CN" altLang="en-US" sz="2000" dirty="0">
                <a:solidFill>
                  <a:srgbClr val="FF0000"/>
                </a:solidFill>
                <a:latin typeface="Arial" panose="020B0604020202020204" pitchFamily="34" charset="0"/>
                <a:ea typeface="宋体" panose="02010600030101010101" pitchFamily="2" charset="-122"/>
              </a:rPr>
              <a:t> </a:t>
            </a:r>
            <a:endParaRPr lang="zh-CN" altLang="en-US" sz="2000" dirty="0">
              <a:solidFill>
                <a:srgbClr val="FF0000"/>
              </a:solidFill>
              <a:latin typeface="Arial" panose="020B0604020202020204" pitchFamily="34" charset="0"/>
              <a:ea typeface="宋体" panose="02010600030101010101" pitchFamily="2" charset="-122"/>
            </a:endParaRPr>
          </a:p>
        </p:txBody>
      </p:sp>
      <p:pic>
        <p:nvPicPr>
          <p:cNvPr id="27652" name="Picture 2"/>
          <p:cNvPicPr>
            <a:picLocks noChangeAspect="1"/>
          </p:cNvPicPr>
          <p:nvPr/>
        </p:nvPicPr>
        <p:blipFill>
          <a:blip r:embed="rId1"/>
          <a:stretch>
            <a:fillRect/>
          </a:stretch>
        </p:blipFill>
        <p:spPr>
          <a:xfrm>
            <a:off x="6596063" y="1785938"/>
            <a:ext cx="4314825" cy="5072062"/>
          </a:xfrm>
          <a:prstGeom prst="rect">
            <a:avLst/>
          </a:prstGeom>
          <a:noFill/>
          <a:ln w="9525">
            <a:noFill/>
          </a:ln>
        </p:spPr>
      </p:pic>
      <p:pic>
        <p:nvPicPr>
          <p:cNvPr id="27653" name="Picture 3"/>
          <p:cNvPicPr>
            <a:picLocks noChangeAspect="1"/>
          </p:cNvPicPr>
          <p:nvPr/>
        </p:nvPicPr>
        <p:blipFill>
          <a:blip r:embed="rId2"/>
          <a:stretch>
            <a:fillRect/>
          </a:stretch>
        </p:blipFill>
        <p:spPr>
          <a:xfrm>
            <a:off x="2952750" y="357188"/>
            <a:ext cx="2071688" cy="647700"/>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07</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盲板抽堵作业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7983855" cy="512889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1、作业前,危险化学品企业应预先绘制盲板位置图，对盲板进行统一编号，并设专人统一指挥作业。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2、在不同危险化学品企业共用的管道上进行盲板抽堵作业,作业前应告知上下游相关单位。</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3、作业单位应根据管道内介质的性质、温度、压力和管道法兰密封面的口径等选择相应材料、强度、口径和符合设计、制造要求的盲板及垫片,高压盲板使用前应经超声波探伤;盲板选用应符合HG/T 21547或 JB/T 2772 的要求。</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img2.wjw.cn_mbr2007_MBR200719075137628531_PicNatural_IMG200719173805700730.jpg&amp;refer=http___img2.wjw.webp"/>
          <p:cNvPicPr>
            <a:picLocks noChangeAspect="1"/>
          </p:cNvPicPr>
          <p:nvPr/>
        </p:nvPicPr>
        <p:blipFill>
          <a:blip r:embed="rId1"/>
          <a:stretch>
            <a:fillRect/>
          </a:stretch>
        </p:blipFill>
        <p:spPr>
          <a:xfrm>
            <a:off x="8585835" y="2204720"/>
            <a:ext cx="2946400" cy="244856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53085" y="962660"/>
            <a:ext cx="10974070" cy="568896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4、作业单位应按位置图进行盲板抽堵作业,并对每个盲板进行标识,标牌编号应与盲板位置图上的盲板编号一致,危险化学品企业应逐一确认并做好记录。</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5、作业前,应降低系统管道压力至常压,保持作业现场通风良好，并设专人监护。</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6、在火灾爆炸危险场所进行盲板抽堵作业时,作业人员应穿防静电工作服、工作鞋,并使用防爆工具;距盲板抽堵作业地点30 m内不应有动火作业。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7、在强腐蚀性介质的管道、设备上进行盲板抽堵作业时,作业人员应采取防止酸碱化学灼伤的措施。</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68896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8、在介质温度较高或较低、可能造成人员烫伤或冻伤的管道、设备上进行盲板抽堵作业时，作业人员应采取防烫、防冻措施，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9、在有毒介质的管道、设备上进行盲板抽堵作业时,作业人员应按 GB 39800.1的要求选用防护用具。在涉及硫化氢、氯气、氨气、一氧化碳及氰化物等毒性气体的管道、设备上进行作业时,除满足上述要求外,还应佩戴移动式气体检测仪。</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10、不应在同一管道上同时进行两处或两处以上的盲板抽堵作业。</a:t>
            </a:r>
            <a:endPar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11、同一盲板的抽、堵作业,应分别办理盲板抽、堵安全作业票,一张安全作业票只能进行一块盲板的一项作业。</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12、盲板抽堵作业结束,由作业单位和危险化学品企业专人共同确认。</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37185" y="283210"/>
            <a:ext cx="11626215" cy="629158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80035" y="197485"/>
            <a:ext cx="11556365" cy="648398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a:stretch>
            <a:fillRect/>
          </a:stretch>
        </p:blipFill>
        <p:spPr>
          <a:xfrm>
            <a:off x="1296670" y="503555"/>
            <a:ext cx="9653270" cy="5596890"/>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807720" y="514985"/>
            <a:ext cx="10467340" cy="5671185"/>
          </a:xfrm>
          <a:prstGeom prst="rect">
            <a:avLst/>
          </a:prstGeom>
        </p:spPr>
      </p:pic>
    </p:spTree>
  </p:cSld>
  <p:clrMapOvr>
    <a:masterClrMapping/>
  </p:clrMapOvr>
  <p:transition spd="slow" advTm="7202">
    <p:pull/>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advTm="7202">
    <p:pull/>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advTm="7202">
    <p:pull/>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08</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高处作业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68896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1、作业分级</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(1)作业高度h按照 GB/T 3608 分为四个区段：</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2m≦h≦5m；5m&lt;h≦15m；</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15m&lt;h≦30m；h&gt;30m。</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(2)直接引起坠落的客观危险因素主要分为9种:</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 阵风风力五级(风速 8.0 m/s)以上;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 平均气温等于或低于5℃的作业环境;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 接触冷水温度等于或低于12℃的作业;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 作业场地有冰、雪、霜、油、水等易滑物; </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 作业场所光线不足或能见度差;</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14690" name="Picture 2" descr="5790536601414482202531.png"/>
          <p:cNvPicPr>
            <a:picLocks noChangeAspect="1"/>
          </p:cNvPicPr>
          <p:nvPr/>
        </p:nvPicPr>
        <p:blipFill>
          <a:blip r:embed="rId1"/>
          <a:stretch>
            <a:fillRect/>
          </a:stretch>
        </p:blipFill>
        <p:spPr>
          <a:xfrm>
            <a:off x="8006080" y="2955925"/>
            <a:ext cx="3775710" cy="3333750"/>
          </a:xfrm>
          <a:prstGeom prst="rect">
            <a:avLst/>
          </a:prstGeom>
          <a:noFill/>
          <a:ln w="9525">
            <a:noFill/>
          </a:ln>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65087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 作业活动范围与危险电压带电体距离小于表1的规定;</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1"/>
            </p:custDataLst>
          </p:nvPr>
        </p:nvGraphicFramePr>
        <p:xfrm>
          <a:off x="913130" y="2185670"/>
          <a:ext cx="9987280" cy="911225"/>
        </p:xfrm>
        <a:graphic>
          <a:graphicData uri="http://schemas.openxmlformats.org/drawingml/2006/table">
            <a:tbl>
              <a:tblPr firstRow="1" bandRow="1">
                <a:tableStyleId>{5C22544A-7EE6-4342-B048-85BDC9FD1C3A}</a:tableStyleId>
              </a:tblPr>
              <a:tblGrid>
                <a:gridCol w="4819015"/>
                <a:gridCol w="863600"/>
                <a:gridCol w="706120"/>
                <a:gridCol w="1245870"/>
                <a:gridCol w="777240"/>
                <a:gridCol w="762000"/>
                <a:gridCol w="813435"/>
              </a:tblGrid>
              <a:tr h="428625">
                <a:tc>
                  <a:txBody>
                    <a:bodyPr/>
                    <a:lstStyle/>
                    <a:p>
                      <a:pPr algn="ctr">
                        <a:buNone/>
                      </a:pPr>
                      <a:r>
                        <a:rPr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危险电压带电体的电压等级/kV</a:t>
                      </a:r>
                      <a:endParaRPr lang="zh-CN" altLang="en-US"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≤10</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35</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63~110</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220</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330</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a:solidFill>
                            <a:schemeClr val="bg1"/>
                          </a:solidFill>
                          <a:latin typeface="微软雅黑" panose="020B0503020204020204" pitchFamily="34" charset="-122"/>
                          <a:ea typeface="微软雅黑" panose="020B0503020204020204" pitchFamily="34" charset="-122"/>
                          <a:sym typeface="+mn-ea"/>
                        </a:rPr>
                        <a:t>500</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r>
              <a:tr h="482600">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cs typeface="微软雅黑" panose="020B0503020204020204" pitchFamily="34" charset="-122"/>
                          <a:sym typeface="+mn-ea"/>
                        </a:rPr>
                        <a:t>距离/m</a:t>
                      </a:r>
                      <a:endParaRPr sz="2000" b="1">
                        <a:solidFill>
                          <a:schemeClr val="bg1"/>
                        </a:solidFill>
                        <a:highlight>
                          <a:srgbClr val="00008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1.7</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2.0</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2.5</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4.0 </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5.0</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6.0</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r>
            </a:tbl>
          </a:graphicData>
        </a:graphic>
      </p:graphicFrame>
      <p:sp>
        <p:nvSpPr>
          <p:cNvPr id="2" name="文本框 1"/>
          <p:cNvSpPr txBox="1"/>
          <p:nvPr/>
        </p:nvSpPr>
        <p:spPr>
          <a:xfrm>
            <a:off x="3148965" y="1614805"/>
            <a:ext cx="5643245" cy="570865"/>
          </a:xfrm>
          <a:prstGeom prst="rect">
            <a:avLst/>
          </a:prstGeom>
          <a:noFill/>
        </p:spPr>
        <p:txBody>
          <a:bodyPr wrap="none" rtlCol="0" anchor="t">
            <a:spAutoFit/>
          </a:bodyPr>
          <a:lstStyle/>
          <a:p>
            <a:pPr marL="0" algn="l" fontAlgn="auto">
              <a:lnSpc>
                <a:spcPct val="130000"/>
              </a:lnSpc>
              <a:spcBef>
                <a:spcPts val="0"/>
              </a:spcBef>
              <a:buNone/>
            </a:pP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表1 作业活动范围与危险电带电体的距离</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493395" y="3183890"/>
            <a:ext cx="11205845"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 摆动,立足处不是平面或只有很小的平面,即任一边小于500mm 的矩形平面、直径小于 500mm的圆形平面或具有类似尺寸的其他形状的平面,致使作业者无法维持正常姿势;</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 h) 存在有毒气体或空气中含氧量低于19.5%(体积分数)的作业环境;</a:t>
            </a:r>
            <a:endParaRPr lang="zh-CN" sz="2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 i) 可能会引起各种灾害事故的作业环境和抢救突然发生的各种灾害事故。</a:t>
            </a:r>
            <a:endParaRPr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177038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（3）不存在8.1.2 列出的任一种客观危险因素的高处作业按表2规定的A类法分级，存在8.1.2列出的一种或一种以上客观危险因素的高处作业按表2规定的B类法分级。</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4574540" y="2886075"/>
            <a:ext cx="2504440" cy="501650"/>
          </a:xfrm>
          <a:prstGeom prst="rect">
            <a:avLst/>
          </a:prstGeom>
          <a:noFill/>
        </p:spPr>
        <p:txBody>
          <a:bodyPr wrap="none" rtlCol="0" anchor="t">
            <a:spAutoFit/>
          </a:bodyPr>
          <a:lstStyle/>
          <a:p>
            <a:pPr marL="0" algn="l">
              <a:lnSpc>
                <a:spcPts val="3200"/>
              </a:lnSpc>
              <a:spcBef>
                <a:spcPts val="600"/>
              </a:spcBef>
              <a:buNone/>
            </a:pP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表2高处作业分级</a:t>
            </a:r>
            <a:endParaRPr lang="zh-CN" sz="24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p:nvPr>
            <p:custDataLst>
              <p:tags r:id="rId1"/>
            </p:custDataLst>
          </p:nvPr>
        </p:nvGraphicFramePr>
        <p:xfrm>
          <a:off x="939165" y="3546475"/>
          <a:ext cx="10700385" cy="1809750"/>
        </p:xfrm>
        <a:graphic>
          <a:graphicData uri="http://schemas.openxmlformats.org/drawingml/2006/table">
            <a:tbl>
              <a:tblPr firstRow="1" bandRow="1">
                <a:tableStyleId>{5C22544A-7EE6-4342-B048-85BDC9FD1C3A}</a:tableStyleId>
              </a:tblPr>
              <a:tblGrid>
                <a:gridCol w="2588260"/>
                <a:gridCol w="2064385"/>
                <a:gridCol w="2359025"/>
                <a:gridCol w="2120265"/>
                <a:gridCol w="1568450"/>
              </a:tblGrid>
              <a:tr h="518795">
                <a:tc rowSpan="2">
                  <a:txBody>
                    <a:bodyPr/>
                    <a:lstStyle/>
                    <a:p>
                      <a:pPr algn="ctr">
                        <a:buNone/>
                      </a:pPr>
                      <a:r>
                        <a:rPr sz="2000">
                          <a:latin typeface="微软雅黑" panose="020B0503020204020204" pitchFamily="34" charset="-122"/>
                          <a:ea typeface="微软雅黑" panose="020B0503020204020204" pitchFamily="34" charset="-122"/>
                          <a:sym typeface="+mn-ea"/>
                        </a:rPr>
                        <a:t>分类法</a:t>
                      </a:r>
                      <a:endParaRPr lang="zh-CN" altLang="en-US" sz="2000">
                        <a:solidFill>
                          <a:schemeClr val="bg1"/>
                        </a:solidFill>
                        <a:latin typeface="微软雅黑" panose="020B0503020204020204" pitchFamily="34" charset="-122"/>
                        <a:ea typeface="微软雅黑" panose="020B0503020204020204" pitchFamily="34" charset="-122"/>
                        <a:sym typeface="+mn-ea"/>
                      </a:endParaRPr>
                    </a:p>
                  </a:txBody>
                  <a:tcPr/>
                </a:tc>
                <a:tc gridSpan="4">
                  <a:txBody>
                    <a:bodyPr/>
                    <a:lstStyle/>
                    <a:p>
                      <a:pPr algn="ctr">
                        <a:buNone/>
                      </a:pPr>
                      <a:r>
                        <a:rPr sz="2000">
                          <a:latin typeface="微软雅黑" panose="020B0503020204020204" pitchFamily="34" charset="-122"/>
                          <a:ea typeface="微软雅黑" panose="020B0503020204020204" pitchFamily="34" charset="-122"/>
                          <a:cs typeface="微软雅黑" panose="020B0503020204020204" pitchFamily="34" charset="-122"/>
                          <a:sym typeface="+mn-ea"/>
                        </a:rPr>
                        <a:t>高处作业高度/m</a:t>
                      </a:r>
                      <a:endParaRPr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c hMerge="1">
                  <a:tcPr/>
                </a:tc>
                <a:tc hMerge="1">
                  <a:tcPr/>
                </a:tc>
                <a:tc hMerge="1">
                  <a:tcPr/>
                </a:tc>
              </a:tr>
              <a:tr h="430530">
                <a:tc vMerge="1">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2≤h≤5</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5&lt;h≤15</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15&lt;h≤30</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sz="2000" b="1">
                          <a:solidFill>
                            <a:schemeClr val="bg1"/>
                          </a:solidFill>
                          <a:highlight>
                            <a:srgbClr val="000080"/>
                          </a:highlight>
                          <a:latin typeface="微软雅黑" panose="020B0503020204020204" pitchFamily="34" charset="-122"/>
                          <a:ea typeface="微软雅黑" panose="020B0503020204020204" pitchFamily="34" charset="-122"/>
                          <a:sym typeface="+mn-ea"/>
                        </a:rPr>
                        <a:t>h&gt;30 </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r>
              <a:tr h="429895">
                <a:tc>
                  <a:txBody>
                    <a:bodyPr/>
                    <a:lstStyle/>
                    <a:p>
                      <a:pPr algn="ctr">
                        <a:buNone/>
                      </a:pPr>
                      <a:r>
                        <a:rPr lang="en-US" altLang="zh-CN" sz="2000" b="1">
                          <a:solidFill>
                            <a:schemeClr val="bg1"/>
                          </a:solidFill>
                          <a:highlight>
                            <a:srgbClr val="000080"/>
                          </a:highlight>
                          <a:latin typeface="微软雅黑" panose="020B0503020204020204" pitchFamily="34" charset="-122"/>
                          <a:ea typeface="微软雅黑" panose="020B0503020204020204" pitchFamily="34" charset="-122"/>
                          <a:sym typeface="+mn-ea"/>
                        </a:rPr>
                        <a:t>A</a:t>
                      </a:r>
                      <a:endParaRPr lang="en-US" altLang="zh-CN"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一</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二</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三</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四</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r>
              <a:tr h="430530">
                <a:tc>
                  <a:txBody>
                    <a:bodyPr/>
                    <a:lstStyle/>
                    <a:p>
                      <a:pPr algn="ctr">
                        <a:buNone/>
                      </a:pPr>
                      <a:r>
                        <a:rPr lang="en-US" altLang="zh-CN" sz="2000" b="1">
                          <a:solidFill>
                            <a:schemeClr val="bg1"/>
                          </a:solidFill>
                          <a:highlight>
                            <a:srgbClr val="000080"/>
                          </a:highlight>
                          <a:latin typeface="微软雅黑" panose="020B0503020204020204" pitchFamily="34" charset="-122"/>
                          <a:ea typeface="微软雅黑" panose="020B0503020204020204" pitchFamily="34" charset="-122"/>
                          <a:sym typeface="+mn-ea"/>
                        </a:rPr>
                        <a:t>B</a:t>
                      </a:r>
                      <a:endParaRPr lang="en-US" altLang="zh-CN"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二</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三</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四</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c>
                  <a:txBody>
                    <a:bodyPr/>
                    <a:lstStyle/>
                    <a:p>
                      <a:pPr algn="ctr">
                        <a:buNone/>
                      </a:pPr>
                      <a:r>
                        <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rPr>
                        <a:t>四</a:t>
                      </a:r>
                      <a:endParaRPr lang="zh-CN" altLang="en-US" sz="2000" b="1">
                        <a:solidFill>
                          <a:schemeClr val="bg1"/>
                        </a:solidFill>
                        <a:highlight>
                          <a:srgbClr val="000080"/>
                        </a:highlight>
                        <a:latin typeface="微软雅黑" panose="020B0503020204020204" pitchFamily="34" charset="-122"/>
                        <a:ea typeface="微软雅黑" panose="020B0503020204020204" pitchFamily="34" charset="-122"/>
                        <a:sym typeface="+mn-ea"/>
                      </a:endParaRPr>
                    </a:p>
                  </a:txBody>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7491730" cy="568896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（1）高处作业人员应正确佩戴符合GB</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6095要求的安全带及符合GB24543要求的安全绳，30m以上高处作业应配备通信联络工具。</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（2）高处作业应设专人监护，作业人员不应在作业处休息。</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（3）应根据实际需要配备符合安全要求的作业平台、吊笼、梯子、挡脚板、跳板等;脚手架的搭设、拆除和使用应符合GB</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51210等有关标准要求。</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7984490" y="2336165"/>
            <a:ext cx="3710305" cy="294386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92785" y="1631315"/>
            <a:ext cx="10936605" cy="4302760"/>
          </a:xfrm>
          <a:prstGeom prst="rect">
            <a:avLst/>
          </a:prstGeom>
          <a:noFill/>
          <a:ln w="9525">
            <a:noFill/>
          </a:ln>
        </p:spPr>
        <p:txBody>
          <a:bodyPr wrap="square">
            <a:spAutoFit/>
          </a:bodyPr>
          <a:lstStyle/>
          <a:p>
            <a:pPr marL="0" algn="l" fontAlgn="auto">
              <a:lnSpc>
                <a:spcPct val="12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高处作业人员不应站在不牢固的结构物上进行作业:在彩钢板屋顶、石棉瓦、瓦棱板等轻型材料上作业，应铺设牢固的脚手板并加以固定，脚手板上要有防滑措施;不应在未固定，无防护设施的构件及管道上进行作业或通行。</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20000"/>
              </a:lnSpc>
              <a:spcBef>
                <a:spcPts val="60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在邻近排放有毒、有害气体、粉尘的放空管线或烟囱等场所进行作业时，应预先与作业属地生产人员取得联系，并采取有效的安全防护措施，作业人员应配备必要的符合国家相关标准的防护装备(如隔绝式呼吸防护装备、过滤式防毒面具或口罩等)。</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4009390"/>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雨天和雪天作业时，应采取可靠的防滑、防寒措施，遇有五级风以上(含五级风)、浓雾等恶劣天气，不应进行高处作业、露天攀登与悬空高处作业;暴风雪、台风、暴雨后，应对作业安全设施进行检查，发现问题立即处理。</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（7）作业使用的工具、材料、零件等应装入工具袋，上下时手中不应持物，不应投掷工具、材料及其他物品；易滑动、易滚动的工具、材料堆放在脚手架上时,应采取防坠落措施。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12889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（8）在同一坠落方向上，一般不应进行上下交叉作业，如需进行交叉作业,中间应设置安全防护层，坠落高度超过24m的交叉作业，应设双层防护。</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（9）因作业需要，须临时拆除或变动作业对象的安全防护设施时，应经作业审批人员同意，并采取相应的防护措施,作业后应及时恢复。</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（10）拆除脚手架,防护棚时，应设警戒并派专人监护，不应上下同时施工。</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（11）安全作业票的有效期最长为7天。当作业中断，再次作业前，应重新对环境条件和安全措施进行确认。</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9090" name="Picture 5" descr="P1030940"/>
          <p:cNvPicPr>
            <a:picLocks noChangeAspect="1"/>
          </p:cNvPicPr>
          <p:nvPr/>
        </p:nvPicPr>
        <p:blipFill>
          <a:blip r:embed="rId1"/>
          <a:stretch>
            <a:fillRect/>
          </a:stretch>
        </p:blipFill>
        <p:spPr>
          <a:xfrm>
            <a:off x="1992313" y="1268413"/>
            <a:ext cx="3881437" cy="2508250"/>
          </a:xfrm>
          <a:prstGeom prst="rect">
            <a:avLst/>
          </a:prstGeom>
          <a:noFill/>
          <a:ln w="9525">
            <a:noFill/>
          </a:ln>
        </p:spPr>
      </p:pic>
      <p:pic>
        <p:nvPicPr>
          <p:cNvPr id="89091" name="Picture 6" descr="P1030935"/>
          <p:cNvPicPr>
            <a:picLocks noChangeAspect="1"/>
          </p:cNvPicPr>
          <p:nvPr/>
        </p:nvPicPr>
        <p:blipFill>
          <a:blip r:embed="rId2"/>
          <a:stretch>
            <a:fillRect/>
          </a:stretch>
        </p:blipFill>
        <p:spPr>
          <a:xfrm>
            <a:off x="1992313" y="4076700"/>
            <a:ext cx="3898900" cy="2419350"/>
          </a:xfrm>
          <a:prstGeom prst="rect">
            <a:avLst/>
          </a:prstGeom>
          <a:noFill/>
          <a:ln w="9525">
            <a:noFill/>
          </a:ln>
        </p:spPr>
      </p:pic>
      <p:sp>
        <p:nvSpPr>
          <p:cNvPr id="89092" name="Text Box 4"/>
          <p:cNvSpPr txBox="1"/>
          <p:nvPr/>
        </p:nvSpPr>
        <p:spPr>
          <a:xfrm>
            <a:off x="6311900" y="1225550"/>
            <a:ext cx="3671888" cy="1590040"/>
          </a:xfrm>
          <a:prstGeom prst="rect">
            <a:avLst/>
          </a:prstGeom>
          <a:noFill/>
          <a:ln w="28575">
            <a:noFill/>
          </a:ln>
        </p:spPr>
        <p:txBody>
          <a:bodyPr lIns="0" tIns="0" rIns="0" bIns="0" anchor="t" anchorCtr="1">
            <a:spAutoFit/>
          </a:bodyPr>
          <a:p>
            <a:pPr defTabSz="1371600">
              <a:lnSpc>
                <a:spcPct val="115000"/>
              </a:lnSpc>
              <a:spcBef>
                <a:spcPct val="10000"/>
              </a:spcBef>
            </a:pPr>
            <a:r>
              <a:rPr lang="en-US" altLang="zh-CN" b="1" dirty="0">
                <a:latin typeface="楷体_GB2312"/>
                <a:ea typeface="楷体_GB2312"/>
              </a:rPr>
              <a:t>2012</a:t>
            </a:r>
            <a:r>
              <a:rPr lang="zh-CN" altLang="en-US" b="1" dirty="0">
                <a:latin typeface="楷体_GB2312"/>
                <a:ea typeface="楷体_GB2312"/>
              </a:rPr>
              <a:t>年</a:t>
            </a:r>
            <a:r>
              <a:rPr lang="en-US" altLang="zh-CN" b="1" dirty="0">
                <a:latin typeface="楷体_GB2312"/>
                <a:ea typeface="楷体_GB2312"/>
              </a:rPr>
              <a:t>4</a:t>
            </a:r>
            <a:r>
              <a:rPr lang="zh-CN" altLang="en-US" b="1" dirty="0">
                <a:latin typeface="楷体_GB2312"/>
                <a:ea typeface="楷体_GB2312"/>
              </a:rPr>
              <a:t>月</a:t>
            </a:r>
            <a:r>
              <a:rPr lang="en-US" altLang="zh-CN" b="1" dirty="0">
                <a:latin typeface="楷体_GB2312"/>
                <a:ea typeface="楷体_GB2312"/>
              </a:rPr>
              <a:t>15</a:t>
            </a:r>
            <a:r>
              <a:rPr lang="zh-CN" altLang="en-US" b="1" dirty="0">
                <a:latin typeface="楷体_GB2312"/>
                <a:ea typeface="楷体_GB2312"/>
              </a:rPr>
              <a:t>日，某公司员工在新建硫磺造粒厂房铺设压型钢板时，</a:t>
            </a:r>
            <a:r>
              <a:rPr lang="zh-CN" altLang="en-US" b="1" dirty="0">
                <a:latin typeface="仿宋_GB2312"/>
                <a:ea typeface="仿宋_GB2312"/>
              </a:rPr>
              <a:t>未系安全带，压型钢板受压变形，与钢梁搭接处脱开，</a:t>
            </a:r>
            <a:r>
              <a:rPr lang="zh-CN" altLang="en-US" b="1" dirty="0">
                <a:latin typeface="楷体_GB2312"/>
                <a:ea typeface="楷体_GB2312"/>
              </a:rPr>
              <a:t>杨某从房顶坠落到二层平台（落差</a:t>
            </a:r>
            <a:r>
              <a:rPr lang="en-US" altLang="zh-CN" b="1" dirty="0">
                <a:latin typeface="楷体_GB2312"/>
                <a:ea typeface="楷体_GB2312"/>
              </a:rPr>
              <a:t>10.65</a:t>
            </a:r>
            <a:r>
              <a:rPr lang="zh-CN" altLang="en-US" b="1" dirty="0">
                <a:latin typeface="楷体_GB2312"/>
                <a:ea typeface="楷体_GB2312"/>
              </a:rPr>
              <a:t>米）死亡。</a:t>
            </a:r>
            <a:endParaRPr lang="zh-CN" altLang="en-US" b="1" dirty="0">
              <a:latin typeface="楷体_GB2312"/>
              <a:ea typeface="楷体_GB2312"/>
            </a:endParaRPr>
          </a:p>
        </p:txBody>
      </p:sp>
      <p:sp>
        <p:nvSpPr>
          <p:cNvPr id="89093" name="Rectangle 6"/>
          <p:cNvSpPr/>
          <p:nvPr/>
        </p:nvSpPr>
        <p:spPr>
          <a:xfrm>
            <a:off x="6456363" y="4076700"/>
            <a:ext cx="309880" cy="368300"/>
          </a:xfrm>
          <a:prstGeom prst="rect">
            <a:avLst/>
          </a:prstGeom>
          <a:noFill/>
          <a:ln w="9525">
            <a:noFill/>
          </a:ln>
        </p:spPr>
        <p:txBody>
          <a:bodyPr wrap="none">
            <a:spAutoFit/>
          </a:bodyPr>
          <a:p>
            <a:endParaRPr lang="zh-CN" altLang="en-US" sz="1800" b="1" dirty="0">
              <a:latin typeface="仿宋_GB2312"/>
              <a:ea typeface="仿宋_GB2312"/>
            </a:endParaRPr>
          </a:p>
        </p:txBody>
      </p:sp>
      <p:sp>
        <p:nvSpPr>
          <p:cNvPr id="89094" name="Rectangle 7"/>
          <p:cNvSpPr/>
          <p:nvPr/>
        </p:nvSpPr>
        <p:spPr>
          <a:xfrm>
            <a:off x="6059488" y="4724400"/>
            <a:ext cx="4284662" cy="922020"/>
          </a:xfrm>
          <a:prstGeom prst="rect">
            <a:avLst/>
          </a:prstGeom>
          <a:noFill/>
          <a:ln w="9525">
            <a:noFill/>
          </a:ln>
        </p:spPr>
        <p:txBody>
          <a:bodyPr>
            <a:spAutoFit/>
          </a:bodyPr>
          <a:p>
            <a:r>
              <a:rPr lang="zh-CN" altLang="en-US" b="1" dirty="0">
                <a:solidFill>
                  <a:srgbClr val="FF0000"/>
                </a:solidFill>
                <a:latin typeface="黑体" panose="02010609060101010101" pitchFamily="49" charset="-122"/>
                <a:ea typeface="黑体" panose="02010609060101010101" pitchFamily="49" charset="-122"/>
              </a:rPr>
              <a:t>在彩钢板屋顶、石棉瓦、瓦棱板等轻型材料上作业</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应铺设牢固的脚手板并加以固定</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脚手板上要有防滑措施。</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4" name="图片 2"/>
          <p:cNvPicPr>
            <a:picLocks noChangeAspect="1"/>
          </p:cNvPicPr>
          <p:nvPr/>
        </p:nvPicPr>
        <p:blipFill>
          <a:blip r:embed="rId1"/>
          <a:stretch>
            <a:fillRect/>
          </a:stretch>
        </p:blipFill>
        <p:spPr>
          <a:xfrm>
            <a:off x="1847850" y="1412875"/>
            <a:ext cx="4537075" cy="4733925"/>
          </a:xfrm>
          <a:prstGeom prst="rect">
            <a:avLst/>
          </a:prstGeom>
          <a:noFill/>
          <a:ln w="9525">
            <a:noFill/>
          </a:ln>
        </p:spPr>
      </p:pic>
      <p:sp>
        <p:nvSpPr>
          <p:cNvPr id="90115" name="矩形标注 3"/>
          <p:cNvSpPr/>
          <p:nvPr/>
        </p:nvSpPr>
        <p:spPr>
          <a:xfrm>
            <a:off x="1992313" y="1484313"/>
            <a:ext cx="1223962" cy="325437"/>
          </a:xfrm>
          <a:prstGeom prst="wedgeRectCallout">
            <a:avLst>
              <a:gd name="adj1" fmla="val 188037"/>
              <a:gd name="adj2" fmla="val 474870"/>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Calibri" panose="020F0502020204030204" pitchFamily="34" charset="0"/>
                <a:ea typeface="黑体" panose="02010609060101010101" pitchFamily="49" charset="-122"/>
              </a:rPr>
              <a:t>球罐外部</a:t>
            </a:r>
            <a:endParaRPr lang="zh-CN" altLang="en-US" sz="1800" b="1" dirty="0">
              <a:latin typeface="Calibri" panose="020F0502020204030204" pitchFamily="34" charset="0"/>
              <a:ea typeface="黑体" panose="02010609060101010101" pitchFamily="49" charset="-122"/>
            </a:endParaRPr>
          </a:p>
        </p:txBody>
      </p:sp>
      <p:sp>
        <p:nvSpPr>
          <p:cNvPr id="90116" name="Rectangle 5"/>
          <p:cNvSpPr/>
          <p:nvPr/>
        </p:nvSpPr>
        <p:spPr>
          <a:xfrm>
            <a:off x="6672263" y="1844675"/>
            <a:ext cx="3095625" cy="1476375"/>
          </a:xfrm>
          <a:prstGeom prst="rect">
            <a:avLst/>
          </a:prstGeom>
          <a:noFill/>
          <a:ln w="9525">
            <a:noFill/>
          </a:ln>
        </p:spPr>
        <p:txBody>
          <a:bodyPr>
            <a:spAutoFit/>
          </a:bodyPr>
          <a:p>
            <a:r>
              <a:rPr lang="en-US" altLang="zh-CN" sz="1800" b="1" dirty="0">
                <a:latin typeface="仿宋_GB2312"/>
                <a:ea typeface="仿宋_GB2312"/>
              </a:rPr>
              <a:t>2014</a:t>
            </a:r>
            <a:r>
              <a:rPr lang="zh-CN" altLang="en-US" sz="1800" b="1" dirty="0">
                <a:latin typeface="仿宋_GB2312"/>
                <a:ea typeface="仿宋_GB2312"/>
              </a:rPr>
              <a:t>年</a:t>
            </a:r>
            <a:r>
              <a:rPr lang="en-US" altLang="zh-CN" sz="1800" b="1" dirty="0">
                <a:latin typeface="仿宋_GB2312"/>
                <a:ea typeface="仿宋_GB2312"/>
              </a:rPr>
              <a:t>4</a:t>
            </a:r>
            <a:r>
              <a:rPr lang="zh-CN" altLang="zh-CN" sz="1800" b="1" dirty="0">
                <a:latin typeface="仿宋_GB2312"/>
                <a:ea typeface="仿宋_GB2312"/>
              </a:rPr>
              <a:t>月</a:t>
            </a:r>
            <a:r>
              <a:rPr lang="en-US" altLang="zh-CN" sz="1800" b="1" dirty="0">
                <a:latin typeface="仿宋_GB2312"/>
                <a:ea typeface="仿宋_GB2312"/>
              </a:rPr>
              <a:t>28</a:t>
            </a:r>
            <a:r>
              <a:rPr lang="zh-CN" altLang="zh-CN" sz="1800" b="1" dirty="0">
                <a:latin typeface="仿宋_GB2312"/>
                <a:ea typeface="仿宋_GB2312"/>
              </a:rPr>
              <a:t>日上午，</a:t>
            </a:r>
            <a:r>
              <a:rPr lang="zh-CN" altLang="en-US" sz="1800" b="1" dirty="0">
                <a:latin typeface="仿宋_GB2312"/>
                <a:ea typeface="仿宋_GB2312"/>
              </a:rPr>
              <a:t>某公司</a:t>
            </a:r>
            <a:r>
              <a:rPr lang="en-US" altLang="zh-CN" sz="1800" b="1" dirty="0">
                <a:latin typeface="仿宋_GB2312"/>
                <a:ea typeface="仿宋_GB2312"/>
              </a:rPr>
              <a:t>12</a:t>
            </a:r>
            <a:r>
              <a:rPr lang="zh-CN" altLang="zh-CN" sz="1800" b="1" dirty="0">
                <a:latin typeface="仿宋_GB2312"/>
                <a:ea typeface="仿宋_GB2312"/>
              </a:rPr>
              <a:t>名作业人员进入球罐内部焊接作业，罐体中部脚手架突然坍塌，导致</a:t>
            </a:r>
            <a:r>
              <a:rPr lang="en-US" altLang="zh-CN" sz="1800" b="1" dirty="0">
                <a:latin typeface="仿宋_GB2312"/>
                <a:ea typeface="仿宋_GB2312"/>
              </a:rPr>
              <a:t>5</a:t>
            </a:r>
            <a:r>
              <a:rPr lang="zh-CN" altLang="zh-CN" sz="1800" b="1" dirty="0">
                <a:latin typeface="仿宋_GB2312"/>
                <a:ea typeface="仿宋_GB2312"/>
              </a:rPr>
              <a:t>人死亡，</a:t>
            </a:r>
            <a:r>
              <a:rPr lang="en-US" altLang="zh-CN" sz="1800" b="1" dirty="0">
                <a:latin typeface="仿宋_GB2312"/>
                <a:ea typeface="仿宋_GB2312"/>
              </a:rPr>
              <a:t>6</a:t>
            </a:r>
            <a:r>
              <a:rPr lang="zh-CN" altLang="zh-CN" sz="1800" b="1" dirty="0">
                <a:latin typeface="仿宋_GB2312"/>
                <a:ea typeface="仿宋_GB2312"/>
              </a:rPr>
              <a:t>人受伤。</a:t>
            </a:r>
            <a:endParaRPr lang="en-US" altLang="zh-CN" sz="1800" b="1" dirty="0">
              <a:latin typeface="仿宋_GB2312"/>
              <a:ea typeface="仿宋_GB2312"/>
            </a:endParaRPr>
          </a:p>
        </p:txBody>
      </p:sp>
      <p:sp>
        <p:nvSpPr>
          <p:cNvPr id="90117" name="Rectangle 6"/>
          <p:cNvSpPr/>
          <p:nvPr/>
        </p:nvSpPr>
        <p:spPr>
          <a:xfrm>
            <a:off x="6743700" y="3933825"/>
            <a:ext cx="3097213" cy="922020"/>
          </a:xfrm>
          <a:prstGeom prst="rect">
            <a:avLst/>
          </a:prstGeom>
          <a:noFill/>
          <a:ln w="9525">
            <a:noFill/>
          </a:ln>
        </p:spPr>
        <p:txBody>
          <a:bodyPr>
            <a:spAutoFit/>
          </a:bodyPr>
          <a:p>
            <a:r>
              <a:rPr lang="zh-CN" altLang="zh-CN" b="1" dirty="0">
                <a:solidFill>
                  <a:srgbClr val="FF0000"/>
                </a:solidFill>
                <a:latin typeface="仿宋_GB2312"/>
                <a:ea typeface="仿宋_GB2312"/>
              </a:rPr>
              <a:t>脚手架搭设不规范，脚手架的管材、扣件等质量不</a:t>
            </a:r>
            <a:r>
              <a:rPr lang="zh-CN" altLang="en-US" b="1" dirty="0">
                <a:solidFill>
                  <a:srgbClr val="FF0000"/>
                </a:solidFill>
                <a:latin typeface="仿宋_GB2312"/>
                <a:ea typeface="仿宋_GB2312"/>
              </a:rPr>
              <a:t>满足</a:t>
            </a:r>
            <a:r>
              <a:rPr lang="zh-CN" altLang="zh-CN" b="1" dirty="0">
                <a:solidFill>
                  <a:srgbClr val="FF0000"/>
                </a:solidFill>
                <a:latin typeface="仿宋_GB2312"/>
                <a:ea typeface="仿宋_GB2312"/>
              </a:rPr>
              <a:t>要求</a:t>
            </a:r>
            <a:r>
              <a:rPr lang="zh-CN" altLang="en-US" b="1" dirty="0">
                <a:solidFill>
                  <a:srgbClr val="FF0000"/>
                </a:solidFill>
                <a:latin typeface="仿宋_GB2312"/>
                <a:ea typeface="仿宋_GB2312"/>
              </a:rPr>
              <a:t>。</a:t>
            </a:r>
            <a:endParaRPr lang="en-US" altLang="zh-CN" b="1" dirty="0">
              <a:solidFill>
                <a:srgbClr val="FF0000"/>
              </a:solidFill>
              <a:latin typeface="仿宋_GB2312"/>
              <a:ea typeface="仿宋_GB231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1138" name="图片 4"/>
          <p:cNvPicPr>
            <a:picLocks noChangeAspect="1"/>
          </p:cNvPicPr>
          <p:nvPr/>
        </p:nvPicPr>
        <p:blipFill>
          <a:blip r:embed="rId1"/>
          <a:stretch>
            <a:fillRect/>
          </a:stretch>
        </p:blipFill>
        <p:spPr>
          <a:xfrm>
            <a:off x="2238375" y="1643063"/>
            <a:ext cx="3787775" cy="2447925"/>
          </a:xfrm>
          <a:prstGeom prst="rect">
            <a:avLst/>
          </a:prstGeom>
          <a:noFill/>
          <a:ln w="9525">
            <a:noFill/>
          </a:ln>
        </p:spPr>
      </p:pic>
      <p:sp>
        <p:nvSpPr>
          <p:cNvPr id="91139" name="矩形标注 5"/>
          <p:cNvSpPr/>
          <p:nvPr/>
        </p:nvSpPr>
        <p:spPr>
          <a:xfrm>
            <a:off x="1738313" y="1357313"/>
            <a:ext cx="1728787" cy="792162"/>
          </a:xfrm>
          <a:prstGeom prst="wedgeRectCallout">
            <a:avLst>
              <a:gd name="adj1" fmla="val 63889"/>
              <a:gd name="adj2" fmla="val 122778"/>
            </a:avLst>
          </a:prstGeom>
          <a:solidFill>
            <a:srgbClr val="FFFFFF"/>
          </a:solidFill>
          <a:ln w="9525" cap="flat" cmpd="sng">
            <a:solidFill>
              <a:srgbClr val="FF0000"/>
            </a:solidFill>
            <a:prstDash val="solid"/>
            <a:round/>
            <a:headEnd type="none" w="med" len="med"/>
            <a:tailEnd type="none" w="med" len="med"/>
          </a:ln>
        </p:spPr>
        <p:txBody>
          <a:bodyPr/>
          <a:p>
            <a:pPr algn="just"/>
            <a:r>
              <a:rPr lang="zh-CN" altLang="zh-CN" sz="1800" b="1" dirty="0">
                <a:latin typeface="Calibri" panose="020F0502020204030204" pitchFamily="34" charset="0"/>
                <a:ea typeface="仿宋_GB2312"/>
              </a:rPr>
              <a:t>脚手架钢管严重锈蚀、减薄，断裂</a:t>
            </a:r>
            <a:endParaRPr lang="zh-CN" altLang="zh-CN" sz="1800" b="1" dirty="0">
              <a:latin typeface="黑体" panose="02010609060101010101" pitchFamily="49" charset="-122"/>
              <a:ea typeface="黑体" panose="02010609060101010101" pitchFamily="49" charset="-122"/>
            </a:endParaRPr>
          </a:p>
        </p:txBody>
      </p:sp>
      <p:pic>
        <p:nvPicPr>
          <p:cNvPr id="91140" name="图片 4"/>
          <p:cNvPicPr>
            <a:picLocks noChangeAspect="1"/>
          </p:cNvPicPr>
          <p:nvPr/>
        </p:nvPicPr>
        <p:blipFill>
          <a:blip r:embed="rId2"/>
          <a:stretch>
            <a:fillRect/>
          </a:stretch>
        </p:blipFill>
        <p:spPr>
          <a:xfrm>
            <a:off x="2279650" y="4286250"/>
            <a:ext cx="3859213" cy="1951038"/>
          </a:xfrm>
          <a:prstGeom prst="rect">
            <a:avLst/>
          </a:prstGeom>
          <a:noFill/>
          <a:ln w="9525">
            <a:noFill/>
          </a:ln>
        </p:spPr>
      </p:pic>
      <p:pic>
        <p:nvPicPr>
          <p:cNvPr id="91141" name="图片 2"/>
          <p:cNvPicPr>
            <a:picLocks noChangeAspect="1"/>
          </p:cNvPicPr>
          <p:nvPr/>
        </p:nvPicPr>
        <p:blipFill>
          <a:blip r:embed="rId3"/>
          <a:stretch>
            <a:fillRect/>
          </a:stretch>
        </p:blipFill>
        <p:spPr>
          <a:xfrm>
            <a:off x="6311900" y="4357688"/>
            <a:ext cx="3960813" cy="1806575"/>
          </a:xfrm>
          <a:prstGeom prst="rect">
            <a:avLst/>
          </a:prstGeom>
          <a:noFill/>
          <a:ln w="9525">
            <a:noFill/>
          </a:ln>
        </p:spPr>
      </p:pic>
      <p:pic>
        <p:nvPicPr>
          <p:cNvPr id="91142" name="图片 2"/>
          <p:cNvPicPr>
            <a:picLocks noChangeAspect="1"/>
          </p:cNvPicPr>
          <p:nvPr/>
        </p:nvPicPr>
        <p:blipFill>
          <a:blip r:embed="rId4"/>
          <a:stretch>
            <a:fillRect/>
          </a:stretch>
        </p:blipFill>
        <p:spPr>
          <a:xfrm>
            <a:off x="6238875" y="1714500"/>
            <a:ext cx="4032250" cy="2303463"/>
          </a:xfrm>
          <a:prstGeom prst="rect">
            <a:avLst/>
          </a:prstGeom>
          <a:noFill/>
          <a:ln w="9525">
            <a:noFill/>
          </a:ln>
        </p:spPr>
      </p:pic>
      <p:sp>
        <p:nvSpPr>
          <p:cNvPr id="91143" name="矩形标注 4"/>
          <p:cNvSpPr/>
          <p:nvPr/>
        </p:nvSpPr>
        <p:spPr>
          <a:xfrm>
            <a:off x="7667625" y="1500188"/>
            <a:ext cx="1727200" cy="431800"/>
          </a:xfrm>
          <a:prstGeom prst="wedgeRectCallout">
            <a:avLst>
              <a:gd name="adj1" fmla="val -1625"/>
              <a:gd name="adj2" fmla="val 277778"/>
            </a:avLst>
          </a:prstGeom>
          <a:solidFill>
            <a:srgbClr val="FFFFFF"/>
          </a:solidFill>
          <a:ln w="9525" cap="flat" cmpd="sng">
            <a:solidFill>
              <a:srgbClr val="FF0000"/>
            </a:solidFill>
            <a:prstDash val="solid"/>
            <a:round/>
            <a:headEnd type="none" w="med" len="med"/>
            <a:tailEnd type="none" w="med" len="med"/>
          </a:ln>
        </p:spPr>
        <p:txBody>
          <a:bodyPr/>
          <a:p>
            <a:pPr algn="ctr">
              <a:buNone/>
            </a:pPr>
            <a:r>
              <a:rPr lang="zh-CN" altLang="zh-CN" sz="1800" b="1" dirty="0">
                <a:latin typeface="黑体" panose="02010609060101010101" pitchFamily="49" charset="-122"/>
                <a:ea typeface="黑体" panose="02010609060101010101" pitchFamily="49" charset="-122"/>
              </a:rPr>
              <a:t>大量扣件断裂</a:t>
            </a:r>
            <a:endParaRPr lang="zh-CN" altLang="zh-CN"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97915" y="561975"/>
            <a:ext cx="9872980" cy="573405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565785" y="657225"/>
            <a:ext cx="11142980" cy="554355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824865" y="416560"/>
            <a:ext cx="10480675" cy="579310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995680" y="785495"/>
            <a:ext cx="9389110" cy="555180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09</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吊装作业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5148580" cy="65087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1、作业分级</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557530" y="1795145"/>
            <a:ext cx="6174105" cy="65087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吊装作业按照吊物质量m不同分为: </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7" name="组合 6"/>
          <p:cNvGrpSpPr/>
          <p:nvPr/>
        </p:nvGrpSpPr>
        <p:grpSpPr>
          <a:xfrm>
            <a:off x="1105535" y="2416810"/>
            <a:ext cx="8693150" cy="3863975"/>
            <a:chOff x="1741" y="3806"/>
            <a:chExt cx="13690" cy="6085"/>
          </a:xfrm>
        </p:grpSpPr>
        <p:sp>
          <p:nvSpPr>
            <p:cNvPr id="6" name="等腰三角形 5"/>
            <p:cNvSpPr>
              <a:spLocks noChangeAspect="1" noChangeArrowheads="1"/>
            </p:cNvSpPr>
            <p:nvPr/>
          </p:nvSpPr>
          <p:spPr bwMode="auto">
            <a:xfrm rot="5400000" flipV="1">
              <a:off x="10770" y="4776"/>
              <a:ext cx="356" cy="307"/>
            </a:xfrm>
            <a:prstGeom prst="triangle">
              <a:avLst>
                <a:gd name="adj" fmla="val 50000"/>
              </a:avLst>
            </a:prstGeom>
            <a:solidFill>
              <a:srgbClr val="C00000"/>
            </a:solidFill>
            <a:ln>
              <a:noFill/>
            </a:ln>
          </p:spPr>
          <p:txBody>
            <a:bodyPr lIns="86392" tIns="43197" rIns="86392" bIns="43197" anchor="ctr"/>
            <a:lstStyle>
              <a:lvl1pPr>
                <a:spcBef>
                  <a:spcPct val="20000"/>
                </a:spcBef>
                <a:buFont typeface="Arial" panose="020B0604020202020204" pitchFamily="34" charset="0"/>
                <a:buChar char="•"/>
                <a:defRPr sz="32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1890">
                <a:solidFill>
                  <a:sysClr val="windowText" lastClr="000000">
                    <a:lumMod val="65000"/>
                    <a:lumOff val="35000"/>
                  </a:sysClr>
                </a:solidFill>
                <a:sym typeface="微软雅黑" panose="020B0503020204020204" pitchFamily="34" charset="-122"/>
              </a:endParaRPr>
            </a:p>
          </p:txBody>
        </p:sp>
        <p:sp>
          <p:nvSpPr>
            <p:cNvPr id="9" name="等腰三角形 18"/>
            <p:cNvSpPr>
              <a:spLocks noChangeAspect="1" noChangeArrowheads="1"/>
            </p:cNvSpPr>
            <p:nvPr/>
          </p:nvSpPr>
          <p:spPr bwMode="auto">
            <a:xfrm rot="5400000" flipV="1">
              <a:off x="10951" y="8264"/>
              <a:ext cx="356" cy="307"/>
            </a:xfrm>
            <a:prstGeom prst="triangle">
              <a:avLst>
                <a:gd name="adj" fmla="val 50000"/>
              </a:avLst>
            </a:prstGeom>
            <a:solidFill>
              <a:srgbClr val="383838"/>
            </a:solidFill>
            <a:ln>
              <a:noFill/>
            </a:ln>
          </p:spPr>
          <p:txBody>
            <a:bodyPr lIns="86392" tIns="43197" rIns="86392" bIns="43197" anchor="ctr"/>
            <a:lstStyle>
              <a:lvl1pPr>
                <a:spcBef>
                  <a:spcPct val="20000"/>
                </a:spcBef>
                <a:buFont typeface="Arial" panose="020B0604020202020204" pitchFamily="34" charset="0"/>
                <a:buChar char="•"/>
                <a:defRPr sz="32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1890">
                <a:solidFill>
                  <a:sysClr val="windowText" lastClr="000000">
                    <a:lumMod val="65000"/>
                    <a:lumOff val="35000"/>
                  </a:sysClr>
                </a:solidFill>
                <a:sym typeface="微软雅黑" panose="020B0503020204020204" pitchFamily="34" charset="-122"/>
              </a:endParaRPr>
            </a:p>
          </p:txBody>
        </p:sp>
        <p:sp>
          <p:nvSpPr>
            <p:cNvPr id="11" name="等腰三角形 18"/>
            <p:cNvSpPr>
              <a:spLocks noChangeAspect="1" noChangeArrowheads="1"/>
            </p:cNvSpPr>
            <p:nvPr/>
          </p:nvSpPr>
          <p:spPr bwMode="auto">
            <a:xfrm rot="16200000" flipH="1" flipV="1">
              <a:off x="6201" y="6343"/>
              <a:ext cx="356" cy="307"/>
            </a:xfrm>
            <a:prstGeom prst="triangle">
              <a:avLst>
                <a:gd name="adj" fmla="val 50000"/>
              </a:avLst>
            </a:prstGeom>
            <a:solidFill>
              <a:schemeClr val="tx1">
                <a:lumMod val="50000"/>
                <a:lumOff val="50000"/>
              </a:schemeClr>
            </a:solidFill>
            <a:ln>
              <a:noFill/>
            </a:ln>
          </p:spPr>
          <p:txBody>
            <a:bodyPr lIns="86392" tIns="43197" rIns="86392" bIns="43197" anchor="ctr"/>
            <a:lstStyle>
              <a:lvl1pPr>
                <a:spcBef>
                  <a:spcPct val="20000"/>
                </a:spcBef>
                <a:buFont typeface="Arial" panose="020B0604020202020204" pitchFamily="34" charset="0"/>
                <a:buChar char="•"/>
                <a:defRPr sz="32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ysClr val="windowText" lastClr="000000"/>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1890">
                <a:solidFill>
                  <a:srgbClr val="5BD078">
                    <a:lumMod val="75000"/>
                  </a:srgbClr>
                </a:solidFill>
                <a:sym typeface="微软雅黑" panose="020B0503020204020204" pitchFamily="34" charset="-122"/>
              </a:endParaRPr>
            </a:p>
          </p:txBody>
        </p:sp>
        <p:sp>
          <p:nvSpPr>
            <p:cNvPr id="13" name="形状 12"/>
            <p:cNvSpPr/>
            <p:nvPr/>
          </p:nvSpPr>
          <p:spPr>
            <a:xfrm>
              <a:off x="6720" y="5460"/>
              <a:ext cx="2780" cy="2780"/>
            </a:xfrm>
            <a:prstGeom prst="leftCircularArrow">
              <a:avLst>
                <a:gd name="adj1" fmla="val 8909"/>
                <a:gd name="adj2" fmla="val 1142322"/>
                <a:gd name="adj3" fmla="val 6293598"/>
                <a:gd name="adj4" fmla="val 18900002"/>
                <a:gd name="adj5" fmla="val 12500"/>
              </a:avLst>
            </a:prstGeom>
            <a:solidFill>
              <a:schemeClr val="tx1">
                <a:lumMod val="50000"/>
                <a:lumOff val="50000"/>
              </a:schemeClr>
            </a:solidFill>
            <a:ln>
              <a:noFill/>
            </a:ln>
            <a:effectLst/>
          </p:spPr>
        </p:sp>
        <p:sp>
          <p:nvSpPr>
            <p:cNvPr id="14" name="空心弧 13"/>
            <p:cNvSpPr/>
            <p:nvPr/>
          </p:nvSpPr>
          <p:spPr>
            <a:xfrm>
              <a:off x="7748" y="7478"/>
              <a:ext cx="2388" cy="2389"/>
            </a:xfrm>
            <a:prstGeom prst="blockArc">
              <a:avLst>
                <a:gd name="adj1" fmla="val 13624405"/>
                <a:gd name="adj2" fmla="val 17228224"/>
                <a:gd name="adj3" fmla="val 11481"/>
              </a:avLst>
            </a:prstGeom>
            <a:solidFill>
              <a:srgbClr val="383838"/>
            </a:solidFill>
            <a:ln>
              <a:noFill/>
            </a:ln>
            <a:effectLst/>
          </p:spPr>
        </p:sp>
        <p:sp>
          <p:nvSpPr>
            <p:cNvPr id="15" name="空心弧 14"/>
            <p:cNvSpPr/>
            <p:nvPr/>
          </p:nvSpPr>
          <p:spPr>
            <a:xfrm>
              <a:off x="7943" y="7503"/>
              <a:ext cx="2388" cy="2389"/>
            </a:xfrm>
            <a:prstGeom prst="blockArc">
              <a:avLst>
                <a:gd name="adj1" fmla="val 17085111"/>
                <a:gd name="adj2" fmla="val 10799997"/>
                <a:gd name="adj3" fmla="val 11504"/>
              </a:avLst>
            </a:prstGeom>
            <a:solidFill>
              <a:srgbClr val="383838"/>
            </a:solidFill>
            <a:ln>
              <a:noFill/>
            </a:ln>
            <a:effectLst/>
          </p:spPr>
        </p:sp>
        <p:sp>
          <p:nvSpPr>
            <p:cNvPr id="16" name="任意多边形 15"/>
            <p:cNvSpPr/>
            <p:nvPr/>
          </p:nvSpPr>
          <p:spPr>
            <a:xfrm rot="17307692">
              <a:off x="8275" y="4714"/>
              <a:ext cx="2410" cy="1298"/>
            </a:xfrm>
            <a:custGeom>
              <a:avLst/>
              <a:gdLst>
                <a:gd name="connsiteX0" fmla="*/ 4833930 w 4843779"/>
                <a:gd name="connsiteY0" fmla="*/ 0 h 2609741"/>
                <a:gd name="connsiteX1" fmla="*/ 4843489 w 4843779"/>
                <a:gd name="connsiteY1" fmla="*/ 152635 h 2609741"/>
                <a:gd name="connsiteX2" fmla="*/ 3517115 w 4843779"/>
                <a:gd name="connsiteY2" fmla="*/ 2348626 h 2609741"/>
                <a:gd name="connsiteX3" fmla="*/ 351244 w 4843779"/>
                <a:gd name="connsiteY3" fmla="*/ 1435790 h 2609741"/>
                <a:gd name="connsiteX4" fmla="*/ 0 w 4843779"/>
                <a:gd name="connsiteY4" fmla="*/ 1526124 h 2609741"/>
                <a:gd name="connsiteX5" fmla="*/ 380009 w 4843779"/>
                <a:gd name="connsiteY5" fmla="*/ 717222 h 2609741"/>
                <a:gd name="connsiteX6" fmla="*/ 1326890 w 4843779"/>
                <a:gd name="connsiteY6" fmla="*/ 1184874 h 2609741"/>
                <a:gd name="connsiteX7" fmla="*/ 981253 w 4843779"/>
                <a:gd name="connsiteY7" fmla="*/ 1273766 h 2609741"/>
                <a:gd name="connsiteX8" fmla="*/ 3348138 w 4843779"/>
                <a:gd name="connsiteY8" fmla="*/ 1741216 h 2609741"/>
                <a:gd name="connsiteX9" fmla="*/ 4226462 w 4843779"/>
                <a:gd name="connsiteY9" fmla="*/ 84448 h 2609741"/>
                <a:gd name="connsiteX10" fmla="*/ 4217585 w 4843779"/>
                <a:gd name="connsiteY10" fmla="*/ 0 h 2609741"/>
                <a:gd name="connsiteX11" fmla="*/ 4833930 w 4843779"/>
                <a:gd name="connsiteY11" fmla="*/ 0 h 260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3779" h="2609741">
                  <a:moveTo>
                    <a:pt x="4833930" y="0"/>
                  </a:moveTo>
                  <a:lnTo>
                    <a:pt x="4843489" y="152635"/>
                  </a:lnTo>
                  <a:cubicBezTo>
                    <a:pt x="4857473" y="1052464"/>
                    <a:pt x="4365817" y="1918999"/>
                    <a:pt x="3517115" y="2348626"/>
                  </a:cubicBezTo>
                  <a:cubicBezTo>
                    <a:pt x="2385597" y="2921419"/>
                    <a:pt x="1003828" y="2523005"/>
                    <a:pt x="351244" y="1435790"/>
                  </a:cubicBezTo>
                  <a:lnTo>
                    <a:pt x="0" y="1526124"/>
                  </a:lnTo>
                  <a:lnTo>
                    <a:pt x="380009" y="717222"/>
                  </a:lnTo>
                  <a:lnTo>
                    <a:pt x="1326890" y="1184874"/>
                  </a:lnTo>
                  <a:lnTo>
                    <a:pt x="981253" y="1273766"/>
                  </a:lnTo>
                  <a:cubicBezTo>
                    <a:pt x="1534634" y="2011589"/>
                    <a:pt x="2555569" y="2213219"/>
                    <a:pt x="3348138" y="1741216"/>
                  </a:cubicBezTo>
                  <a:cubicBezTo>
                    <a:pt x="3942651" y="1387163"/>
                    <a:pt x="4265044" y="739620"/>
                    <a:pt x="4226462" y="84448"/>
                  </a:cubicBezTo>
                  <a:lnTo>
                    <a:pt x="4217585" y="0"/>
                  </a:lnTo>
                  <a:lnTo>
                    <a:pt x="4833930" y="0"/>
                  </a:lnTo>
                  <a:close/>
                </a:path>
              </a:pathLst>
            </a:custGeom>
            <a:solidFill>
              <a:srgbClr val="C00000"/>
            </a:solidFill>
            <a:ln w="25400" cap="flat" cmpd="sng" algn="ctr">
              <a:noFill/>
              <a:prstDash val="solid"/>
            </a:ln>
            <a:effectLst/>
          </p:spPr>
          <p:txBody>
            <a:bodyPr lIns="86402" tIns="43201" rIns="86402" bIns="43201" rtlCol="0" anchor="ctr"/>
            <a:lstStyle/>
            <a:p>
              <a:pPr algn="ctr"/>
              <a:endParaRPr lang="zh-CN" altLang="en-US" sz="2395">
                <a:solidFill>
                  <a:srgbClr val="073E87">
                    <a:lumMod val="75000"/>
                  </a:srgbClr>
                </a:solidFill>
              </a:endParaRPr>
            </a:p>
          </p:txBody>
        </p:sp>
        <p:sp>
          <p:nvSpPr>
            <p:cNvPr id="17" name="任意多边形 16"/>
            <p:cNvSpPr/>
            <p:nvPr/>
          </p:nvSpPr>
          <p:spPr>
            <a:xfrm rot="17307692">
              <a:off x="7686" y="4043"/>
              <a:ext cx="1582" cy="1108"/>
            </a:xfrm>
            <a:custGeom>
              <a:avLst/>
              <a:gdLst>
                <a:gd name="connsiteX0" fmla="*/ 3082922 w 3180980"/>
                <a:gd name="connsiteY0" fmla="*/ 1705085 h 2227258"/>
                <a:gd name="connsiteX1" fmla="*/ 3176423 w 3180980"/>
                <a:gd name="connsiteY1" fmla="*/ 2154476 h 2227258"/>
                <a:gd name="connsiteX2" fmla="*/ 3180980 w 3180980"/>
                <a:gd name="connsiteY2" fmla="*/ 2227258 h 2227258"/>
                <a:gd name="connsiteX3" fmla="*/ 2564635 w 3180980"/>
                <a:gd name="connsiteY3" fmla="*/ 2227258 h 2227258"/>
                <a:gd name="connsiteX4" fmla="*/ 2556295 w 3180980"/>
                <a:gd name="connsiteY4" fmla="*/ 2147919 h 2227258"/>
                <a:gd name="connsiteX5" fmla="*/ 2411315 w 3180980"/>
                <a:gd name="connsiteY5" fmla="*/ 1664578 h 2227258"/>
                <a:gd name="connsiteX6" fmla="*/ 196026 w 3180980"/>
                <a:gd name="connsiteY6" fmla="*/ 708959 h 2227258"/>
                <a:gd name="connsiteX7" fmla="*/ 0 w 3180980"/>
                <a:gd name="connsiteY7" fmla="*/ 127074 h 2227258"/>
                <a:gd name="connsiteX8" fmla="*/ 3002505 w 3180980"/>
                <a:gd name="connsiteY8" fmla="*/ 1483914 h 2227258"/>
                <a:gd name="connsiteX9" fmla="*/ 3082922 w 3180980"/>
                <a:gd name="connsiteY9" fmla="*/ 1705085 h 222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80980" h="2227258">
                  <a:moveTo>
                    <a:pt x="3082922" y="1705085"/>
                  </a:moveTo>
                  <a:cubicBezTo>
                    <a:pt x="3128937" y="1853627"/>
                    <a:pt x="3159875" y="2004047"/>
                    <a:pt x="3176423" y="2154476"/>
                  </a:cubicBezTo>
                  <a:lnTo>
                    <a:pt x="3180980" y="2227258"/>
                  </a:lnTo>
                  <a:lnTo>
                    <a:pt x="2564635" y="2227258"/>
                  </a:lnTo>
                  <a:lnTo>
                    <a:pt x="2556295" y="2147919"/>
                  </a:lnTo>
                  <a:cubicBezTo>
                    <a:pt x="2531455" y="1984304"/>
                    <a:pt x="2483591" y="1821702"/>
                    <a:pt x="2411315" y="1664578"/>
                  </a:cubicBezTo>
                  <a:cubicBezTo>
                    <a:pt x="2025870" y="826647"/>
                    <a:pt x="1070294" y="414436"/>
                    <a:pt x="196026" y="708959"/>
                  </a:cubicBezTo>
                  <a:lnTo>
                    <a:pt x="0" y="127074"/>
                  </a:lnTo>
                  <a:cubicBezTo>
                    <a:pt x="1201918" y="-277827"/>
                    <a:pt x="2512407" y="314386"/>
                    <a:pt x="3002505" y="1483914"/>
                  </a:cubicBezTo>
                  <a:cubicBezTo>
                    <a:pt x="3033137" y="1557012"/>
                    <a:pt x="3059914" y="1630814"/>
                    <a:pt x="3082922" y="1705085"/>
                  </a:cubicBezTo>
                  <a:close/>
                </a:path>
              </a:pathLst>
            </a:custGeom>
            <a:solidFill>
              <a:srgbClr val="C00000"/>
            </a:solidFill>
            <a:ln w="25400" cap="flat" cmpd="sng" algn="ctr">
              <a:noFill/>
              <a:prstDash val="solid"/>
            </a:ln>
            <a:effectLst/>
          </p:spPr>
          <p:txBody>
            <a:bodyPr lIns="86402" tIns="43201" rIns="86402" bIns="43201" rtlCol="0" anchor="ctr"/>
            <a:lstStyle/>
            <a:p>
              <a:pPr algn="ctr"/>
              <a:endParaRPr lang="zh-CN" altLang="en-US" sz="2395">
                <a:solidFill>
                  <a:srgbClr val="073E87">
                    <a:lumMod val="75000"/>
                  </a:srgbClr>
                </a:solidFill>
              </a:endParaRPr>
            </a:p>
          </p:txBody>
        </p:sp>
        <p:sp>
          <p:nvSpPr>
            <p:cNvPr id="18" name="TextBox 17"/>
            <p:cNvSpPr txBox="1"/>
            <p:nvPr/>
          </p:nvSpPr>
          <p:spPr>
            <a:xfrm>
              <a:off x="8246" y="4620"/>
              <a:ext cx="1392" cy="814"/>
            </a:xfrm>
            <a:prstGeom prst="rect">
              <a:avLst/>
            </a:prstGeom>
            <a:noFill/>
          </p:spPr>
          <p:txBody>
            <a:bodyPr wrap="none" lIns="86402" tIns="43201" rIns="86402" bIns="43201" rtlCol="0">
              <a:spAutoFit/>
            </a:bodyPr>
            <a:lstStyle/>
            <a:p>
              <a:pPr algn="l"/>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一级</a:t>
              </a:r>
              <a:endParaRPr lang="zh-CN"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TextBox 18"/>
            <p:cNvSpPr txBox="1"/>
            <p:nvPr/>
          </p:nvSpPr>
          <p:spPr>
            <a:xfrm>
              <a:off x="7492" y="6487"/>
              <a:ext cx="1392" cy="814"/>
            </a:xfrm>
            <a:prstGeom prst="rect">
              <a:avLst/>
            </a:prstGeom>
            <a:noFill/>
          </p:spPr>
          <p:txBody>
            <a:bodyPr wrap="none" lIns="86402" tIns="43201" rIns="86402" bIns="43201" rtlCol="0">
              <a:spAutoFit/>
            </a:bodyPr>
            <a:lstStyle/>
            <a:p>
              <a:pPr algn="l"/>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二级</a:t>
              </a:r>
              <a:endParaRPr lang="en-US" altLang="zh-CN" sz="4785" b="1" dirty="0">
                <a:solidFill>
                  <a:schemeClr val="bg1">
                    <a:lumMod val="50000"/>
                    <a:lumOff val="50000"/>
                  </a:schemeClr>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8483" y="8266"/>
              <a:ext cx="1392" cy="814"/>
            </a:xfrm>
            <a:prstGeom prst="rect">
              <a:avLst/>
            </a:prstGeom>
            <a:noFill/>
          </p:spPr>
          <p:txBody>
            <a:bodyPr wrap="none" lIns="86402" tIns="43201" rIns="86402" bIns="43201" rtlCol="0">
              <a:spAutoFit/>
            </a:bodyPr>
            <a:lstStyle/>
            <a:p>
              <a:pPr algn="l"/>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三级</a:t>
              </a:r>
              <a:endParaRPr lang="en-US" altLang="zh-CN" sz="4785" b="1" dirty="0">
                <a:solidFill>
                  <a:srgbClr val="3C3C3D"/>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41" y="5983"/>
              <a:ext cx="4485" cy="1025"/>
            </a:xfrm>
            <a:prstGeom prst="rect">
              <a:avLst/>
            </a:prstGeom>
            <a:noFill/>
            <a:ln w="9525">
              <a:noFill/>
            </a:ln>
          </p:spPr>
          <p:txBody>
            <a:bodyPr wrap="square">
              <a:spAutoFit/>
            </a:bodyPr>
            <a:lstStyle/>
            <a:p>
              <a:pPr marL="0" algn="l" fontAlgn="auto">
                <a:lnSpc>
                  <a:spcPct val="130000"/>
                </a:lnSpc>
                <a:spcBef>
                  <a:spcPts val="0"/>
                </a:spcBef>
                <a:buNone/>
              </a:pPr>
              <a:r>
                <a:rPr lang="zh-CN" sz="2800" b="1">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40t≤m&lt;100t</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11102" y="4283"/>
              <a:ext cx="3414" cy="1025"/>
            </a:xfrm>
            <a:prstGeom prst="rect">
              <a:avLst/>
            </a:prstGeom>
            <a:noFill/>
            <a:ln w="9525">
              <a:noFill/>
            </a:ln>
          </p:spPr>
          <p:txBody>
            <a:bodyPr wrap="square">
              <a:spAutoFit/>
            </a:bodyPr>
            <a:lstStyle/>
            <a:p>
              <a:pPr marL="0" algn="l" fontAlgn="auto">
                <a:lnSpc>
                  <a:spcPct val="130000"/>
                </a:lnSpc>
                <a:spcBef>
                  <a:spcPts val="0"/>
                </a:spcBef>
                <a:buNone/>
              </a:pPr>
              <a:r>
                <a:rPr lang="zh-CN" sz="2800" b="1">
                  <a:ln>
                    <a:solidFill>
                      <a:srgbClr val="C00000"/>
                    </a:solidFill>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m&gt;100t</a:t>
              </a:r>
              <a:endParaRPr lang="zh-CN" sz="2800" b="1">
                <a:ln>
                  <a:solidFill>
                    <a:srgbClr val="C00000"/>
                  </a:solidFill>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11625" y="7905"/>
              <a:ext cx="3807" cy="102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m&lt;40t。</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53085" y="812800"/>
            <a:ext cx="11429365" cy="568896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（1）一、二级吊装作业,应编制吊装作业方案，吊装物休质量虽不足40t，但形状复杂、刚度小、长径比大、精密贵重,以及在作业条件特殊的情况下,三级吊装作业也应编制吊装作业方案；吊装作业方案应经审批。</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（2）吊装场所如有含危险物料的设备、管道时,应制定详细吊装方案,并对设备、管道采取有效防护措施,必要时停车,放空物料,置换后再进行吊装作业。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（3）不应靠近高架电力线路进行吊装作业；确需在电力线路附近作业时,起重机械的安全距离应大于起重机械的倒塌半径并符合DL 409的要求;不能满足时,应停电后再进行作业。</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128895"/>
          </a:xfrm>
          <a:prstGeom prst="rect">
            <a:avLst/>
          </a:prstGeom>
          <a:noFill/>
          <a:ln w="9525">
            <a:noFill/>
          </a:ln>
        </p:spPr>
        <p:txBody>
          <a:bodyPr wrap="square">
            <a:spAutoFit/>
          </a:bodyPr>
          <a:lstStyle/>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（4）大雪、暴雨、大雾、六级及以上大风时,不应露天作业。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（5）作业前,作业单位应对起重机械、吊具、索具、安全装置等进行检查,确保其外于完好、安全状态，并签字确认。</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（6）指挥人员应佩戴明显的标志,并按 GB/T 5082 规定的联络信号进行指挥。</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（7）应按规定负荷进行吊装，吊具、索具应经计算选择使用,不应超负荷吊装。</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（8）不应利用管道、管架、电杆、机电设备等作吊装锚点，未经土建专业人员审查核算,不应将建筑物、构筑物作为锚点。</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2760" y="1062355"/>
            <a:ext cx="11205845" cy="5688965"/>
          </a:xfrm>
          <a:prstGeom prst="rect">
            <a:avLst/>
          </a:prstGeom>
          <a:noFill/>
          <a:ln w="9525">
            <a:noFill/>
          </a:ln>
        </p:spPr>
        <p:txBody>
          <a:bodyPr wrap="square">
            <a:spAutoFit/>
          </a:bodyPr>
          <a:lstStyle/>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（9）起吊前应进行试吊,试吊中检查全部机具、锚点受力情况,发现问题应立即将吊物放回地面,排除故障后重新试吊,确认正常后方可正式吊装。</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（10）吊装作业人员应遵守如下规定: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a)按指挥人员发出的指挥信号进行操作;任何人发出的紧急停车信号均应立即执行;吊装过程中出现故障,应立即向指挥人员报告;</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b)吊物接近或达到额定起重吊装能力时,应检查制动器,用低高度、短行程试吊后,再吊起；</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c)利用两台或多台起重机械吊运同一吊物时应保持同步,各台起重机械所承受的载荷不应超过各自额定起重能力的80%;</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5688965"/>
          </a:xfrm>
          <a:prstGeom prst="rect">
            <a:avLst/>
          </a:prstGeom>
          <a:noFill/>
          <a:ln w="9525">
            <a:noFill/>
          </a:ln>
        </p:spPr>
        <p:txBody>
          <a:bodyPr wrap="square">
            <a:spAutoFit/>
          </a:bodyPr>
          <a:lstStyle/>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d)下放吊物时,不应自由下落(溜);不应利用极限位置限制器停车;</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e)不应在起重机工作时对其进行检修;不应在有载荷的情况下调整起升变幅机构的制动器;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 停工和休息时,不应将吊物、吊笼、吊县和吊索悬在空中;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 以下情况不应起吊:</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 无法看清场地,品物,指挥信号不明；</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 起重臂吊钩或品物下面有人、吊物上有人或浮置物；</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3)重物捆绑、紧固、吊挂不牢,吊挂不平衡,索具打结,索具不齐,斜拉重物,棱角吊物与钢丝绳之间无衬垫;</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 吊物质量不明,与其他吊物相连,埋在地下,与其他物体冻结在一起。</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512889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（11）司索人员应遵守如下规定: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 听从指挥人员的指令,并及时报告险情;</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b)不应用吊钩直接缠绕吊物及将不同种类或不同规格的索具混在一起使用;</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c)吊物捆绑应牢靠,吊点设置应根据吊物重心位置确定,保证吊装过程中吊物平衡；起升吊物时应检查其连接点是否牢固、可靠;吊运零散件时,应使用专门的吊篮、吊斗等器具,吊篮、吊斗等不应装满;</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d)吊物就位时,应与吊物保持一定的安全距离,用拉绳或撑杆、钩子辅助其就位; </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4009390"/>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e)吊物就位前,不应解开吊装索具;</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f）9.2.10 中与司索人员有关的不应起吊的情况司索人员应做相应处理。</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（12）监护人员应确保吊装过程中警戒范围区内没有非作业人员或车辆经过;吊装过程中吊物及起重臂移动区域下方不应有任何人员经过或停留。</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（13）用定型起重机械(例如履带吊车、轮胎吊车、桥式吊车等)进行吊装作业时,除遵守本文件外,还应遵守该定型起重机械的操作规程。</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73075" y="1326515"/>
            <a:ext cx="6235065" cy="4569460"/>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（14）作业完毕应做如下工作:</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a)将起重臂和吊钩收放到规定位置,所有控制手柄均应放到零位,电气控制的起重机械的电源开关应断开;</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b)对在轨道上作业的吊车,应将吊车停放在指定位置有效锚定</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c)吊索、吊具收回,放置到规定位置,并对其进行例行检查。</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0d338744ebf81a4ca1e1d69641f4d75e272da680"/>
          <p:cNvPicPr>
            <a:picLocks noChangeAspect="1"/>
          </p:cNvPicPr>
          <p:nvPr/>
        </p:nvPicPr>
        <p:blipFill>
          <a:blip r:embed="rId1"/>
          <a:stretch>
            <a:fillRect/>
          </a:stretch>
        </p:blipFill>
        <p:spPr>
          <a:xfrm>
            <a:off x="6963410" y="2019300"/>
            <a:ext cx="4184015" cy="296227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697230" y="312420"/>
            <a:ext cx="11124565" cy="6068695"/>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572135" y="487680"/>
            <a:ext cx="11360150" cy="5882005"/>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222375" y="320675"/>
            <a:ext cx="10489565" cy="5822315"/>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484505" y="202565"/>
            <a:ext cx="11351895" cy="6091555"/>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3666" name="Picture 2"/>
          <p:cNvPicPr>
            <a:picLocks noChangeAspect="1"/>
          </p:cNvPicPr>
          <p:nvPr/>
        </p:nvPicPr>
        <p:blipFill>
          <a:blip r:embed="rId1"/>
          <a:stretch>
            <a:fillRect/>
          </a:stretch>
        </p:blipFill>
        <p:spPr>
          <a:xfrm>
            <a:off x="2381250" y="1571625"/>
            <a:ext cx="7286625" cy="4486275"/>
          </a:xfrm>
          <a:prstGeom prst="rect">
            <a:avLst/>
          </a:prstGeom>
          <a:noFill/>
          <a:ln w="9525">
            <a:noFill/>
          </a:ln>
        </p:spPr>
      </p:pic>
      <p:sp>
        <p:nvSpPr>
          <p:cNvPr id="113667" name="Text Box 4"/>
          <p:cNvSpPr txBox="1"/>
          <p:nvPr/>
        </p:nvSpPr>
        <p:spPr>
          <a:xfrm>
            <a:off x="3287713" y="333375"/>
            <a:ext cx="5256212" cy="368300"/>
          </a:xfrm>
          <a:prstGeom prst="rect">
            <a:avLst/>
          </a:prstGeom>
          <a:noFill/>
          <a:ln w="9525">
            <a:noFill/>
          </a:ln>
        </p:spPr>
        <p:txBody>
          <a:bodyPr>
            <a:spAutoFit/>
          </a:bodyPr>
          <a:p>
            <a:pPr>
              <a:spcBef>
                <a:spcPct val="50000"/>
              </a:spcBef>
            </a:pPr>
            <a:endParaRPr lang="zh-CN" altLang="en-US" sz="1800" dirty="0">
              <a:latin typeface="仿宋_GB2312"/>
              <a:ea typeface="仿宋_GB2312"/>
            </a:endParaRPr>
          </a:p>
        </p:txBody>
      </p:sp>
      <p:sp>
        <p:nvSpPr>
          <p:cNvPr id="113668" name="Text Box 5"/>
          <p:cNvSpPr txBox="1"/>
          <p:nvPr/>
        </p:nvSpPr>
        <p:spPr>
          <a:xfrm>
            <a:off x="3432175" y="333375"/>
            <a:ext cx="3592513" cy="368300"/>
          </a:xfrm>
          <a:prstGeom prst="rect">
            <a:avLst/>
          </a:prstGeom>
          <a:solidFill>
            <a:srgbClr val="FFFF00"/>
          </a:solidFill>
          <a:ln w="9525">
            <a:noFill/>
          </a:ln>
        </p:spPr>
        <p:txBody>
          <a:bodyPr>
            <a:spAutoFit/>
          </a:bodyPr>
          <a:p>
            <a:pPr>
              <a:spcBef>
                <a:spcPct val="50000"/>
              </a:spcBef>
            </a:pPr>
            <a:r>
              <a:rPr lang="zh-CN" altLang="en-US" sz="1800" b="1" dirty="0">
                <a:latin typeface="仿宋_GB2312"/>
                <a:ea typeface="仿宋_GB2312"/>
              </a:rPr>
              <a:t>吊装作业常见的违章行为</a:t>
            </a:r>
            <a:endParaRPr lang="zh-CN" altLang="en-US" sz="1800" b="1" dirty="0">
              <a:latin typeface="仿宋_GB2312"/>
              <a:ea typeface="仿宋_GB231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4690" name="Picture 2"/>
          <p:cNvPicPr>
            <a:picLocks noChangeAspect="1"/>
          </p:cNvPicPr>
          <p:nvPr/>
        </p:nvPicPr>
        <p:blipFill>
          <a:blip r:embed="rId1"/>
          <a:stretch>
            <a:fillRect/>
          </a:stretch>
        </p:blipFill>
        <p:spPr>
          <a:xfrm>
            <a:off x="2309813" y="1928813"/>
            <a:ext cx="7610475" cy="4105275"/>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5714" name="Picture 2"/>
          <p:cNvPicPr>
            <a:picLocks noChangeAspect="1"/>
          </p:cNvPicPr>
          <p:nvPr/>
        </p:nvPicPr>
        <p:blipFill>
          <a:blip r:embed="rId1"/>
          <a:stretch>
            <a:fillRect/>
          </a:stretch>
        </p:blipFill>
        <p:spPr>
          <a:xfrm>
            <a:off x="2279650" y="1773238"/>
            <a:ext cx="7543800" cy="4467225"/>
          </a:xfrm>
          <a:prstGeom prst="rect">
            <a:avLst/>
          </a:prstGeom>
          <a:noFill/>
          <a:ln w="9525">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2"/>
          <p:cNvPicPr>
            <a:picLocks noChangeAspect="1"/>
          </p:cNvPicPr>
          <p:nvPr/>
        </p:nvPicPr>
        <p:blipFill>
          <a:blip r:embed="rId1"/>
          <a:stretch>
            <a:fillRect/>
          </a:stretch>
        </p:blipFill>
        <p:spPr>
          <a:xfrm>
            <a:off x="2566988" y="2060575"/>
            <a:ext cx="6886575" cy="3933825"/>
          </a:xfrm>
          <a:prstGeom prst="rect">
            <a:avLst/>
          </a:prstGeom>
          <a:noFill/>
          <a:ln w="9525">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7762" name="Picture 2"/>
          <p:cNvPicPr>
            <a:picLocks noChangeAspect="1"/>
          </p:cNvPicPr>
          <p:nvPr/>
        </p:nvPicPr>
        <p:blipFill>
          <a:blip r:embed="rId1"/>
          <a:stretch>
            <a:fillRect/>
          </a:stretch>
        </p:blipFill>
        <p:spPr>
          <a:xfrm>
            <a:off x="2381250" y="2000250"/>
            <a:ext cx="7353300" cy="4362450"/>
          </a:xfrm>
          <a:prstGeom prst="rect">
            <a:avLst/>
          </a:prstGeom>
          <a:noFill/>
          <a:ln w="9525">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8786" name="Picture 2"/>
          <p:cNvPicPr>
            <a:picLocks noChangeAspect="1"/>
          </p:cNvPicPr>
          <p:nvPr/>
        </p:nvPicPr>
        <p:blipFill>
          <a:blip r:embed="rId1"/>
          <a:stretch>
            <a:fillRect/>
          </a:stretch>
        </p:blipFill>
        <p:spPr>
          <a:xfrm>
            <a:off x="2024063" y="2357438"/>
            <a:ext cx="7486650" cy="3810000"/>
          </a:xfrm>
          <a:prstGeom prst="rect">
            <a:avLst/>
          </a:prstGeom>
          <a:noFill/>
          <a:ln w="9525">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9810" name="Picture 2"/>
          <p:cNvPicPr>
            <a:picLocks noChangeAspect="1"/>
          </p:cNvPicPr>
          <p:nvPr/>
        </p:nvPicPr>
        <p:blipFill>
          <a:blip r:embed="rId1"/>
          <a:stretch>
            <a:fillRect/>
          </a:stretch>
        </p:blipFill>
        <p:spPr>
          <a:xfrm>
            <a:off x="2524125" y="1928813"/>
            <a:ext cx="7124700" cy="3838575"/>
          </a:xfrm>
          <a:prstGeom prst="rect">
            <a:avLst/>
          </a:prstGeom>
          <a:noFill/>
          <a:ln w="9525">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0834" name="Picture 2"/>
          <p:cNvPicPr>
            <a:picLocks noChangeAspect="1"/>
          </p:cNvPicPr>
          <p:nvPr/>
        </p:nvPicPr>
        <p:blipFill>
          <a:blip r:embed="rId1"/>
          <a:stretch>
            <a:fillRect/>
          </a:stretch>
        </p:blipFill>
        <p:spPr>
          <a:xfrm>
            <a:off x="2738438" y="2000250"/>
            <a:ext cx="7067550" cy="3943350"/>
          </a:xfrm>
          <a:prstGeom prst="rect">
            <a:avLst/>
          </a:prstGeom>
          <a:noFill/>
          <a:ln w="9525">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1858" name="Picture 2"/>
          <p:cNvPicPr>
            <a:picLocks noChangeAspect="1"/>
          </p:cNvPicPr>
          <p:nvPr/>
        </p:nvPicPr>
        <p:blipFill>
          <a:blip r:embed="rId1"/>
          <a:stretch>
            <a:fillRect/>
          </a:stretch>
        </p:blipFill>
        <p:spPr>
          <a:xfrm>
            <a:off x="2095500" y="2214563"/>
            <a:ext cx="7877175" cy="4105275"/>
          </a:xfrm>
          <a:prstGeom prst="rect">
            <a:avLst/>
          </a:prstGeom>
          <a:noFill/>
          <a:ln w="9525">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82" name="Picture 2"/>
          <p:cNvPicPr>
            <a:picLocks noChangeAspect="1"/>
          </p:cNvPicPr>
          <p:nvPr/>
        </p:nvPicPr>
        <p:blipFill>
          <a:blip r:embed="rId1"/>
          <a:stretch>
            <a:fillRect/>
          </a:stretch>
        </p:blipFill>
        <p:spPr>
          <a:xfrm>
            <a:off x="2452688" y="1571625"/>
            <a:ext cx="7162800" cy="3886200"/>
          </a:xfrm>
          <a:prstGeom prst="rect">
            <a:avLst/>
          </a:prstGeom>
          <a:noFill/>
          <a:ln w="9525">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3906" name="Picture 2"/>
          <p:cNvPicPr>
            <a:picLocks noChangeAspect="1"/>
          </p:cNvPicPr>
          <p:nvPr/>
        </p:nvPicPr>
        <p:blipFill>
          <a:blip r:embed="rId1"/>
          <a:stretch>
            <a:fillRect/>
          </a:stretch>
        </p:blipFill>
        <p:spPr>
          <a:xfrm>
            <a:off x="2238375" y="2071688"/>
            <a:ext cx="7648575" cy="3895725"/>
          </a:xfrm>
          <a:prstGeom prst="rect">
            <a:avLst/>
          </a:prstGeom>
          <a:noFill/>
          <a:ln w="9525">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4930" name="Picture 2"/>
          <p:cNvPicPr>
            <a:picLocks noChangeAspect="1"/>
          </p:cNvPicPr>
          <p:nvPr/>
        </p:nvPicPr>
        <p:blipFill>
          <a:blip r:embed="rId1"/>
          <a:stretch>
            <a:fillRect/>
          </a:stretch>
        </p:blipFill>
        <p:spPr>
          <a:xfrm>
            <a:off x="2238375" y="2000250"/>
            <a:ext cx="6753225" cy="3943350"/>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5954" name="Picture 2"/>
          <p:cNvPicPr>
            <a:picLocks noChangeAspect="1"/>
          </p:cNvPicPr>
          <p:nvPr/>
        </p:nvPicPr>
        <p:blipFill>
          <a:blip r:embed="rId1"/>
          <a:stretch>
            <a:fillRect/>
          </a:stretch>
        </p:blipFill>
        <p:spPr>
          <a:xfrm>
            <a:off x="2166938" y="1928813"/>
            <a:ext cx="4500562" cy="4581525"/>
          </a:xfrm>
          <a:prstGeom prst="rect">
            <a:avLst/>
          </a:prstGeom>
          <a:noFill/>
          <a:ln w="9525">
            <a:noFill/>
          </a:ln>
        </p:spPr>
      </p:pic>
      <p:pic>
        <p:nvPicPr>
          <p:cNvPr id="125955" name="Picture 2"/>
          <p:cNvPicPr>
            <a:picLocks noChangeAspect="1"/>
          </p:cNvPicPr>
          <p:nvPr/>
        </p:nvPicPr>
        <p:blipFill>
          <a:blip r:embed="rId2"/>
          <a:stretch>
            <a:fillRect/>
          </a:stretch>
        </p:blipFill>
        <p:spPr>
          <a:xfrm>
            <a:off x="6453188" y="2428875"/>
            <a:ext cx="3471862" cy="3824288"/>
          </a:xfrm>
          <a:prstGeom prst="rect">
            <a:avLst/>
          </a:prstGeom>
          <a:noFill/>
          <a:ln w="9525">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978" name="Picture 2"/>
          <p:cNvPicPr>
            <a:picLocks noChangeAspect="1"/>
          </p:cNvPicPr>
          <p:nvPr/>
        </p:nvPicPr>
        <p:blipFill>
          <a:blip r:embed="rId1"/>
          <a:stretch>
            <a:fillRect/>
          </a:stretch>
        </p:blipFill>
        <p:spPr>
          <a:xfrm>
            <a:off x="6024563" y="2071688"/>
            <a:ext cx="4000500" cy="4276725"/>
          </a:xfrm>
          <a:prstGeom prst="rect">
            <a:avLst/>
          </a:prstGeom>
          <a:noFill/>
          <a:ln w="9525">
            <a:noFill/>
          </a:ln>
        </p:spPr>
      </p:pic>
      <p:pic>
        <p:nvPicPr>
          <p:cNvPr id="126979" name="Picture 2"/>
          <p:cNvPicPr>
            <a:picLocks noChangeAspect="1"/>
          </p:cNvPicPr>
          <p:nvPr/>
        </p:nvPicPr>
        <p:blipFill>
          <a:blip r:embed="rId2"/>
          <a:stretch>
            <a:fillRect/>
          </a:stretch>
        </p:blipFill>
        <p:spPr>
          <a:xfrm>
            <a:off x="1952625" y="1928813"/>
            <a:ext cx="3857625" cy="3933825"/>
          </a:xfrm>
          <a:prstGeom prst="rect">
            <a:avLst/>
          </a:prstGeom>
          <a:noFill/>
          <a:ln w="9525">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8002" name="Picture 2"/>
          <p:cNvPicPr>
            <a:picLocks noChangeAspect="1"/>
          </p:cNvPicPr>
          <p:nvPr/>
        </p:nvPicPr>
        <p:blipFill>
          <a:blip r:embed="rId1"/>
          <a:stretch>
            <a:fillRect/>
          </a:stretch>
        </p:blipFill>
        <p:spPr>
          <a:xfrm>
            <a:off x="1738313" y="1857375"/>
            <a:ext cx="4429125" cy="4357688"/>
          </a:xfrm>
          <a:prstGeom prst="rect">
            <a:avLst/>
          </a:prstGeom>
          <a:noFill/>
          <a:ln w="9525">
            <a:noFill/>
          </a:ln>
        </p:spPr>
      </p:pic>
      <p:pic>
        <p:nvPicPr>
          <p:cNvPr id="128003" name="Picture 2"/>
          <p:cNvPicPr>
            <a:picLocks noChangeAspect="1"/>
          </p:cNvPicPr>
          <p:nvPr/>
        </p:nvPicPr>
        <p:blipFill>
          <a:blip r:embed="rId2"/>
          <a:stretch>
            <a:fillRect/>
          </a:stretch>
        </p:blipFill>
        <p:spPr>
          <a:xfrm>
            <a:off x="6310313" y="2143125"/>
            <a:ext cx="3995737" cy="4000500"/>
          </a:xfrm>
          <a:prstGeom prst="rect">
            <a:avLst/>
          </a:prstGeom>
          <a:noFill/>
          <a:ln w="9525">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9026" name="Picture 6" descr="11101100442456615150d13872"/>
          <p:cNvPicPr>
            <a:picLocks noChangeAspect="1"/>
          </p:cNvPicPr>
          <p:nvPr/>
        </p:nvPicPr>
        <p:blipFill>
          <a:blip r:embed="rId1"/>
          <a:stretch>
            <a:fillRect/>
          </a:stretch>
        </p:blipFill>
        <p:spPr>
          <a:xfrm>
            <a:off x="1738313" y="1714500"/>
            <a:ext cx="3714750" cy="4500563"/>
          </a:xfrm>
          <a:prstGeom prst="rect">
            <a:avLst/>
          </a:prstGeom>
          <a:noFill/>
          <a:ln w="9525">
            <a:noFill/>
          </a:ln>
        </p:spPr>
      </p:pic>
      <p:sp>
        <p:nvSpPr>
          <p:cNvPr id="129027" name="矩形 3"/>
          <p:cNvSpPr/>
          <p:nvPr/>
        </p:nvSpPr>
        <p:spPr>
          <a:xfrm>
            <a:off x="5667375" y="1785938"/>
            <a:ext cx="4572000" cy="4523105"/>
          </a:xfrm>
          <a:prstGeom prst="rect">
            <a:avLst/>
          </a:prstGeom>
          <a:solidFill>
            <a:srgbClr val="FFFF00"/>
          </a:solidFill>
          <a:ln w="9525">
            <a:noFill/>
          </a:ln>
        </p:spPr>
        <p:txBody>
          <a:bodyPr>
            <a:spAutoFit/>
          </a:bodyPr>
          <a:p>
            <a:pPr algn="ctr"/>
            <a:r>
              <a:rPr lang="zh-CN" altLang="en-US" sz="1800" dirty="0">
                <a:latin typeface="Lucida Sans Unicode" panose="020B0602030504020204" pitchFamily="34" charset="0"/>
                <a:ea typeface="黑体" panose="02010609060101010101" pitchFamily="49" charset="-122"/>
              </a:rPr>
              <a:t>起重作业十不吊</a:t>
            </a:r>
            <a:endParaRPr lang="en-US" altLang="zh-CN" sz="1800" dirty="0">
              <a:latin typeface="Lucida Sans Unicode" panose="020B0602030504020204" pitchFamily="34" charset="0"/>
              <a:ea typeface="黑体" panose="02010609060101010101" pitchFamily="49" charset="-122"/>
            </a:endParaRPr>
          </a:p>
          <a:p>
            <a:pPr algn="ctr"/>
            <a:endParaRPr lang="zh-CN" altLang="en-US" sz="1800" dirty="0">
              <a:latin typeface="Lucida Sans Unicode" panose="020B0602030504020204" pitchFamily="34" charset="0"/>
              <a:ea typeface="黑体" panose="02010609060101010101" pitchFamily="49" charset="-122"/>
            </a:endParaRPr>
          </a:p>
          <a:p>
            <a:r>
              <a:rPr lang="en-US" altLang="zh-CN" sz="1800" dirty="0">
                <a:latin typeface="Lucida Sans Unicode" panose="020B0602030504020204" pitchFamily="34" charset="0"/>
                <a:ea typeface="黑体" panose="02010609060101010101" pitchFamily="49" charset="-122"/>
              </a:rPr>
              <a:t>1</a:t>
            </a:r>
            <a:r>
              <a:rPr lang="zh-CN" altLang="en-US" sz="1800" dirty="0">
                <a:latin typeface="Lucida Sans Unicode" panose="020B0602030504020204" pitchFamily="34" charset="0"/>
                <a:ea typeface="黑体" panose="02010609060101010101" pitchFamily="49" charset="-122"/>
              </a:rPr>
              <a:t>、超负荷或歪拉斜拽工件不吊；</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2</a:t>
            </a:r>
            <a:r>
              <a:rPr lang="zh-CN" altLang="en-US" sz="1800" dirty="0">
                <a:latin typeface="Lucida Sans Unicode" panose="020B0602030504020204" pitchFamily="34" charset="0"/>
                <a:ea typeface="黑体" panose="02010609060101010101" pitchFamily="49" charset="-122"/>
              </a:rPr>
              <a:t>、指挥信号不明确或违章指挥不吊；</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3</a:t>
            </a:r>
            <a:r>
              <a:rPr lang="zh-CN" altLang="en-US" sz="1800" dirty="0">
                <a:latin typeface="Lucida Sans Unicode" panose="020B0602030504020204" pitchFamily="34" charset="0"/>
                <a:ea typeface="黑体" panose="02010609060101010101" pitchFamily="49" charset="-122"/>
              </a:rPr>
              <a:t>、工件或吊物捆绑不牢不吊；</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4</a:t>
            </a:r>
            <a:r>
              <a:rPr lang="zh-CN" altLang="en-US" sz="1800" dirty="0">
                <a:latin typeface="Lucida Sans Unicode" panose="020B0602030504020204" pitchFamily="34" charset="0"/>
                <a:ea typeface="黑体" panose="02010609060101010101" pitchFamily="49" charset="-122"/>
              </a:rPr>
              <a:t>、吊物上站人或放有活动物体不吊；</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5</a:t>
            </a:r>
            <a:r>
              <a:rPr lang="zh-CN" altLang="en-US" sz="1800" dirty="0">
                <a:latin typeface="Lucida Sans Unicode" panose="020B0602030504020204" pitchFamily="34" charset="0"/>
                <a:ea typeface="黑体" panose="02010609060101010101" pitchFamily="49" charset="-122"/>
              </a:rPr>
              <a:t>、重量不明、光线阴暗、视线不清不吊；</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6</a:t>
            </a:r>
            <a:r>
              <a:rPr lang="zh-CN" altLang="en-US" sz="1800" dirty="0">
                <a:latin typeface="Lucida Sans Unicode" panose="020B0602030504020204" pitchFamily="34" charset="0"/>
                <a:ea typeface="黑体" panose="02010609060101010101" pitchFamily="49" charset="-122"/>
              </a:rPr>
              <a:t>、带棱角、缺口物体无防割措施；</a:t>
            </a:r>
            <a:br>
              <a:rPr lang="zh-CN" altLang="en-US"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7</a:t>
            </a:r>
            <a:r>
              <a:rPr lang="zh-CN" altLang="en-US" sz="1800" dirty="0">
                <a:latin typeface="Lucida Sans Unicode" panose="020B0602030504020204" pitchFamily="34" charset="0"/>
                <a:ea typeface="黑体" panose="02010609060101010101" pitchFamily="49" charset="-122"/>
              </a:rPr>
              <a:t>、高压输电线下不吊，氧气瓶、煤气罐等爆炸性物品不吊</a:t>
            </a:r>
            <a:r>
              <a:rPr lang="en-US" altLang="zh-CN" sz="1800" dirty="0">
                <a:latin typeface="Lucida Sans Unicode" panose="020B0602030504020204" pitchFamily="34" charset="0"/>
                <a:ea typeface="黑体" panose="02010609060101010101" pitchFamily="49" charset="-122"/>
              </a:rPr>
              <a:t>;</a:t>
            </a:r>
            <a:br>
              <a:rPr lang="en-US" altLang="zh-CN" sz="1800" dirty="0">
                <a:latin typeface="Lucida Sans Unicode" panose="020B0602030504020204" pitchFamily="34" charset="0"/>
                <a:ea typeface="黑体" panose="02010609060101010101" pitchFamily="49" charset="-122"/>
              </a:rPr>
            </a:br>
            <a:r>
              <a:rPr lang="en-US" altLang="zh-CN" sz="1800" dirty="0">
                <a:latin typeface="Lucida Sans Unicode" panose="020B0602030504020204" pitchFamily="34" charset="0"/>
                <a:ea typeface="黑体" panose="02010609060101010101" pitchFamily="49" charset="-122"/>
              </a:rPr>
              <a:t>8</a:t>
            </a:r>
            <a:r>
              <a:rPr lang="zh-CN" altLang="en-US" sz="1800" dirty="0">
                <a:latin typeface="Lucida Sans Unicode" panose="020B0602030504020204" pitchFamily="34" charset="0"/>
                <a:ea typeface="黑体" panose="02010609060101010101" pitchFamily="49" charset="-122"/>
              </a:rPr>
              <a:t>、工件埋在地下与地面建筑物或设备有勾挂不吊</a:t>
            </a:r>
            <a:r>
              <a:rPr lang="en-US" altLang="zh-CN" sz="1800" dirty="0">
                <a:latin typeface="Lucida Sans Unicode" panose="020B0602030504020204" pitchFamily="34" charset="0"/>
                <a:ea typeface="黑体" panose="02010609060101010101" pitchFamily="49" charset="-122"/>
              </a:rPr>
              <a:t>;</a:t>
            </a:r>
            <a:endParaRPr lang="en-US" altLang="zh-CN" sz="1800" dirty="0">
              <a:latin typeface="Lucida Sans Unicode" panose="020B0602030504020204" pitchFamily="34" charset="0"/>
              <a:ea typeface="黑体" panose="02010609060101010101" pitchFamily="49" charset="-122"/>
            </a:endParaRPr>
          </a:p>
          <a:p>
            <a:r>
              <a:rPr lang="en-US" altLang="zh-CN" sz="1800" dirty="0">
                <a:latin typeface="Lucida Sans Unicode" panose="020B0602030504020204" pitchFamily="34" charset="0"/>
                <a:ea typeface="黑体" panose="02010609060101010101" pitchFamily="49" charset="-122"/>
              </a:rPr>
              <a:t>9</a:t>
            </a:r>
            <a:r>
              <a:rPr lang="zh-CN" altLang="en-US" sz="1800" dirty="0">
                <a:latin typeface="Lucida Sans Unicode" panose="020B0602030504020204" pitchFamily="34" charset="0"/>
                <a:ea typeface="黑体" panose="02010609060101010101" pitchFamily="49" charset="-122"/>
              </a:rPr>
              <a:t>、安全装置不齐全或动作不灵敏、失效者不吊；</a:t>
            </a:r>
            <a:endParaRPr lang="en-US" altLang="zh-CN" sz="1800" dirty="0">
              <a:latin typeface="Lucida Sans Unicode" panose="020B0602030504020204" pitchFamily="34" charset="0"/>
              <a:ea typeface="黑体" panose="02010609060101010101" pitchFamily="49" charset="-122"/>
            </a:endParaRPr>
          </a:p>
          <a:p>
            <a:r>
              <a:rPr lang="en-US" altLang="zh-CN" sz="1800" dirty="0">
                <a:latin typeface="Lucida Sans Unicode" panose="020B0602030504020204" pitchFamily="34" charset="0"/>
                <a:ea typeface="黑体" panose="02010609060101010101" pitchFamily="49" charset="-122"/>
              </a:rPr>
              <a:t>10</a:t>
            </a:r>
            <a:r>
              <a:rPr lang="zh-CN" altLang="en-US" sz="1800" dirty="0">
                <a:latin typeface="Lucida Sans Unicode" panose="020B0602030504020204" pitchFamily="34" charset="0"/>
                <a:ea typeface="黑体" panose="02010609060101010101" pitchFamily="49" charset="-122"/>
              </a:rPr>
              <a:t>、工作现场超过六级风或大雨、大雪、大雾等恶劣天气不吊。</a:t>
            </a:r>
            <a:endParaRPr lang="zh-CN" altLang="en-US" sz="1800" dirty="0">
              <a:latin typeface="Lucida Sans Unicode" panose="020B0602030504020204" pitchFamily="34" charset="0"/>
              <a:ea typeface="黑体" panose="02010609060101010101" pitchFamily="49"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0050" name="图片 5" descr="H:\其他\石家庄事故照片\6.jpg"/>
          <p:cNvPicPr>
            <a:picLocks noChangeAspect="1"/>
          </p:cNvPicPr>
          <p:nvPr/>
        </p:nvPicPr>
        <p:blipFill>
          <a:blip r:embed="rId1"/>
          <a:stretch>
            <a:fillRect/>
          </a:stretch>
        </p:blipFill>
        <p:spPr>
          <a:xfrm>
            <a:off x="2279650" y="1557338"/>
            <a:ext cx="7783513" cy="4691062"/>
          </a:xfrm>
          <a:prstGeom prst="rect">
            <a:avLst/>
          </a:prstGeom>
          <a:noFill/>
          <a:ln w="9525">
            <a:noFill/>
          </a:ln>
        </p:spPr>
      </p:pic>
      <p:sp>
        <p:nvSpPr>
          <p:cNvPr id="130051" name="矩形标注 3"/>
          <p:cNvSpPr/>
          <p:nvPr/>
        </p:nvSpPr>
        <p:spPr>
          <a:xfrm>
            <a:off x="2495550" y="4797425"/>
            <a:ext cx="1296988" cy="360363"/>
          </a:xfrm>
          <a:prstGeom prst="wedgeRectCallout">
            <a:avLst>
              <a:gd name="adj1" fmla="val 105833"/>
              <a:gd name="adj2" fmla="val -160264"/>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黑体" panose="02010609060101010101" pitchFamily="49" charset="-122"/>
                <a:ea typeface="黑体" panose="02010609060101010101" pitchFamily="49" charset="-122"/>
              </a:rPr>
              <a:t>平板车</a:t>
            </a:r>
            <a:endParaRPr lang="zh-CN" altLang="zh-CN" sz="1800" b="1" dirty="0">
              <a:latin typeface="黑体" panose="02010609060101010101" pitchFamily="49" charset="-122"/>
              <a:ea typeface="黑体" panose="02010609060101010101" pitchFamily="49" charset="-122"/>
            </a:endParaRPr>
          </a:p>
        </p:txBody>
      </p:sp>
      <p:sp>
        <p:nvSpPr>
          <p:cNvPr id="130052" name="矩形标注 4"/>
          <p:cNvSpPr/>
          <p:nvPr/>
        </p:nvSpPr>
        <p:spPr>
          <a:xfrm>
            <a:off x="5375275" y="5661025"/>
            <a:ext cx="1152525" cy="360363"/>
          </a:xfrm>
          <a:prstGeom prst="wedgeRectCallout">
            <a:avLst>
              <a:gd name="adj1" fmla="val -79722"/>
              <a:gd name="adj2" fmla="val -192454"/>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黑体" panose="02010609060101010101" pitchFamily="49" charset="-122"/>
                <a:ea typeface="黑体" panose="02010609060101010101" pitchFamily="49" charset="-122"/>
              </a:rPr>
              <a:t>安全帽</a:t>
            </a:r>
            <a:endParaRPr lang="zh-CN" altLang="zh-CN" sz="1800" b="1" dirty="0">
              <a:latin typeface="黑体" panose="02010609060101010101" pitchFamily="49" charset="-122"/>
              <a:ea typeface="黑体" panose="02010609060101010101" pitchFamily="49" charset="-122"/>
            </a:endParaRPr>
          </a:p>
        </p:txBody>
      </p:sp>
      <p:sp>
        <p:nvSpPr>
          <p:cNvPr id="130053" name="矩形标注 5"/>
          <p:cNvSpPr/>
          <p:nvPr/>
        </p:nvSpPr>
        <p:spPr>
          <a:xfrm>
            <a:off x="8759825" y="1773238"/>
            <a:ext cx="1152525" cy="360362"/>
          </a:xfrm>
          <a:prstGeom prst="wedgeRectCallout">
            <a:avLst>
              <a:gd name="adj1" fmla="val -132630"/>
              <a:gd name="adj2" fmla="val 455708"/>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黑体" panose="02010609060101010101" pitchFamily="49" charset="-122"/>
                <a:ea typeface="黑体" panose="02010609060101010101" pitchFamily="49" charset="-122"/>
              </a:rPr>
              <a:t>阳极板</a:t>
            </a:r>
            <a:endParaRPr lang="zh-CN" altLang="zh-CN" sz="1800" b="1" dirty="0">
              <a:latin typeface="黑体" panose="02010609060101010101" pitchFamily="49" charset="-122"/>
              <a:ea typeface="黑体" panose="02010609060101010101" pitchFamily="49" charset="-122"/>
            </a:endParaRPr>
          </a:p>
        </p:txBody>
      </p:sp>
      <p:sp>
        <p:nvSpPr>
          <p:cNvPr id="130054" name="矩形标注 6"/>
          <p:cNvSpPr/>
          <p:nvPr/>
        </p:nvSpPr>
        <p:spPr>
          <a:xfrm>
            <a:off x="3359150" y="3284538"/>
            <a:ext cx="792163" cy="360362"/>
          </a:xfrm>
          <a:prstGeom prst="wedgeRectCallout">
            <a:avLst>
              <a:gd name="adj1" fmla="val 289153"/>
              <a:gd name="adj2" fmla="val -86630"/>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黑体" panose="02010609060101010101" pitchFamily="49" charset="-122"/>
                <a:ea typeface="黑体" panose="02010609060101010101" pitchFamily="49" charset="-122"/>
              </a:rPr>
              <a:t>吊车</a:t>
            </a:r>
            <a:endParaRPr lang="zh-CN" altLang="zh-CN" sz="1800" b="1" dirty="0">
              <a:latin typeface="黑体" panose="02010609060101010101" pitchFamily="49" charset="-122"/>
              <a:ea typeface="黑体" panose="02010609060101010101" pitchFamily="49" charset="-122"/>
            </a:endParaRPr>
          </a:p>
        </p:txBody>
      </p:sp>
      <p:sp>
        <p:nvSpPr>
          <p:cNvPr id="130055" name="矩形标注 7"/>
          <p:cNvSpPr/>
          <p:nvPr/>
        </p:nvSpPr>
        <p:spPr>
          <a:xfrm>
            <a:off x="7310438" y="4643438"/>
            <a:ext cx="1152525" cy="360362"/>
          </a:xfrm>
          <a:prstGeom prst="wedgeRectCallout">
            <a:avLst>
              <a:gd name="adj1" fmla="val -162394"/>
              <a:gd name="adj2" fmla="val -110440"/>
            </a:avLst>
          </a:prstGeom>
          <a:solidFill>
            <a:srgbClr val="FFFFFF"/>
          </a:solidFill>
          <a:ln w="9525" cap="flat" cmpd="sng">
            <a:solidFill>
              <a:srgbClr val="FF0000"/>
            </a:solidFill>
            <a:prstDash val="solid"/>
            <a:round/>
            <a:headEnd type="none" w="med" len="med"/>
            <a:tailEnd type="none" w="med" len="med"/>
          </a:ln>
        </p:spPr>
        <p:txBody>
          <a:bodyPr/>
          <a:p>
            <a:pPr algn="ctr"/>
            <a:r>
              <a:rPr lang="zh-CN" altLang="en-US" sz="1800" b="1" dirty="0">
                <a:latin typeface="黑体" panose="02010609060101010101" pitchFamily="49" charset="-122"/>
                <a:ea typeface="黑体" panose="02010609060101010101" pitchFamily="49" charset="-122"/>
              </a:rPr>
              <a:t>人员位置</a:t>
            </a:r>
            <a:endParaRPr lang="zh-CN" altLang="zh-CN" sz="1800" b="1" dirty="0">
              <a:latin typeface="黑体" panose="02010609060101010101" pitchFamily="49" charset="-122"/>
              <a:ea typeface="黑体" panose="02010609060101010101" pitchFamily="49" charset="-122"/>
            </a:endParaRPr>
          </a:p>
        </p:txBody>
      </p:sp>
      <p:sp>
        <p:nvSpPr>
          <p:cNvPr id="130056" name="Rectangle 9"/>
          <p:cNvSpPr/>
          <p:nvPr/>
        </p:nvSpPr>
        <p:spPr>
          <a:xfrm>
            <a:off x="1919288" y="1557338"/>
            <a:ext cx="3671887" cy="1476375"/>
          </a:xfrm>
          <a:prstGeom prst="rect">
            <a:avLst/>
          </a:prstGeom>
          <a:solidFill>
            <a:srgbClr val="FFFF00"/>
          </a:solidFill>
          <a:ln w="9525">
            <a:noFill/>
          </a:ln>
        </p:spPr>
        <p:txBody>
          <a:bodyPr>
            <a:spAutoFit/>
          </a:bodyPr>
          <a:p>
            <a:r>
              <a:rPr lang="zh-CN" altLang="en-US" sz="1800" b="1" dirty="0">
                <a:solidFill>
                  <a:srgbClr val="FF0000"/>
                </a:solidFill>
                <a:latin typeface="仿宋_GB2312"/>
                <a:ea typeface="仿宋_GB2312"/>
              </a:rPr>
              <a:t>某</a:t>
            </a:r>
            <a:r>
              <a:rPr lang="zh-CN" altLang="zh-CN" sz="1800" b="1" dirty="0">
                <a:solidFill>
                  <a:srgbClr val="FF0000"/>
                </a:solidFill>
                <a:latin typeface="仿宋_GB2312"/>
                <a:ea typeface="仿宋_GB2312"/>
              </a:rPr>
              <a:t>公司在对拆除的燃煤锅炉电除尘阳极板装车过程中，阳极板侧滑，将其雇佣的平板车司机挤压致伤，经抢救无效死亡。</a:t>
            </a:r>
            <a:endParaRPr lang="en-US" altLang="zh-CN" sz="1800" b="1" dirty="0">
              <a:solidFill>
                <a:srgbClr val="FF0000"/>
              </a:solidFill>
              <a:latin typeface="仿宋_GB2312"/>
              <a:ea typeface="仿宋_GB2312"/>
            </a:endParaRPr>
          </a:p>
          <a:p>
            <a:r>
              <a:rPr lang="en-US" altLang="zh-CN" sz="1800" b="1" dirty="0">
                <a:solidFill>
                  <a:srgbClr val="FF0000"/>
                </a:solidFill>
                <a:latin typeface="仿宋_GB2312"/>
                <a:ea typeface="仿宋_GB2312"/>
              </a:rPr>
              <a:t>    </a:t>
            </a:r>
            <a:r>
              <a:rPr lang="zh-CN" altLang="zh-CN" sz="1800" b="1" dirty="0">
                <a:solidFill>
                  <a:srgbClr val="FF0000"/>
                </a:solidFill>
                <a:latin typeface="仿宋_GB2312"/>
                <a:ea typeface="仿宋_GB2312"/>
              </a:rPr>
              <a:t>吊装作业的吊车司机无资质，</a:t>
            </a:r>
            <a:endParaRPr lang="zh-CN" altLang="en-US" sz="1800" b="1" dirty="0">
              <a:solidFill>
                <a:srgbClr val="FF0000"/>
              </a:solidFill>
              <a:latin typeface="仿宋_GB2312"/>
              <a:ea typeface="仿宋_GB2312"/>
            </a:endParaRPr>
          </a:p>
        </p:txBody>
      </p:sp>
      <p:sp>
        <p:nvSpPr>
          <p:cNvPr id="130057" name="Text Box 10"/>
          <p:cNvSpPr txBox="1"/>
          <p:nvPr/>
        </p:nvSpPr>
        <p:spPr>
          <a:xfrm>
            <a:off x="3359150" y="476250"/>
            <a:ext cx="2022475" cy="368300"/>
          </a:xfrm>
          <a:prstGeom prst="rect">
            <a:avLst/>
          </a:prstGeom>
          <a:solidFill>
            <a:srgbClr val="00B050"/>
          </a:solidFill>
          <a:ln w="9525">
            <a:noFill/>
          </a:ln>
        </p:spPr>
        <p:txBody>
          <a:bodyPr>
            <a:spAutoFit/>
          </a:bodyPr>
          <a:p>
            <a:pPr>
              <a:spcBef>
                <a:spcPct val="50000"/>
              </a:spcBef>
            </a:pPr>
            <a:r>
              <a:rPr lang="en-US" altLang="zh-CN" sz="1800" b="1" dirty="0">
                <a:latin typeface="仿宋_GB2312"/>
                <a:ea typeface="仿宋_GB2312"/>
              </a:rPr>
              <a:t> </a:t>
            </a:r>
            <a:r>
              <a:rPr lang="zh-CN" altLang="en-US" sz="1800" b="1" dirty="0">
                <a:latin typeface="仿宋_GB2312"/>
                <a:ea typeface="仿宋_GB2312"/>
              </a:rPr>
              <a:t>典型事故</a:t>
            </a:r>
            <a:endParaRPr lang="zh-CN" altLang="en-US" sz="1800" b="1" dirty="0">
              <a:latin typeface="仿宋_GB2312"/>
              <a:ea typeface="仿宋_GB2312"/>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1074" name="Picture 5" descr="2"/>
          <p:cNvPicPr>
            <a:picLocks noChangeAspect="1"/>
          </p:cNvPicPr>
          <p:nvPr/>
        </p:nvPicPr>
        <p:blipFill>
          <a:blip r:embed="rId1"/>
          <a:stretch>
            <a:fillRect/>
          </a:stretch>
        </p:blipFill>
        <p:spPr>
          <a:xfrm>
            <a:off x="7104063" y="1557338"/>
            <a:ext cx="3095625" cy="2447925"/>
          </a:xfrm>
          <a:prstGeom prst="rect">
            <a:avLst/>
          </a:prstGeom>
          <a:noFill/>
          <a:ln w="9525">
            <a:noFill/>
          </a:ln>
        </p:spPr>
      </p:pic>
      <p:sp>
        <p:nvSpPr>
          <p:cNvPr id="131075" name="Rectangle 5"/>
          <p:cNvSpPr/>
          <p:nvPr/>
        </p:nvSpPr>
        <p:spPr>
          <a:xfrm>
            <a:off x="1919288" y="1196975"/>
            <a:ext cx="3960812" cy="1476375"/>
          </a:xfrm>
          <a:prstGeom prst="rect">
            <a:avLst/>
          </a:prstGeom>
          <a:noFill/>
          <a:ln w="9525">
            <a:noFill/>
          </a:ln>
        </p:spPr>
        <p:txBody>
          <a:bodyPr>
            <a:spAutoFit/>
          </a:bodyPr>
          <a:p>
            <a:r>
              <a:rPr lang="zh-CN" altLang="en-US" sz="1800" b="1" dirty="0">
                <a:latin typeface="仿宋_GB2312"/>
                <a:ea typeface="仿宋_GB2312"/>
              </a:rPr>
              <a:t>使用</a:t>
            </a:r>
            <a:r>
              <a:rPr lang="en-US" altLang="zh-CN" sz="1800" b="1" dirty="0">
                <a:latin typeface="仿宋_GB2312"/>
                <a:ea typeface="仿宋_GB2312"/>
              </a:rPr>
              <a:t>25</a:t>
            </a:r>
            <a:r>
              <a:rPr lang="zh-CN" altLang="en-US" sz="1800" b="1" dirty="0">
                <a:latin typeface="仿宋_GB2312"/>
                <a:ea typeface="仿宋_GB2312"/>
              </a:rPr>
              <a:t>吨汽车吊进行穿管作业，吊装管道直径</a:t>
            </a:r>
            <a:r>
              <a:rPr lang="en-US" altLang="zh-CN" sz="1800" b="1" dirty="0">
                <a:latin typeface="仿宋_GB2312"/>
                <a:ea typeface="仿宋_GB2312"/>
              </a:rPr>
              <a:t>100mm</a:t>
            </a:r>
            <a:r>
              <a:rPr lang="zh-CN" altLang="en-US" sz="1800" b="1" dirty="0">
                <a:latin typeface="仿宋_GB2312"/>
                <a:ea typeface="仿宋_GB2312"/>
              </a:rPr>
              <a:t>，长约</a:t>
            </a:r>
            <a:r>
              <a:rPr lang="en-US" altLang="zh-CN" sz="1800" b="1" dirty="0">
                <a:latin typeface="仿宋_GB2312"/>
                <a:ea typeface="仿宋_GB2312"/>
              </a:rPr>
              <a:t>9</a:t>
            </a:r>
            <a:r>
              <a:rPr lang="zh-CN" altLang="en-US" sz="1800" b="1" dirty="0">
                <a:latin typeface="仿宋_GB2312"/>
                <a:ea typeface="仿宋_GB2312"/>
              </a:rPr>
              <a:t>米。当被吊管道上升至</a:t>
            </a:r>
            <a:r>
              <a:rPr lang="en-US" altLang="zh-CN" sz="1800" b="1" dirty="0">
                <a:latin typeface="仿宋_GB2312"/>
                <a:ea typeface="仿宋_GB2312"/>
              </a:rPr>
              <a:t>9.5</a:t>
            </a:r>
            <a:r>
              <a:rPr lang="zh-CN" altLang="en-US" sz="1800" b="1" dirty="0">
                <a:latin typeface="仿宋_GB2312"/>
                <a:ea typeface="仿宋_GB2312"/>
              </a:rPr>
              <a:t>米左右时与管架发生碰撞，管道滑落至地面后反弹，砸到路过此地一职工 头部死亡。</a:t>
            </a:r>
            <a:endParaRPr lang="zh-CN" altLang="en-US" sz="1800" b="1" dirty="0">
              <a:latin typeface="仿宋_GB2312"/>
              <a:ea typeface="仿宋_GB2312"/>
            </a:endParaRPr>
          </a:p>
        </p:txBody>
      </p:sp>
      <p:pic>
        <p:nvPicPr>
          <p:cNvPr id="131076" name="Picture 5" descr="1"/>
          <p:cNvPicPr>
            <a:picLocks noChangeAspect="1"/>
          </p:cNvPicPr>
          <p:nvPr/>
        </p:nvPicPr>
        <p:blipFill>
          <a:blip r:embed="rId2"/>
          <a:stretch>
            <a:fillRect/>
          </a:stretch>
        </p:blipFill>
        <p:spPr>
          <a:xfrm>
            <a:off x="2135188" y="2852738"/>
            <a:ext cx="4537075" cy="2159000"/>
          </a:xfrm>
          <a:prstGeom prst="rect">
            <a:avLst/>
          </a:prstGeom>
          <a:noFill/>
          <a:ln w="9525">
            <a:noFill/>
          </a:ln>
        </p:spPr>
      </p:pic>
      <p:pic>
        <p:nvPicPr>
          <p:cNvPr id="131077" name="Picture 6" descr="3"/>
          <p:cNvPicPr>
            <a:picLocks noChangeAspect="1"/>
          </p:cNvPicPr>
          <p:nvPr/>
        </p:nvPicPr>
        <p:blipFill>
          <a:blip r:embed="rId3"/>
          <a:srcRect l="19362"/>
          <a:stretch>
            <a:fillRect/>
          </a:stretch>
        </p:blipFill>
        <p:spPr>
          <a:xfrm>
            <a:off x="6959600" y="4076700"/>
            <a:ext cx="3276600" cy="2333625"/>
          </a:xfrm>
          <a:prstGeom prst="rect">
            <a:avLst/>
          </a:prstGeom>
          <a:noFill/>
          <a:ln w="9525">
            <a:noFill/>
          </a:ln>
        </p:spPr>
      </p:pic>
      <p:sp>
        <p:nvSpPr>
          <p:cNvPr id="131078" name="Rectangle 8"/>
          <p:cNvSpPr/>
          <p:nvPr/>
        </p:nvSpPr>
        <p:spPr>
          <a:xfrm>
            <a:off x="1992313" y="5229860"/>
            <a:ext cx="4678362" cy="1198880"/>
          </a:xfrm>
          <a:prstGeom prst="rect">
            <a:avLst/>
          </a:prstGeom>
          <a:noFill/>
          <a:ln w="9525">
            <a:noFill/>
          </a:ln>
        </p:spPr>
        <p:txBody>
          <a:bodyPr anchor="ctr" anchorCtr="0">
            <a:spAutoFit/>
          </a:bodyPr>
          <a:p>
            <a:pPr algn="ctr"/>
            <a:r>
              <a:rPr lang="zh-CN" altLang="en-US" sz="1800" b="1" dirty="0">
                <a:latin typeface="仿宋_GB2312"/>
                <a:ea typeface="仿宋_GB2312"/>
              </a:rPr>
              <a:t>吊件绑扎不牢。吊件只捆绑了</a:t>
            </a:r>
            <a:r>
              <a:rPr lang="en-US" altLang="zh-CN" sz="1800" b="1" dirty="0">
                <a:latin typeface="仿宋_GB2312"/>
                <a:ea typeface="仿宋_GB2312"/>
              </a:rPr>
              <a:t>1</a:t>
            </a:r>
            <a:r>
              <a:rPr lang="zh-CN" altLang="en-US" sz="1800" b="1" dirty="0">
                <a:latin typeface="仿宋_GB2312"/>
                <a:ea typeface="仿宋_GB2312"/>
              </a:rPr>
              <a:t>圈且用单扣固定直径</a:t>
            </a:r>
            <a:r>
              <a:rPr lang="en-US" altLang="zh-CN" sz="1800" b="1" dirty="0">
                <a:latin typeface="仿宋_GB2312"/>
                <a:ea typeface="仿宋_GB2312"/>
              </a:rPr>
              <a:t>100mm</a:t>
            </a:r>
            <a:r>
              <a:rPr lang="zh-CN" altLang="en-US" sz="1800" b="1" dirty="0">
                <a:latin typeface="仿宋_GB2312"/>
                <a:ea typeface="仿宋_GB2312"/>
              </a:rPr>
              <a:t>的管线，埋下了安全隐患。</a:t>
            </a:r>
            <a:endParaRPr lang="zh-CN" altLang="en-US" sz="1800" b="1" dirty="0">
              <a:latin typeface="仿宋_GB2312"/>
              <a:ea typeface="仿宋_GB2312"/>
            </a:endParaRPr>
          </a:p>
          <a:p>
            <a:r>
              <a:rPr lang="zh-CN" altLang="en-US" sz="1800" b="1" dirty="0">
                <a:latin typeface="仿宋_GB2312"/>
                <a:ea typeface="仿宋_GB2312"/>
              </a:rPr>
              <a:t>   现场监护不到位，无关人员进到了警戒区域。</a:t>
            </a:r>
            <a:r>
              <a:rPr lang="zh-CN" altLang="en-US" sz="1800" dirty="0">
                <a:latin typeface="仿宋_GB2312"/>
                <a:ea typeface="仿宋_GB2312"/>
              </a:rPr>
              <a:t> </a:t>
            </a:r>
            <a:endParaRPr lang="zh-CN" altLang="en-US" sz="1800" dirty="0">
              <a:latin typeface="仿宋_GB2312"/>
              <a:ea typeface="仿宋_GB2312"/>
            </a:endParaRPr>
          </a:p>
        </p:txBody>
      </p:sp>
    </p:spTree>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10</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临时用电作业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33730" y="1356360"/>
            <a:ext cx="11205845" cy="456946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1、在运行的火灾爆炸危险性生产装置、罐区和具有火爆炸危险场所内不应接临时电源,确需时应对周围环境进行可燃气体检测分析,分析结果应符合 5.3.2 的规定。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2、各类移动电源及外部自备电源,不应接入电网。</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3、在开关上接引、拆除临时用电线路时，其上级开关应断电、加锁，并挂安全警示标牌，接、拆线路作业时，应有监护人在场。</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4、临时用电应设置保护开关,使用前应检查电气装置和保护设施的可靠性。所有的临时用电均应设置接地保护。</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568896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5、临时用电设备和线路应按供电电压等级和容量正确配置、使用，所用的电器元件应符合国家相关产品标准及作业现场环境要求，临时用电电源施工、安装应符合GB 50194的有关要求，并有良好的接地。</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6、临时用电还应满足如下要求: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a)火灾爆炸危险场所应使用相应防爆等级的电气元件,并采取相应的防爆安全措施;</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b)临时用电线路及设备应有良好的绝缘,所有的临时用电线路应采用耐压等级不低于500V的绝缘导线;</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c)临时用电线路经过火灾爆炸危险场所以及有高温、振动、腐蚀、积水及产生机械损伤等区域，不应有接头，并应采取相应的保护措施;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5128895"/>
          </a:xfrm>
          <a:prstGeom prst="rect">
            <a:avLst/>
          </a:prstGeom>
          <a:noFill/>
          <a:ln w="9525">
            <a:noFill/>
          </a:ln>
        </p:spPr>
        <p:txBody>
          <a:bodyPr wrap="square">
            <a:spAutoFit/>
          </a:bodyPr>
          <a:lstStyle/>
          <a:p>
            <a:pPr marL="0" algn="l" fontAlgn="auto">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d)临时用电架空线应采用绝缘铜芯线,并应架设在专用电杆或支架上，其最大弧垂与地面距离，在作业现场不低于2.5 m,穿越机动车道不低于5m;</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 e)沿墙面或地面敷设电缆线路应符合下列规定: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FontTx/>
              <a:buNone/>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电缆线路敷设路径应有醒目的警告标志:</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--沿地面明敷的电缆线路应沿建筑物墙体根部敷设,穿越道路或其他易受机械损伤的区域，应采取防机械损伤的措施，周围环境应保持干操；</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30000"/>
              </a:lnSpc>
              <a:spcBef>
                <a:spcPts val="0"/>
              </a:spcBef>
              <a:buClrTx/>
              <a:buSzTx/>
              <a:buFont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---在电滥敷设路径附近,当有产生明火的作业时,应采取防止火花损伤电缆的措施;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4569460"/>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f)对需埋地敷设的电缆线路应设有走向标志和安全标志。电缆埋地深度不应小干 0.7m,穿越道路时应加设防护套管;</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g)现场临时用电配电盘、箱应有电压标志和危险标志,应有防雨措施,盘、</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箱、门应能牢靠关闭并上锁管理;</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h)临时用电设施应安装符合规范要求的漏电保护器,移动工具手持式电动工具应逐个配置漏电保护器和电源开关。</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7、未经批准,临时用电单位不应向其他单位转供电或增加用电负荷，以及变更用电地点和用途。</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73430" y="1506220"/>
            <a:ext cx="5424805"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8、临时用电时间一般不超过 15 天，特殊情况不应超过30天;用于动火，受限空间作业的临时用电时间应和相应作业时间一致;用电结束后,用电单位应及时通知供电单位拆除临时用电线路。</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1"/>
          <a:stretch>
            <a:fillRect/>
          </a:stretch>
        </p:blipFill>
        <p:spPr>
          <a:xfrm>
            <a:off x="6715125" y="1433830"/>
            <a:ext cx="4720590" cy="399097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561975" y="523875"/>
            <a:ext cx="11503660" cy="581025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56870" y="386715"/>
            <a:ext cx="11336020" cy="5730875"/>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10920" y="246380"/>
            <a:ext cx="10768965" cy="590169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795655" y="327660"/>
            <a:ext cx="10927080" cy="597789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2876550" y="1567815"/>
            <a:ext cx="6438900" cy="2966085"/>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11</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动土作业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03250" y="1776095"/>
            <a:ext cx="7352030"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1、作业前,应检查工器具、现场支撑是否牢固、完好，发现问题应及时处理。</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2、作业现场应根据需要设置护栏、盖板和警告标志，夜间应悬挂警示灯。</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3、在动土开挖前,应先做好地面和地下排水,防止地面水渗入作业层面造成塌方。</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8025765" y="2123440"/>
            <a:ext cx="3644900" cy="275590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13080" y="1955800"/>
            <a:ext cx="7352030"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作业前,作业单位应了解地下隐蔽设施的分布情况,作业临近地下隐蔽设施时,应使用适当工具人工挖掘,避免损坏地下隐蔽设施;如暴露出电缆、管线以及不能辨认的物品时,应立即停止作业,妥善加以保护,报告动土审批单位,经采取保护措施后方可继续作业。</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src=http___epaper.fsonline.com.cn_jrcc_resfile_2020-06-09_B03_s_274666_203624.jpg&amp;refer=http___epaper.fsonline.com.webp"/>
          <p:cNvPicPr>
            <a:picLocks noChangeAspect="1"/>
          </p:cNvPicPr>
          <p:nvPr/>
        </p:nvPicPr>
        <p:blipFill>
          <a:blip r:embed="rId1"/>
          <a:srcRect/>
          <a:stretch>
            <a:fillRect/>
          </a:stretch>
        </p:blipFill>
        <p:spPr>
          <a:xfrm>
            <a:off x="7945120" y="2211070"/>
            <a:ext cx="3746500" cy="266954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036955"/>
            <a:ext cx="11205845" cy="568896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5、挖掘坑、槽、井、沟等作业,应遵守下列规定: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 挖掘上方应自上而下逐层挖掘,不应采用挖底脚的办法挖掘;使用的材料,挖出的泥土应堆在距坑、槽、井、沟边沿至少1m处,堆土高度不应大于 15 m；挖出的泥土不应堵塞下水道和窨井;</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 不应在上壁上挖洞攀登；</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 不应在坑、槽、井、沟上端边沿站立、行走;</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d)应视土壤性质、湿度和挖掘深度设置安全边坡或固壁支撑;作业过程中应对坑、槽、井、沟边坡或固壁支撑架随时检查,特别是雨雪后和解冻时期,如发现边坡有裂缝、松疏或支撑有折断、走位等异常情况时,应立即停止作业,并采取相应措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23570" y="1795780"/>
            <a:ext cx="6333490"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e)在坑、槽、井、沟的边缘安放机械、铺设轨道及通行车辆时，应保持适当距离，采取有效的固壁措施,确保安全;</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f) 在拆除固壁支撑时,应从下而上进行;更换支撑时,应先装新的,后拆旧的;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g) 不应在坑、槽、井、沟内休息。</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5b0988e595225.cdn.sohucs.com_images_20190816_ec3049d7999c45adbb0158be293264e3.jpeg&amp;refer=http___5b0988e595225.cdn.sohucs.webp"/>
          <p:cNvPicPr>
            <a:picLocks noChangeAspect="1"/>
          </p:cNvPicPr>
          <p:nvPr/>
        </p:nvPicPr>
        <p:blipFill>
          <a:blip r:embed="rId1"/>
          <a:stretch>
            <a:fillRect/>
          </a:stretch>
        </p:blipFill>
        <p:spPr>
          <a:xfrm>
            <a:off x="7135495" y="1795780"/>
            <a:ext cx="4229735" cy="360299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11885" y="1984375"/>
            <a:ext cx="5494655" cy="288988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6、机械开挖时,应避开构筑物、管线,在距管道边1m范围内应采用人工开挖;在距直埋管线2m范围内宜采用人工开挖,避免对管线或电缆造成影响。</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src=http___ss2.meipian.me_users_55213537_a951fc2f9b63406dbf306f643013b6cb.jpg_meipian-raw_bucket_ivwen_key_dXNlcnMvNTUyMTM1MzcvYTk1MWZjMmY5YjYzNDA2ZGJmMzA2ZjY0MzAxM2I2Y2IuanBn_sign_ac25a3752fe16a8c049ddbaee3.webp"/>
          <p:cNvPicPr>
            <a:picLocks noChangeAspect="1"/>
          </p:cNvPicPr>
          <p:nvPr/>
        </p:nvPicPr>
        <p:blipFill>
          <a:blip r:embed="rId1"/>
          <a:stretch>
            <a:fillRect/>
          </a:stretch>
        </p:blipFill>
        <p:spPr>
          <a:xfrm>
            <a:off x="7089140" y="1745615"/>
            <a:ext cx="3635375" cy="361315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3395" y="1486535"/>
            <a:ext cx="11205845" cy="4569460"/>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7、动土作业人员在沟(槽、坑)下作业应按规定坡度顺序进行,使用机械挖掘时,人员不应进入机械旋转半径内;深度大于2m时,应设置人员上下的梯子等能够保证人员快速进出的设施;两人以上同时挖土时应相距2m以上,防止工具伤人。</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8、动土作业区域周围发现导常时,作业人员应立即撤离作业现场。</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9、在生产装置区、罐区等危险场所动土时,监护人员应与所在区域的生产人员建立联系,当生产装置区、罐区等场所发生突然排放有害物质时，监护人员应立即通知作业人员停止作业,迅速撤离现场。</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63575" y="2044065"/>
            <a:ext cx="7791450"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10、在生产装置区、罐区等危险场所动土时，遇有埋设的易燃易爆、有毒有害介质管线、窨井等可能引起燃烧、爆炸、中毒、窒息危险,且挖掘深度超过1.2m时,应执行受限空间作业相关规定。</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11、动土作业结束后,应及时回填土石,恢复地面设施。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4238810230,1578920633&amp;fm=253&amp;fmt=auto&amp;app=138&amp;f=GIF"/>
          <p:cNvPicPr>
            <a:picLocks noChangeAspect="1"/>
          </p:cNvPicPr>
          <p:nvPr/>
        </p:nvPicPr>
        <p:blipFill>
          <a:blip r:embed="rId1"/>
          <a:stretch>
            <a:fillRect/>
          </a:stretch>
        </p:blipFill>
        <p:spPr>
          <a:xfrm>
            <a:off x="8621395" y="2044065"/>
            <a:ext cx="3037205" cy="303720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772795" y="435610"/>
            <a:ext cx="10340340" cy="5986780"/>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814705" y="585470"/>
            <a:ext cx="10240645" cy="5686425"/>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86485" y="991235"/>
            <a:ext cx="10095230" cy="452120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645920" y="494030"/>
            <a:ext cx="8981440" cy="5433695"/>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5"/>
          <p:cNvSpPr/>
          <p:nvPr/>
        </p:nvSpPr>
        <p:spPr>
          <a:xfrm>
            <a:off x="4709795" y="1190625"/>
            <a:ext cx="2571115" cy="2397125"/>
          </a:xfrm>
          <a:prstGeom prst="ellipse">
            <a:avLst/>
          </a:prstGeom>
          <a:solidFill>
            <a:srgbClr val="353636"/>
          </a:solidFill>
          <a:ln w="9525">
            <a:noFill/>
          </a:ln>
        </p:spPr>
        <p:txBody>
          <a:bodyPr/>
          <a:lstStyle/>
          <a:p>
            <a:endParaRPr lang="zh-CN" altLang="en-US" sz="1905" dirty="0">
              <a:latin typeface="Arial" panose="020B0604020202020204" pitchFamily="34" charset="0"/>
            </a:endParaRPr>
          </a:p>
        </p:txBody>
      </p:sp>
      <p:sp>
        <p:nvSpPr>
          <p:cNvPr id="4" name="Freeform 8"/>
          <p:cNvSpPr/>
          <p:nvPr/>
        </p:nvSpPr>
        <p:spPr>
          <a:xfrm>
            <a:off x="4592320" y="2378075"/>
            <a:ext cx="2825115" cy="1327150"/>
          </a:xfrm>
          <a:custGeom>
            <a:avLst/>
            <a:gdLst/>
            <a:ahLst/>
            <a:cxnLst>
              <a:cxn ang="0">
                <a:pos x="2478088" y="0"/>
              </a:cxn>
              <a:cxn ang="0">
                <a:pos x="2478088" y="10048"/>
              </a:cxn>
              <a:cxn ang="0">
                <a:pos x="1239357" y="1254125"/>
              </a:cxn>
              <a:cxn ang="0">
                <a:pos x="0" y="10048"/>
              </a:cxn>
            </a:cxnLst>
            <a:rect l="0" t="0" r="0" b="0"/>
            <a:pathLst>
              <a:path w="3963" h="1997">
                <a:moveTo>
                  <a:pt x="3963" y="0"/>
                </a:moveTo>
                <a:cubicBezTo>
                  <a:pt x="3963" y="5"/>
                  <a:pt x="3963" y="11"/>
                  <a:pt x="3963" y="16"/>
                </a:cubicBezTo>
                <a:cubicBezTo>
                  <a:pt x="3963" y="1110"/>
                  <a:pt x="3076" y="1997"/>
                  <a:pt x="1982" y="1997"/>
                </a:cubicBezTo>
                <a:cubicBezTo>
                  <a:pt x="888" y="1997"/>
                  <a:pt x="0" y="1110"/>
                  <a:pt x="0" y="16"/>
                </a:cubicBezTo>
              </a:path>
            </a:pathLst>
          </a:custGeom>
          <a:noFill/>
          <a:ln w="8" cap="flat" cmpd="sng">
            <a:solidFill>
              <a:srgbClr val="4E4B49"/>
            </a:solidFill>
            <a:prstDash val="dash"/>
            <a:headEnd type="none" w="med" len="med"/>
            <a:tailEnd type="none" w="med" len="med"/>
          </a:ln>
        </p:spPr>
        <p:txBody>
          <a:bodyPr/>
          <a:lstStyle/>
          <a:p>
            <a:endParaRPr lang="zh-CN" altLang="en-US" sz="1905"/>
          </a:p>
        </p:txBody>
      </p:sp>
      <p:sp>
        <p:nvSpPr>
          <p:cNvPr id="5" name="Oval 9"/>
          <p:cNvSpPr/>
          <p:nvPr/>
        </p:nvSpPr>
        <p:spPr>
          <a:xfrm>
            <a:off x="7335520" y="2291080"/>
            <a:ext cx="159385"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9" name="Oval 10"/>
          <p:cNvSpPr/>
          <p:nvPr/>
        </p:nvSpPr>
        <p:spPr>
          <a:xfrm>
            <a:off x="4516755" y="2291080"/>
            <a:ext cx="157480" cy="147955"/>
          </a:xfrm>
          <a:prstGeom prst="ellipse">
            <a:avLst/>
          </a:prstGeom>
          <a:solidFill>
            <a:srgbClr val="EB3D00"/>
          </a:solidFill>
          <a:ln w="9525">
            <a:noFill/>
          </a:ln>
        </p:spPr>
        <p:txBody>
          <a:bodyPr/>
          <a:lstStyle/>
          <a:p>
            <a:endParaRPr lang="zh-CN" altLang="en-US" sz="1905" dirty="0">
              <a:latin typeface="Arial" panose="020B0604020202020204" pitchFamily="34" charset="0"/>
            </a:endParaRPr>
          </a:p>
        </p:txBody>
      </p:sp>
      <p:sp>
        <p:nvSpPr>
          <p:cNvPr id="10" name="TextBox 13"/>
          <p:cNvSpPr txBox="1"/>
          <p:nvPr/>
        </p:nvSpPr>
        <p:spPr>
          <a:xfrm>
            <a:off x="5100955" y="1505585"/>
            <a:ext cx="1807845" cy="1718945"/>
          </a:xfrm>
          <a:prstGeom prst="rect">
            <a:avLst/>
          </a:prstGeom>
          <a:noFill/>
          <a:ln w="9525">
            <a:noFill/>
          </a:ln>
        </p:spPr>
        <p:txBody>
          <a:bodyPr wrap="square">
            <a:spAutoFit/>
          </a:bodyPr>
          <a:lstStyle/>
          <a:p>
            <a:r>
              <a:rPr lang="en-US" altLang="x-none" sz="10580" dirty="0">
                <a:solidFill>
                  <a:srgbClr val="F8F8F8"/>
                </a:solidFill>
                <a:latin typeface="Arial" panose="020B0604020202020204" pitchFamily="34" charset="0"/>
              </a:rPr>
              <a:t>12</a:t>
            </a:r>
            <a:endParaRPr lang="zh-CN" altLang="en-US" sz="10580" dirty="0">
              <a:solidFill>
                <a:srgbClr val="F8F8F8"/>
              </a:solidFill>
              <a:latin typeface="Arial" panose="020B0604020202020204" pitchFamily="34" charset="0"/>
            </a:endParaRPr>
          </a:p>
        </p:txBody>
      </p:sp>
      <p:cxnSp>
        <p:nvCxnSpPr>
          <p:cNvPr id="11" name="直接连接符 15"/>
          <p:cNvCxnSpPr/>
          <p:nvPr/>
        </p:nvCxnSpPr>
        <p:spPr>
          <a:xfrm flipV="1">
            <a:off x="1100455" y="4023995"/>
            <a:ext cx="10011410" cy="20320"/>
          </a:xfrm>
          <a:prstGeom prst="line">
            <a:avLst/>
          </a:prstGeom>
          <a:ln w="22225" cap="flat" cmpd="sng">
            <a:solidFill>
              <a:srgbClr val="7F7F7F"/>
            </a:solidFill>
            <a:prstDash val="solid"/>
            <a:headEnd type="none" w="med" len="med"/>
            <a:tailEnd type="none" w="med" len="med"/>
          </a:ln>
        </p:spPr>
      </p:cxnSp>
      <p:sp>
        <p:nvSpPr>
          <p:cNvPr id="13" name="TextBox 17"/>
          <p:cNvSpPr txBox="1"/>
          <p:nvPr/>
        </p:nvSpPr>
        <p:spPr>
          <a:xfrm>
            <a:off x="737235" y="4227195"/>
            <a:ext cx="10535285" cy="1322070"/>
          </a:xfrm>
          <a:prstGeom prst="rect">
            <a:avLst/>
          </a:prstGeom>
          <a:noFill/>
          <a:ln w="9525">
            <a:noFill/>
          </a:ln>
        </p:spPr>
        <p:txBody>
          <a:bodyPr wrap="square">
            <a:spAutoFit/>
          </a:bodyPr>
          <a:lstStyle/>
          <a:p>
            <a:pPr algn="ctr"/>
            <a:r>
              <a:rPr lang="zh-CN" altLang="en-US" sz="8000" b="1" dirty="0">
                <a:solidFill>
                  <a:srgbClr val="C00000"/>
                </a:solidFill>
                <a:latin typeface="微软雅黑" panose="020B0503020204020204" pitchFamily="34" charset="-122"/>
                <a:ea typeface="微软雅黑" panose="020B0503020204020204" pitchFamily="34" charset="-122"/>
                <a:sym typeface="+mn-ea"/>
              </a:rPr>
              <a:t>断路作业</a:t>
            </a:r>
            <a:r>
              <a:rPr lang="en-US" altLang="zh-CN" sz="8000" b="1">
                <a:solidFill>
                  <a:schemeClr val="bg1"/>
                </a:solidFill>
                <a:latin typeface="微软雅黑" panose="020B0503020204020204" pitchFamily="34" charset="-122"/>
                <a:ea typeface="微软雅黑" panose="020B0503020204020204" pitchFamily="34" charset="-122"/>
                <a:sym typeface="+mn-ea"/>
              </a:rPr>
              <a:t>   </a:t>
            </a:r>
            <a:endParaRPr lang="zh-CN" altLang="en-US" sz="8000" b="1"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Tm="7202">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90"/>
                                          </p:val>
                                        </p:tav>
                                        <p:tav tm="100000">
                                          <p:val>
                                            <p:fltVal val="0"/>
                                          </p:val>
                                        </p:tav>
                                      </p:tavLst>
                                    </p:anim>
                                    <p:animEffect transition="in" filter="fade">
                                      <p:cBhvr>
                                        <p:cTn id="14" dur="500"/>
                                        <p:tgtEl>
                                          <p:spTgt spid="10"/>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500"/>
                            </p:stCondLst>
                            <p:childTnLst>
                              <p:par>
                                <p:cTn id="21" presetID="37" presetClass="path" presetSubtype="0" accel="50000" decel="50000" fill="hold" grpId="1" nodeType="afterEffect">
                                  <p:stCondLst>
                                    <p:cond delay="0"/>
                                  </p:stCondLst>
                                  <p:childTnLst>
                                    <p:animMotion origin="layout" path="M -3.88889E-6 4.48659E-6 L -0.00434 0.05064 L -0.02378 0.10846 C -0.03593 0.12696 -0.05625 0.15124 -0.07465 0.16396 C -0.09305 0.17668 -0.11302 0.18524 -0.13385 0.18455 C -0.16302 0.19102 -0.18246 0.17183 -0.2 0.16003 C -0.21805 0.14824 -0.23073 0.13159 -0.24166 0.11424 L -0.26562 0.05666 L -0.26961 4.48659E-6 " pathEditMode="relative" rAng="0" ptsTypes="FAfafaFAF">
                                      <p:cBhvr>
                                        <p:cTn id="22" dur="1000" spd="-99800" fill="hold"/>
                                        <p:tgtEl>
                                          <p:spTgt spid="5"/>
                                        </p:tgtEl>
                                        <p:attrNameLst>
                                          <p:attrName>ppt_x</p:attrName>
                                          <p:attrName>ppt_y</p:attrName>
                                        </p:attrNameLst>
                                      </p:cBhvr>
                                      <p:rCtr x="-13300" y="9600"/>
                                    </p:animMotion>
                                  </p:childTnLst>
                                </p:cTn>
                              </p:par>
                              <p:par>
                                <p:cTn id="23" presetID="2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par>
                          <p:cTn id="26" fill="hold">
                            <p:stCondLst>
                              <p:cond delay="2500"/>
                            </p:stCondLst>
                            <p:childTnLst>
                              <p:par>
                                <p:cTn id="27" presetID="31"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 calcmode="lin" valueType="num">
                                      <p:cBhvr>
                                        <p:cTn id="31" dur="500" fill="hold"/>
                                        <p:tgtEl>
                                          <p:spTgt spid="11"/>
                                        </p:tgtEl>
                                        <p:attrNameLst>
                                          <p:attrName>style.rotation</p:attrName>
                                        </p:attrNameLst>
                                      </p:cBhvr>
                                      <p:tavLst>
                                        <p:tav tm="0">
                                          <p:val>
                                            <p:fltVal val="90"/>
                                          </p:val>
                                        </p:tav>
                                        <p:tav tm="100000">
                                          <p:val>
                                            <p:fltVal val="0"/>
                                          </p:val>
                                        </p:tav>
                                      </p:tavLst>
                                    </p:anim>
                                    <p:animEffect transition="in" filter="fade">
                                      <p:cBhvr>
                                        <p:cTn id="32" dur="500"/>
                                        <p:tgtEl>
                                          <p:spTgt spid="11"/>
                                        </p:tgtEl>
                                      </p:cBhvr>
                                    </p:animEffect>
                                  </p:childTnLst>
                                </p:cTn>
                              </p:par>
                            </p:childTnLst>
                          </p:cTn>
                        </p:par>
                        <p:par>
                          <p:cTn id="33" fill="hold">
                            <p:stCondLst>
                              <p:cond delay="30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5" grpId="1" bldLvl="0" animBg="1"/>
      <p:bldP spid="9" grpId="0" bldLvl="0" animBg="1"/>
      <p:bldP spid="10" grpId="0"/>
      <p:bldP spid="1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42620" y="1935480"/>
            <a:ext cx="7671435" cy="344995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1、作业前,作业单位应会同危险化学品企业相关部门制定交通组织方案,应能但证消防车和其他重要车辆的通行，并满足应急救援要求。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2、作业单位应根据需要在断路的路口和相关道路上设置交通警示标志,在作业区域附近设置路栏、道路作业警示灯、导向标等交通警示设施。</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img.book118.com_sr1_M00_00_2C_wKh2Alvvit2IbEDcAAD9q6zC7yEAAQyoACnn9cAAP3D918.jpg&amp;refer=http___img.book118.webp"/>
          <p:cNvPicPr>
            <a:picLocks noChangeAspect="1"/>
          </p:cNvPicPr>
          <p:nvPr/>
        </p:nvPicPr>
        <p:blipFill>
          <a:blip r:embed="rId1"/>
          <a:stretch>
            <a:fillRect/>
          </a:stretch>
        </p:blipFill>
        <p:spPr>
          <a:xfrm>
            <a:off x="8503285" y="2420620"/>
            <a:ext cx="3178175" cy="247904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72185" y="2125345"/>
            <a:ext cx="6713220" cy="2889885"/>
          </a:xfrm>
          <a:prstGeom prst="rect">
            <a:avLst/>
          </a:prstGeom>
          <a:noFill/>
          <a:ln w="9525">
            <a:noFill/>
          </a:ln>
        </p:spPr>
        <p:txBody>
          <a:bodyPr wrap="square">
            <a:spAutoFit/>
          </a:bodyPr>
          <a:lstStyle/>
          <a:p>
            <a:pPr marL="0" algn="l" fontAlgn="auto">
              <a:lnSpc>
                <a:spcPct val="130000"/>
              </a:lnSpc>
              <a:spcBef>
                <a:spcPts val="0"/>
              </a:spcBef>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3、在道路上进行定点作业，白天不超过2h、夜间不超过1h即可完工的,在有现场交通指挥人员指挥交通的情况下，只要作业区域设置了相应的交通警示设施，可不设标志牌。</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u=3199610282,3573417641&amp;fm=224&amp;app=112&amp;f=JPEG"/>
          <p:cNvPicPr>
            <a:picLocks noChangeAspect="1"/>
          </p:cNvPicPr>
          <p:nvPr/>
        </p:nvPicPr>
        <p:blipFill>
          <a:blip r:embed="rId1"/>
          <a:stretch>
            <a:fillRect/>
          </a:stretch>
        </p:blipFill>
        <p:spPr>
          <a:xfrm>
            <a:off x="7847330" y="1842135"/>
            <a:ext cx="3455670" cy="345567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53085" y="1795780"/>
            <a:ext cx="6983095" cy="344995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4、在夜间或雨、雪、雾天进行断路作业时设置的道路作业警示灯，应满足以下要求:</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a) 设置高度应离地面1.5m，不低于1.0m; </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b)其设置应能反映作业区域的轮廓;</a:t>
            </a:r>
            <a:endParaRPr lang="zh-CN" sz="2800" b="1">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c)应能发出至少自150m以外清晰可见的连续、闪烁或旅转的红光。</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src=http___g-search1.alicdn.com_img_bao_uploaded_i3_3327992875_TB18evnFDtYBeNjy1XdXXXXyVXa_!!0-item_pic.jpg_300x300.jpg&amp;refer=http___g-search1.alicdn.webp"/>
          <p:cNvPicPr>
            <a:picLocks noChangeAspect="1"/>
          </p:cNvPicPr>
          <p:nvPr/>
        </p:nvPicPr>
        <p:blipFill>
          <a:blip r:embed="rId1"/>
          <a:stretch>
            <a:fillRect/>
          </a:stretch>
        </p:blipFill>
        <p:spPr>
          <a:xfrm>
            <a:off x="7822565" y="1870710"/>
            <a:ext cx="3565525" cy="3375025"/>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02335" y="2165350"/>
            <a:ext cx="6153150" cy="2889885"/>
          </a:xfrm>
          <a:prstGeom prst="rect">
            <a:avLst/>
          </a:prstGeom>
          <a:noFill/>
          <a:ln w="9525">
            <a:noFill/>
          </a:ln>
        </p:spPr>
        <p:txBody>
          <a:bodyPr wrap="square">
            <a:spAutoFit/>
          </a:bodyPr>
          <a:lstStyle/>
          <a:p>
            <a:pPr marL="0" algn="l" fontAlgn="auto">
              <a:lnSpc>
                <a:spcPct val="130000"/>
              </a:lnSpc>
              <a:spcBef>
                <a:spcPts val="0"/>
              </a:spcBef>
              <a:buClrTx/>
              <a:buSzTx/>
              <a:buNone/>
            </a:pPr>
            <a:r>
              <a:rPr lang="zh-CN" sz="2800" b="1">
                <a:latin typeface="微软雅黑" panose="020B0503020204020204" pitchFamily="34" charset="-122"/>
                <a:ea typeface="微软雅黑" panose="020B0503020204020204" pitchFamily="34" charset="-122"/>
                <a:cs typeface="微软雅黑" panose="020B0503020204020204" pitchFamily="34" charset="-122"/>
                <a:sym typeface="+mn-ea"/>
              </a:rPr>
              <a:t>5、作业结束后,作业单位应清理现场,撤除作业区域、路口设置的路栏、道路作业警示灯、导向标等交通警示设施,并与危险化学品企业检查核实,报告有关部门恢复交通。</a:t>
            </a:r>
            <a:endParaRPr lang="zh-CN" sz="2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7400290" y="2092325"/>
            <a:ext cx="3925570" cy="2962910"/>
          </a:xfrm>
          <a:prstGeom prst="roundRect">
            <a:avLst/>
          </a:prstGeom>
          <a:effectLst>
            <a:glow rad="63500">
              <a:schemeClr val="accent2">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791210" y="706755"/>
            <a:ext cx="10390505" cy="5443855"/>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207260" y="1052195"/>
            <a:ext cx="7777480" cy="4752975"/>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264920" y="786130"/>
            <a:ext cx="9648825" cy="517652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73150" y="804545"/>
            <a:ext cx="9977755" cy="507111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3010" y="1007745"/>
            <a:ext cx="9745980" cy="5530850"/>
          </a:xfrm>
          <a:prstGeom prst="rect">
            <a:avLst/>
          </a:prstGeom>
          <a:noFill/>
          <a:ln w="12700" cmpd="sng">
            <a:solidFill>
              <a:schemeClr val="tx1"/>
            </a:solidFill>
            <a:prstDash val="solid"/>
          </a:ln>
        </p:spPr>
        <p:txBody>
          <a:bodyPr wrap="square">
            <a:spAutoFit/>
          </a:bodyPr>
          <a:lstStyle/>
          <a:p>
            <a:pPr indent="0" algn="l" fontAlgn="auto">
              <a:lnSpc>
                <a:spcPct val="130000"/>
              </a:lnSpc>
            </a:pPr>
            <a:r>
              <a:rPr lang="zh-CN" sz="1600" b="1">
                <a:solidFill>
                  <a:srgbClr val="000000"/>
                </a:solidFill>
                <a:ea typeface="宋体" panose="02010600030101010101" pitchFamily="2" charset="-122"/>
              </a:rPr>
              <a:t>说明：</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1．安全作业票的审核或会签人员根据危险化学品企业具体管理机构设置情况参照执行。</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2．I级高处作业还包括在坡度大于45°的斜坡上面实施的高处作业。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II级、III级高处作业还包括下列情形的高处作业：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a）在升降（吊装）口、坑、井、池、沟、洞等上面或附近进行的高处作业；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b）在易燃、易爆、易中毒、易灼伤的区域或转动设备附近进行的高处作业；</a:t>
            </a:r>
            <a:endParaRPr lang="en-US" sz="1600" b="1">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indent="0" algn="l" fontAlgn="auto">
              <a:lnSpc>
                <a:spcPct val="130000"/>
              </a:lnSpc>
            </a:pPr>
            <a:r>
              <a:rPr lang="zh-CN" sz="1600" b="1">
                <a:solidFill>
                  <a:srgbClr val="000000"/>
                </a:solidFill>
                <a:ea typeface="宋体" panose="02010600030101010101" pitchFamily="2" charset="-122"/>
              </a:rPr>
              <a:t>c）在无平台、无护栏的塔、釜、炉、罐等化工容器、设备及架空管道上进行的高处作业；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d）在塔、釜、炉、罐等设备内进行的高处作业；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e）在邻近排放有毒、有害气体、粉尘的放空管线或烟囱及设备的高处作业。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IV级高处作业还包括下列情形的高处作业：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a）在高温或低温环境下进行的异温高处作业；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b）在降雪时进行的雪天高处作业；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c）在降雨时进行的雨天高处作业；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d）在室外完全采用人工照明进行的夜间高处作业；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e）在接近或接触带电体条件下进行的带电高处作业；</a:t>
            </a:r>
            <a:endParaRPr lang="zh-CN" sz="1600" b="1">
              <a:solidFill>
                <a:srgbClr val="000000"/>
              </a:solidFill>
              <a:ea typeface="宋体" panose="02010600030101010101" pitchFamily="2" charset="-122"/>
            </a:endParaRPr>
          </a:p>
          <a:p>
            <a:pPr indent="0" algn="l" fontAlgn="auto">
              <a:lnSpc>
                <a:spcPct val="130000"/>
              </a:lnSpc>
            </a:pPr>
            <a:r>
              <a:rPr lang="zh-CN" sz="1600" b="1">
                <a:solidFill>
                  <a:srgbClr val="000000"/>
                </a:solidFill>
                <a:ea typeface="宋体" panose="02010600030101010101" pitchFamily="2" charset="-122"/>
              </a:rPr>
              <a:t>f）在无立足点或无牢靠立足点的条件下进行的悬空高处作业。</a:t>
            </a:r>
            <a:endParaRPr lang="en-US" sz="1600" b="1">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indent="0" algn="l" fontAlgn="auto">
              <a:lnSpc>
                <a:spcPct val="130000"/>
              </a:lnSpc>
            </a:pPr>
            <a:r>
              <a:rPr lang="zh-CN" sz="1600" b="1">
                <a:solidFill>
                  <a:srgbClr val="000000"/>
                </a:solidFill>
                <a:ea typeface="宋体" panose="02010600030101010101" pitchFamily="2" charset="-122"/>
              </a:rPr>
              <a:t>3．吊装质量小于10t的作业可不办理《吊装票》，但应进行风险分析，并确保措施可靠。</a:t>
            </a:r>
            <a:endParaRPr lang="zh-CN" altLang="en-US" sz="1600" b="1">
              <a:solidFill>
                <a:srgbClr val="000000"/>
              </a:solidFill>
              <a:ea typeface="宋体" panose="02010600030101010101" pitchFamily="2"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025525" y="773430"/>
            <a:ext cx="10149840" cy="829945"/>
          </a:xfrm>
          <a:prstGeom prst="rect">
            <a:avLst/>
          </a:prstGeom>
          <a:noFill/>
          <a:ln w="9525">
            <a:noFill/>
          </a:ln>
        </p:spPr>
        <p:txBody>
          <a:bodyPr wrap="square">
            <a:spAutoFit/>
          </a:bodyPr>
          <a:lstStyle/>
          <a:p>
            <a:pPr indent="0"/>
            <a:r>
              <a:rPr lang="zh-CN" sz="1600" b="1">
                <a:solidFill>
                  <a:srgbClr val="000000"/>
                </a:solidFill>
                <a:ea typeface="宋体" panose="02010600030101010101" pitchFamily="2" charset="-122"/>
              </a:rPr>
              <a:t>B．3 安全作业票的持有及保存</a:t>
            </a:r>
            <a:endParaRPr lang="zh-CN" sz="1600" b="0">
              <a:solidFill>
                <a:srgbClr val="000000"/>
              </a:solidFill>
              <a:ea typeface="宋体" panose="02010600030101010101" pitchFamily="2" charset="-122"/>
            </a:endParaRPr>
          </a:p>
          <a:p>
            <a:pPr indent="0"/>
            <a:r>
              <a:rPr lang="zh-CN" sz="1600" b="0">
                <a:solidFill>
                  <a:srgbClr val="000000"/>
                </a:solidFill>
                <a:ea typeface="宋体" panose="02010600030101010101" pitchFamily="2" charset="-122"/>
              </a:rPr>
              <a:t>安全作业票一式三联，其持有和存档部门（人）参见表B．2。安全作业票应至少保存一年，作业过程影像记录应至少留存一个月。</a:t>
            </a:r>
            <a:endParaRPr lang="zh-CN" altLang="en-US" sz="1600" b="0">
              <a:solidFill>
                <a:srgbClr val="000000"/>
              </a:solidFill>
              <a:ea typeface="宋体" panose="02010600030101010101" pitchFamily="2" charset="-122"/>
            </a:endParaRPr>
          </a:p>
        </p:txBody>
      </p:sp>
      <p:sp>
        <p:nvSpPr>
          <p:cNvPr id="3" name="文本框 2"/>
          <p:cNvSpPr txBox="1"/>
          <p:nvPr/>
        </p:nvSpPr>
        <p:spPr>
          <a:xfrm>
            <a:off x="3484880" y="1841183"/>
            <a:ext cx="5080000" cy="337185"/>
          </a:xfrm>
          <a:prstGeom prst="rect">
            <a:avLst/>
          </a:prstGeom>
          <a:noFill/>
          <a:ln w="9525">
            <a:noFill/>
          </a:ln>
        </p:spPr>
        <p:txBody>
          <a:bodyPr>
            <a:spAutoFit/>
          </a:bodyPr>
          <a:lstStyle/>
          <a:p>
            <a:pPr indent="0" algn="ctr"/>
            <a:r>
              <a:rPr lang="zh-CN" sz="1600" b="1">
                <a:solidFill>
                  <a:srgbClr val="000000"/>
                </a:solidFill>
                <a:ea typeface="宋体" panose="02010600030101010101" pitchFamily="2" charset="-122"/>
              </a:rPr>
              <a:t>表</a:t>
            </a:r>
            <a:r>
              <a:rPr lang="en-US" sz="1600" b="1">
                <a:solidFill>
                  <a:srgbClr val="000000"/>
                </a:solidFill>
                <a:latin typeface="Calibri" panose="020F0502020204030204" pitchFamily="34" charset="0"/>
                <a:ea typeface="宋体" panose="02010600030101010101" pitchFamily="2" charset="-122"/>
                <a:cs typeface="Times New Roman" panose="02020603050405020304" pitchFamily="18" charset="0"/>
              </a:rPr>
              <a:t>B</a:t>
            </a:r>
            <a:r>
              <a:rPr lang="zh-CN" sz="1600" b="1">
                <a:solidFill>
                  <a:srgbClr val="000000"/>
                </a:solidFill>
                <a:ea typeface="宋体" panose="02010600030101010101" pitchFamily="2" charset="-122"/>
              </a:rPr>
              <a:t>．</a:t>
            </a:r>
            <a:r>
              <a:rPr lang="en-US" sz="1600" b="1">
                <a:solidFill>
                  <a:srgbClr val="000000"/>
                </a:solidFill>
                <a:latin typeface="Calibri" panose="020F0502020204030204" pitchFamily="34" charset="0"/>
                <a:ea typeface="宋体" panose="02010600030101010101" pitchFamily="2" charset="-122"/>
              </a:rPr>
              <a:t>2</a:t>
            </a:r>
            <a:r>
              <a:rPr lang="en-US" sz="1600" b="1">
                <a:solidFill>
                  <a:srgbClr val="000000"/>
                </a:solidFill>
                <a:latin typeface="Calibri" panose="020F0502020204030204" pitchFamily="34" charset="0"/>
                <a:ea typeface="宋体" panose="02010600030101010101" pitchFamily="2" charset="-122"/>
                <a:cs typeface="Times New Roman" panose="02020603050405020304" pitchFamily="18" charset="0"/>
              </a:rPr>
              <a:t>	</a:t>
            </a:r>
            <a:r>
              <a:rPr lang="zh-CN" sz="1600" b="1">
                <a:solidFill>
                  <a:srgbClr val="000000"/>
                </a:solidFill>
                <a:ea typeface="宋体" panose="02010600030101010101" pitchFamily="2" charset="-122"/>
              </a:rPr>
              <a:t>安全作业票的持有及保存的内容</a:t>
            </a:r>
            <a:endParaRPr lang="zh-CN" altLang="en-US" sz="1600" b="1">
              <a:solidFill>
                <a:srgbClr val="000000"/>
              </a:solidFill>
              <a:ea typeface="宋体" panose="02010600030101010101" pitchFamily="2" charset="-122"/>
            </a:endParaRPr>
          </a:p>
        </p:txBody>
      </p:sp>
      <p:graphicFrame>
        <p:nvGraphicFramePr>
          <p:cNvPr id="4" name="表格 3"/>
          <p:cNvGraphicFramePr/>
          <p:nvPr>
            <p:custDataLst>
              <p:tags r:id="rId1"/>
            </p:custDataLst>
          </p:nvPr>
        </p:nvGraphicFramePr>
        <p:xfrm>
          <a:off x="1025525" y="2253615"/>
          <a:ext cx="9999345" cy="4418330"/>
        </p:xfrm>
        <a:graphic>
          <a:graphicData uri="http://schemas.openxmlformats.org/drawingml/2006/table">
            <a:tbl>
              <a:tblPr firstRow="1" bandRow="1">
                <a:tableStyleId>{5940675A-B579-460E-94D1-54222C63F5DA}</a:tableStyleId>
              </a:tblPr>
              <a:tblGrid>
                <a:gridCol w="1219200"/>
                <a:gridCol w="1962150"/>
                <a:gridCol w="1962785"/>
                <a:gridCol w="2913380"/>
                <a:gridCol w="1941830"/>
              </a:tblGrid>
              <a:tr h="260350">
                <a:tc rowSpan="2"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安全作业票种类</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tcPr>
                </a:tc>
                <a:tc gridSpan="3">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持有及保存情况</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42570">
                <a:tc vMerge="1" gridSpan="2">
                  <a:tcPr>
                    <a:lnL w="12700" cap="flat" cmpd="sng">
                      <a:solidFill>
                        <a:srgbClr val="080000"/>
                      </a:solidFill>
                      <a:prstDash val="solid"/>
                      <a:headEnd type="none" w="med" len="med"/>
                      <a:tailEnd type="none" w="med" len="med"/>
                    </a:lnL>
                    <a:lnB w="12700" cap="flat" cmpd="sng">
                      <a:solidFill>
                        <a:srgbClr val="080000"/>
                      </a:solidFill>
                      <a:prstDash val="solid"/>
                      <a:headEnd type="none" w="med" len="med"/>
                      <a:tailEnd type="none" w="med" len="med"/>
                    </a:lnB>
                  </a:tcPr>
                </a:tc>
                <a:tc vMerge="1" hMerge="1">
                  <a:tcPr>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第一联</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第二联</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第三联（存档）</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5775">
                <a:tc row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动火安全作业票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特级和一级动火</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9">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监护人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作业单位（动火人）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安全管理部门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574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二级动火</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作业单位（动火人）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所在基层单位</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5745">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受限空间安全作业票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作业单位负责人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所在基层单位</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6380">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盲板抽堵安全作业票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作业单位实施人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所在基层单位</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5745">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高处安全作业票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作业单位实施人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所在基层单位</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吊装安全作业票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吊装指挥</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所在基层单位</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28980">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临时用电安全作业票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作业单位（作业时）配送电执行人（作业结束后注销）</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电气管理部门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5775">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动土安全作业票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作业单位负责人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所在单位专业部门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5775">
                <a:tc gridSpan="2">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断路安全作业票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作业单位负责人</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所在单位专业部门</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5775">
                <a:tc gridSpan="5">
                  <a:txBody>
                    <a:bodyPr/>
                    <a:lstStyle/>
                    <a:p>
                      <a:pPr indent="0">
                        <a:buNone/>
                      </a:pPr>
                      <a:r>
                        <a:rPr lang="en-US" sz="1400" b="1">
                          <a:solidFill>
                            <a:srgbClr val="000000"/>
                          </a:solidFill>
                          <a:latin typeface="宋体" panose="02010600030101010101" pitchFamily="2" charset="-122"/>
                          <a:ea typeface="宋体" panose="02010600030101010101" pitchFamily="2" charset="-122"/>
                          <a:cs typeface="宋体" panose="02010600030101010101" pitchFamily="2" charset="-122"/>
                        </a:rPr>
                        <a:t>说明：安全作业票的持有及保存部门根据危险化学品企业具体管理机构设置情况参照执行。</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sp>
        <p:nvSpPr>
          <p:cNvPr id="5" name="文本框 4"/>
          <p:cNvSpPr txBox="1"/>
          <p:nvPr/>
        </p:nvSpPr>
        <p:spPr>
          <a:xfrm>
            <a:off x="1025525" y="4555172"/>
            <a:ext cx="5080000" cy="414020"/>
          </a:xfrm>
          <a:prstGeom prst="rect">
            <a:avLst/>
          </a:prstGeom>
          <a:noFill/>
          <a:ln w="9525">
            <a:noFill/>
          </a:ln>
        </p:spPr>
        <p:txBody>
          <a:bodyPr>
            <a:spAutoFit/>
          </a:bodyPr>
          <a:lstStyle/>
          <a:p>
            <a:pPr indent="0"/>
            <a:endParaRPr lang="en-US" sz="1050" b="0">
              <a:latin typeface="Calibri" panose="020F0502020204030204" pitchFamily="34" charset="0"/>
              <a:ea typeface="宋体" panose="02010600030101010101" pitchFamily="2" charset="-122"/>
              <a:cs typeface="Times New Roman" panose="02020603050405020304" pitchFamily="18" charset="0"/>
            </a:endParaRPr>
          </a:p>
          <a:p>
            <a:pPr indent="0"/>
            <a:r>
              <a:rPr lang="en-US" sz="1050" b="0">
                <a:latin typeface="Calibri" panose="020F0502020204030204" pitchFamily="34" charset="0"/>
                <a:ea typeface="宋体" panose="02010600030101010101" pitchFamily="2" charset="-122"/>
                <a:cs typeface="Times New Roman" panose="02020603050405020304" pitchFamily="18" charset="0"/>
              </a:rPr>
              <a:t> </a:t>
            </a:r>
            <a:endParaRPr lang="zh-CN" alt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2129569" y="1238235"/>
            <a:ext cx="8255000" cy="2152015"/>
          </a:xfrm>
          <a:prstGeom prst="rect">
            <a:avLst/>
          </a:prstGeom>
          <a:noFill/>
          <a:ln>
            <a:noFill/>
          </a:ln>
        </p:spPr>
        <p:txBody>
          <a:bodyPr wrap="none" lIns="121917" tIns="60958" rIns="121917" bIns="60958">
            <a:spAutoFit/>
          </a:bodyPr>
          <a:lstStyle/>
          <a:p>
            <a:r>
              <a:rPr lang="zh-CN" altLang="en-US" sz="6600" b="1" dirty="0">
                <a:gradFill>
                  <a:gsLst>
                    <a:gs pos="0">
                      <a:srgbClr val="FF0000"/>
                    </a:gs>
                    <a:gs pos="25000">
                      <a:srgbClr val="7030A0"/>
                    </a:gs>
                  </a:gsLst>
                  <a:lin ang="5400000" scaled="0"/>
                </a:gradFill>
                <a:effectLst>
                  <a:outerShdw blurRad="38100" dist="38100" dir="2700000" algn="tl">
                    <a:srgbClr val="000000">
                      <a:alpha val="43137"/>
                    </a:srgbClr>
                  </a:outerShdw>
                </a:effectLst>
                <a:latin typeface="华康雅宋体W9(P)" pitchFamily="18" charset="-122"/>
                <a:ea typeface="华康雅宋体W9(P)" pitchFamily="18" charset="-122"/>
              </a:rPr>
              <a:t>生命至高无上</a:t>
            </a:r>
            <a:endParaRPr lang="en-US" altLang="zh-CN" sz="6600" b="1" dirty="0">
              <a:gradFill>
                <a:gsLst>
                  <a:gs pos="0">
                    <a:srgbClr val="FF0000"/>
                  </a:gs>
                  <a:gs pos="25000">
                    <a:srgbClr val="7030A0"/>
                  </a:gs>
                </a:gsLst>
                <a:lin ang="5400000" scaled="0"/>
              </a:gradFill>
              <a:effectLst>
                <a:outerShdw blurRad="38100" dist="38100" dir="2700000" algn="tl">
                  <a:srgbClr val="000000">
                    <a:alpha val="43137"/>
                  </a:srgbClr>
                </a:outerShdw>
              </a:effectLst>
              <a:latin typeface="华康雅宋体W9(P)" pitchFamily="18" charset="-122"/>
              <a:ea typeface="华康雅宋体W9(P)" pitchFamily="18" charset="-122"/>
            </a:endParaRPr>
          </a:p>
          <a:p>
            <a:r>
              <a:rPr lang="zh-CN" altLang="en-US" sz="6600" b="1" dirty="0">
                <a:gradFill>
                  <a:gsLst>
                    <a:gs pos="0">
                      <a:srgbClr val="FF0000"/>
                    </a:gs>
                    <a:gs pos="25000">
                      <a:srgbClr val="7030A0"/>
                    </a:gs>
                  </a:gsLst>
                  <a:lin ang="5400000" scaled="0"/>
                </a:gradFill>
                <a:effectLst>
                  <a:outerShdw blurRad="38100" dist="38100" dir="2700000" algn="tl">
                    <a:srgbClr val="000000">
                      <a:alpha val="43137"/>
                    </a:srgbClr>
                  </a:outerShdw>
                </a:effectLst>
                <a:latin typeface="华康雅宋体W9(P)" pitchFamily="18" charset="-122"/>
                <a:ea typeface="华康雅宋体W9(P)" pitchFamily="18" charset="-122"/>
              </a:rPr>
              <a:t>       安全责任为天</a:t>
            </a:r>
            <a:endParaRPr lang="zh-CN" altLang="en-US" sz="6600" b="1" dirty="0">
              <a:gradFill>
                <a:gsLst>
                  <a:gs pos="0">
                    <a:srgbClr val="FF0000"/>
                  </a:gs>
                  <a:gs pos="25000">
                    <a:srgbClr val="7030A0"/>
                  </a:gs>
                </a:gsLst>
                <a:lin ang="5400000" scaled="0"/>
              </a:gradFill>
              <a:effectLst>
                <a:outerShdw blurRad="38100" dist="38100" dir="2700000" algn="tl">
                  <a:srgbClr val="000000">
                    <a:alpha val="43137"/>
                  </a:srgbClr>
                </a:outerShdw>
              </a:effectLst>
              <a:latin typeface="华康雅宋体W9(P)" pitchFamily="18" charset="-122"/>
              <a:ea typeface="华康雅宋体W9(P)" pitchFamily="18" charset="-122"/>
            </a:endParaRPr>
          </a:p>
        </p:txBody>
      </p:sp>
      <p:sp>
        <p:nvSpPr>
          <p:cNvPr id="23" name="矩形 22"/>
          <p:cNvSpPr/>
          <p:nvPr/>
        </p:nvSpPr>
        <p:spPr>
          <a:xfrm>
            <a:off x="5436314" y="4000505"/>
            <a:ext cx="3395345" cy="782320"/>
          </a:xfrm>
          <a:prstGeom prst="rect">
            <a:avLst/>
          </a:prstGeom>
        </p:spPr>
        <p:txBody>
          <a:bodyPr wrap="none" lIns="121917" tIns="60958" rIns="121917" bIns="60958">
            <a:spAutoFit/>
          </a:bodyPr>
          <a:lstStyle/>
          <a:p>
            <a:pPr algn="ctr"/>
            <a:r>
              <a:rPr lang="zh-CN" altLang="en-US" sz="4300" b="1" kern="0" spc="667" dirty="0">
                <a:solidFill>
                  <a:srgbClr val="FA783A"/>
                </a:solidFill>
                <a:effectLst>
                  <a:outerShdw blurRad="38100" dist="38100" dir="2700000" algn="tl">
                    <a:srgbClr val="000000">
                      <a:alpha val="43137"/>
                    </a:srgbClr>
                  </a:outerShdw>
                  <a:reflection blurRad="6350" stA="50000" endA="300" endPos="50000" dist="29997" dir="5400000" sy="-100000" algn="bl" rotWithShape="0"/>
                </a:effectLst>
                <a:latin typeface="Arial" panose="020B0604020202020204" pitchFamily="34" charset="0"/>
                <a:ea typeface="微软雅黑" panose="020B0503020204020204" pitchFamily="34" charset="-122"/>
                <a:cs typeface="Arial" panose="020B0604020202020204" pitchFamily="34" charset="0"/>
              </a:rPr>
              <a:t>谢谢大家！</a:t>
            </a:r>
            <a:endParaRPr lang="zh-CN" altLang="en-US" sz="4300" b="1" kern="0" spc="667" dirty="0">
              <a:solidFill>
                <a:srgbClr val="FA783A"/>
              </a:solidFill>
              <a:effectLst>
                <a:outerShdw blurRad="38100" dist="38100" dir="2700000" algn="tl">
                  <a:srgbClr val="000000">
                    <a:alpha val="43137"/>
                  </a:srgbClr>
                </a:outerShdw>
                <a:reflection blurRad="6350" stA="50000" endA="300" endPos="50000" dist="29997" dir="5400000" sy="-100000" algn="bl" rotWithShape="0"/>
              </a:effectLst>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descr="31"/>
          <p:cNvPicPr>
            <a:picLocks noChangeAspect="1"/>
          </p:cNvPicPr>
          <p:nvPr/>
        </p:nvPicPr>
        <p:blipFill>
          <a:blip r:embed="rId1"/>
          <a:stretch>
            <a:fillRect/>
          </a:stretch>
        </p:blipFill>
        <p:spPr>
          <a:xfrm>
            <a:off x="0" y="4000500"/>
            <a:ext cx="12192000" cy="2857500"/>
          </a:xfrm>
          <a:prstGeom prst="rect">
            <a:avLst/>
          </a:prstGeom>
        </p:spPr>
      </p:pic>
    </p:spTree>
  </p:cSld>
  <p:clrMapOvr>
    <a:masterClrMapping/>
  </p:clrMapOvr>
  <p:transition/>
</p:sld>
</file>

<file path=ppt/tags/tag1.xml><?xml version="1.0" encoding="utf-8"?>
<p:tagLst xmlns:p="http://schemas.openxmlformats.org/presentationml/2006/main">
  <p:tag name="TIMING" val="|3.1"/>
</p:tagLst>
</file>

<file path=ppt/tags/tag2.xml><?xml version="1.0" encoding="utf-8"?>
<p:tagLst xmlns:p="http://schemas.openxmlformats.org/presentationml/2006/main">
  <p:tag name="MH" val="20180605152002"/>
  <p:tag name="MH_LIBRARY" val="GRAPHIC"/>
  <p:tag name="MH_TYPE" val="SubTitle"/>
  <p:tag name="MH_ORDER" val="1"/>
</p:tagLst>
</file>

<file path=ppt/tags/tag3.xml><?xml version="1.0" encoding="utf-8"?>
<p:tagLst xmlns:p="http://schemas.openxmlformats.org/presentationml/2006/main">
  <p:tag name="MH" val="20180605152002"/>
  <p:tag name="MH_LIBRARY" val="GRAPHIC"/>
  <p:tag name="MH_TYPE" val="Other"/>
  <p:tag name="MH_ORDER" val="10"/>
</p:tagLst>
</file>

<file path=ppt/tags/tag4.xml><?xml version="1.0" encoding="utf-8"?>
<p:tagLst xmlns:p="http://schemas.openxmlformats.org/presentationml/2006/main">
  <p:tag name="MH" val="20180605152002"/>
  <p:tag name="MH_LIBRARY" val="GRAPHIC"/>
  <p:tag name="MH_TYPE" val="SubTitle"/>
  <p:tag name="MH_ORDER" val="1"/>
</p:tagLst>
</file>

<file path=ppt/tags/tag5.xml><?xml version="1.0" encoding="utf-8"?>
<p:tagLst xmlns:p="http://schemas.openxmlformats.org/presentationml/2006/main">
  <p:tag name="MH" val="20180605152002"/>
  <p:tag name="MH_LIBRARY" val="GRAPHIC"/>
  <p:tag name="MH_TYPE" val="Other"/>
  <p:tag name="MH_ORDER" val="10"/>
</p:tagLst>
</file>

<file path=ppt/tags/tag6.xml><?xml version="1.0" encoding="utf-8"?>
<p:tagLst xmlns:p="http://schemas.openxmlformats.org/presentationml/2006/main">
  <p:tag name="MH" val="20180605152002"/>
  <p:tag name="MH_LIBRARY" val="GRAPHIC"/>
  <p:tag name="MH_TYPE" val="SubTitle"/>
  <p:tag name="MH_ORDER" val="1"/>
</p:tagLst>
</file>

<file path=ppt/tags/tag7.xml><?xml version="1.0" encoding="utf-8"?>
<p:tagLst xmlns:p="http://schemas.openxmlformats.org/presentationml/2006/main">
  <p:tag name="MH" val="20180605152002"/>
  <p:tag name="MH_LIBRARY" val="GRAPHIC"/>
  <p:tag name="MH_TYPE" val="Other"/>
  <p:tag name="MH_ORDER" val="10"/>
</p:tagLst>
</file>

<file path=ppt/tags/tag8.xml><?xml version="1.0" encoding="utf-8"?>
<p:tagLst xmlns:p="http://schemas.openxmlformats.org/presentationml/2006/main">
  <p:tag name="MH" val="20180605152002"/>
  <p:tag name="MH_LIBRARY" val="GRAPHIC"/>
  <p:tag name="MH_TYPE" val="SubTitle"/>
  <p:tag name="MH_ORDER" val="1"/>
</p:tagLst>
</file>

<file path=ppt/tags/tag9.xml><?xml version="1.0" encoding="utf-8"?>
<p:tagLst xmlns:p="http://schemas.openxmlformats.org/presentationml/2006/main">
  <p:tag name="MH" val="20180605152002"/>
  <p:tag name="MH_LIBRARY" val="GRAPHIC"/>
  <p:tag name="MH_TYPE" val="Other"/>
  <p:tag name="MH_ORDER" val="10"/>
</p:tagLst>
</file>

<file path=ppt/tags/tag10.xml><?xml version="1.0" encoding="utf-8"?>
<p:tagLst xmlns:p="http://schemas.openxmlformats.org/presentationml/2006/main">
  <p:tag name="MH" val="20180605152002"/>
  <p:tag name="MH_LIBRARY" val="GRAPHIC"/>
  <p:tag name="MH_TYPE" val="SubTitle"/>
  <p:tag name="MH_ORDER" val="1"/>
</p:tagLst>
</file>

<file path=ppt/tags/tag11.xml><?xml version="1.0" encoding="utf-8"?>
<p:tagLst xmlns:p="http://schemas.openxmlformats.org/presentationml/2006/main">
  <p:tag name="MH" val="20180605152002"/>
  <p:tag name="MH_LIBRARY" val="GRAPHIC"/>
  <p:tag name="MH_TYPE" val="Other"/>
  <p:tag name="MH_ORDER" val="10"/>
</p:tagLst>
</file>

<file path=ppt/tags/tag12.xml><?xml version="1.0" encoding="utf-8"?>
<p:tagLst xmlns:p="http://schemas.openxmlformats.org/presentationml/2006/main">
  <p:tag name="MH" val="20180605152002"/>
  <p:tag name="MH_LIBRARY" val="GRAPHIC"/>
  <p:tag name="MH_TYPE" val="SubTitle"/>
  <p:tag name="MH_ORDER" val="1"/>
</p:tagLst>
</file>

<file path=ppt/tags/tag13.xml><?xml version="1.0" encoding="utf-8"?>
<p:tagLst xmlns:p="http://schemas.openxmlformats.org/presentationml/2006/main">
  <p:tag name="MH" val="20180605152002"/>
  <p:tag name="MH_LIBRARY" val="GRAPHIC"/>
  <p:tag name="MH_TYPE" val="Other"/>
  <p:tag name="MH_ORDER" val="10"/>
</p:tagLst>
</file>

<file path=ppt/tags/tag14.xml><?xml version="1.0" encoding="utf-8"?>
<p:tagLst xmlns:p="http://schemas.openxmlformats.org/presentationml/2006/main">
  <p:tag name="MH" val="20180605152002"/>
  <p:tag name="MH_LIBRARY" val="GRAPHIC"/>
  <p:tag name="MH_TYPE" val="SubTitle"/>
  <p:tag name="MH_ORDER" val="1"/>
</p:tagLst>
</file>

<file path=ppt/tags/tag15.xml><?xml version="1.0" encoding="utf-8"?>
<p:tagLst xmlns:p="http://schemas.openxmlformats.org/presentationml/2006/main">
  <p:tag name="MH" val="20180605152002"/>
  <p:tag name="MH_LIBRARY" val="GRAPHIC"/>
  <p:tag name="MH_TYPE" val="Other"/>
  <p:tag name="MH_ORDER" val="10"/>
</p:tagLst>
</file>

<file path=ppt/tags/tag16.xml><?xml version="1.0" encoding="utf-8"?>
<p:tagLst xmlns:p="http://schemas.openxmlformats.org/presentationml/2006/main">
  <p:tag name="MH" val="20180605152002"/>
  <p:tag name="MH_LIBRARY" val="GRAPHIC"/>
  <p:tag name="MH_TYPE" val="SubTitle"/>
  <p:tag name="MH_ORDER" val="1"/>
</p:tagLst>
</file>

<file path=ppt/tags/tag17.xml><?xml version="1.0" encoding="utf-8"?>
<p:tagLst xmlns:p="http://schemas.openxmlformats.org/presentationml/2006/main">
  <p:tag name="MH" val="20180605152002"/>
  <p:tag name="MH_LIBRARY" val="GRAPHIC"/>
  <p:tag name="MH_TYPE" val="Other"/>
  <p:tag name="MH_ORDER" val="10"/>
</p:tagLst>
</file>

<file path=ppt/tags/tag18.xml><?xml version="1.0" encoding="utf-8"?>
<p:tagLst xmlns:p="http://schemas.openxmlformats.org/presentationml/2006/main">
  <p:tag name="TIMING" val="|3.1"/>
</p:tagLst>
</file>

<file path=ppt/tags/tag19.xml><?xml version="1.0" encoding="utf-8"?>
<p:tagLst xmlns:p="http://schemas.openxmlformats.org/presentationml/2006/main">
  <p:tag name="PA" val="v3.0.1"/>
</p:tagLst>
</file>

<file path=ppt/tags/tag20.xml><?xml version="1.0" encoding="utf-8"?>
<p:tagLst xmlns:p="http://schemas.openxmlformats.org/presentationml/2006/main">
  <p:tag name="PA" val="v3.0.1"/>
</p:tagLst>
</file>

<file path=ppt/tags/tag21.xml><?xml version="1.0" encoding="utf-8"?>
<p:tagLst xmlns:p="http://schemas.openxmlformats.org/presentationml/2006/main">
  <p:tag name="MH" val="20180731155549"/>
  <p:tag name="MH_LIBRARY" val="GRAPHIC"/>
  <p:tag name="MH_TYPE" val="Other"/>
  <p:tag name="MH_ORDER" val="2"/>
</p:tagLst>
</file>

<file path=ppt/tags/tag22.xml><?xml version="1.0" encoding="utf-8"?>
<p:tagLst xmlns:p="http://schemas.openxmlformats.org/presentationml/2006/main">
  <p:tag name="MH" val="20180731155549"/>
  <p:tag name="MH_LIBRARY" val="GRAPHIC"/>
  <p:tag name="MH_TYPE" val="Other"/>
  <p:tag name="MH_ORDER" val="6"/>
</p:tagLst>
</file>

<file path=ppt/tags/tag23.xml><?xml version="1.0" encoding="utf-8"?>
<p:tagLst xmlns:p="http://schemas.openxmlformats.org/presentationml/2006/main">
  <p:tag name="MH" val="20180731155549"/>
  <p:tag name="MH_LIBRARY" val="GRAPHIC"/>
  <p:tag name="MH_TYPE" val="Other"/>
  <p:tag name="MH_ORDER" val="12"/>
</p:tagLst>
</file>

<file path=ppt/tags/tag24.xml><?xml version="1.0" encoding="utf-8"?>
<p:tagLst xmlns:p="http://schemas.openxmlformats.org/presentationml/2006/main">
  <p:tag name="MH" val="20180731155549"/>
  <p:tag name="MH_LIBRARY" val="GRAPHIC"/>
  <p:tag name="MH_TYPE" val="Other"/>
  <p:tag name="MH_ORDER" val="19"/>
</p:tagLst>
</file>

<file path=ppt/tags/tag25.xml><?xml version="1.0" encoding="utf-8"?>
<p:tagLst xmlns:p="http://schemas.openxmlformats.org/presentationml/2006/main">
  <p:tag name="MH" val="20180731155549"/>
  <p:tag name="MH_LIBRARY" val="GRAPHIC"/>
  <p:tag name="MH_TYPE" val="SubTitle"/>
  <p:tag name="MH_ORDER" val="4"/>
</p:tagLst>
</file>

<file path=ppt/tags/tag26.xml><?xml version="1.0" encoding="utf-8"?>
<p:tagLst xmlns:p="http://schemas.openxmlformats.org/presentationml/2006/main">
  <p:tag name="MH" val="20180731155549"/>
  <p:tag name="MH_LIBRARY" val="GRAPHIC"/>
  <p:tag name="MH_TYPE" val="Other"/>
  <p:tag name="MH_ORDER" val="2"/>
</p:tagLst>
</file>

<file path=ppt/tags/tag27.xml><?xml version="1.0" encoding="utf-8"?>
<p:tagLst xmlns:p="http://schemas.openxmlformats.org/presentationml/2006/main">
  <p:tag name="MH" val="20180731155549"/>
  <p:tag name="MH_LIBRARY" val="GRAPHIC"/>
  <p:tag name="MH_TYPE" val="Other"/>
  <p:tag name="MH_ORDER" val="6"/>
</p:tagLst>
</file>

<file path=ppt/tags/tag28.xml><?xml version="1.0" encoding="utf-8"?>
<p:tagLst xmlns:p="http://schemas.openxmlformats.org/presentationml/2006/main">
  <p:tag name="MH" val="20180731155549"/>
  <p:tag name="MH_LIBRARY" val="GRAPHIC"/>
  <p:tag name="MH_TYPE" val="Other"/>
  <p:tag name="MH_ORDER" val="12"/>
</p:tagLst>
</file>

<file path=ppt/tags/tag29.xml><?xml version="1.0" encoding="utf-8"?>
<p:tagLst xmlns:p="http://schemas.openxmlformats.org/presentationml/2006/main">
  <p:tag name="MH" val="20180731155549"/>
  <p:tag name="MH_LIBRARY" val="GRAPHIC"/>
  <p:tag name="MH_TYPE" val="Other"/>
  <p:tag name="MH_ORDER" val="19"/>
</p:tagLst>
</file>

<file path=ppt/tags/tag30.xml><?xml version="1.0" encoding="utf-8"?>
<p:tagLst xmlns:p="http://schemas.openxmlformats.org/presentationml/2006/main">
  <p:tag name="MH" val="20180731155549"/>
  <p:tag name="MH_LIBRARY" val="GRAPHIC"/>
  <p:tag name="MH_TYPE" val="SubTitle"/>
  <p:tag name="MH_ORDER" val="4"/>
</p:tagLst>
</file>

<file path=ppt/tags/tag31.xml><?xml version="1.0" encoding="utf-8"?>
<p:tagLst xmlns:p="http://schemas.openxmlformats.org/presentationml/2006/main">
  <p:tag name="MH" val="20180731155549"/>
  <p:tag name="MH_LIBRARY" val="GRAPHIC"/>
  <p:tag name="MH_TYPE" val="Other"/>
  <p:tag name="MH_ORDER" val="2"/>
</p:tagLst>
</file>

<file path=ppt/tags/tag32.xml><?xml version="1.0" encoding="utf-8"?>
<p:tagLst xmlns:p="http://schemas.openxmlformats.org/presentationml/2006/main">
  <p:tag name="MH" val="20180731155549"/>
  <p:tag name="MH_LIBRARY" val="GRAPHIC"/>
  <p:tag name="MH_TYPE" val="Other"/>
  <p:tag name="MH_ORDER" val="6"/>
</p:tagLst>
</file>

<file path=ppt/tags/tag33.xml><?xml version="1.0" encoding="utf-8"?>
<p:tagLst xmlns:p="http://schemas.openxmlformats.org/presentationml/2006/main">
  <p:tag name="MH" val="20180731155549"/>
  <p:tag name="MH_LIBRARY" val="GRAPHIC"/>
  <p:tag name="MH_TYPE" val="Other"/>
  <p:tag name="MH_ORDER" val="12"/>
</p:tagLst>
</file>

<file path=ppt/tags/tag34.xml><?xml version="1.0" encoding="utf-8"?>
<p:tagLst xmlns:p="http://schemas.openxmlformats.org/presentationml/2006/main">
  <p:tag name="MH" val="20180731155549"/>
  <p:tag name="MH_LIBRARY" val="GRAPHIC"/>
  <p:tag name="MH_TYPE" val="Other"/>
  <p:tag name="MH_ORDER" val="19"/>
</p:tagLst>
</file>

<file path=ppt/tags/tag35.xml><?xml version="1.0" encoding="utf-8"?>
<p:tagLst xmlns:p="http://schemas.openxmlformats.org/presentationml/2006/main">
  <p:tag name="MH" val="20180731155549"/>
  <p:tag name="MH_LIBRARY" val="GRAPHIC"/>
  <p:tag name="MH_TYPE" val="SubTitle"/>
  <p:tag name="MH_ORDER" val="4"/>
</p:tagLst>
</file>

<file path=ppt/tags/tag36.xml><?xml version="1.0" encoding="utf-8"?>
<p:tagLst xmlns:p="http://schemas.openxmlformats.org/presentationml/2006/main">
  <p:tag name="PA" val="v3.0.1"/>
</p:tagLst>
</file>

<file path=ppt/tags/tag37.xml><?xml version="1.0" encoding="utf-8"?>
<p:tagLst xmlns:p="http://schemas.openxmlformats.org/presentationml/2006/main">
  <p:tag name="PA" val="v3.0.1"/>
</p:tagLst>
</file>

<file path=ppt/tags/tag38.xml><?xml version="1.0" encoding="utf-8"?>
<p:tagLst xmlns:p="http://schemas.openxmlformats.org/presentationml/2006/main">
  <p:tag name="PA" val="v3.0.1"/>
</p:tagLst>
</file>

<file path=ppt/tags/tag39.xml><?xml version="1.0" encoding="utf-8"?>
<p:tagLst xmlns:p="http://schemas.openxmlformats.org/presentationml/2006/main">
  <p:tag name="PA" val="v3.0.1"/>
</p:tagLst>
</file>

<file path=ppt/tags/tag40.xml><?xml version="1.0" encoding="utf-8"?>
<p:tagLst xmlns:p="http://schemas.openxmlformats.org/presentationml/2006/main">
  <p:tag name="PA" val="v3.0.1"/>
</p:tagLst>
</file>

<file path=ppt/tags/tag41.xml><?xml version="1.0" encoding="utf-8"?>
<p:tagLst xmlns:p="http://schemas.openxmlformats.org/presentationml/2006/main">
  <p:tag name="PA" val="v3.0.1"/>
</p:tagLst>
</file>

<file path=ppt/tags/tag42.xml><?xml version="1.0" encoding="utf-8"?>
<p:tagLst xmlns:p="http://schemas.openxmlformats.org/presentationml/2006/main">
  <p:tag name="PA" val="v3.0.1"/>
</p:tagLst>
</file>

<file path=ppt/tags/tag43.xml><?xml version="1.0" encoding="utf-8"?>
<p:tagLst xmlns:p="http://schemas.openxmlformats.org/presentationml/2006/main">
  <p:tag name="PA" val="v3.0.1"/>
</p:tagLst>
</file>

<file path=ppt/tags/tag44.xml><?xml version="1.0" encoding="utf-8"?>
<p:tagLst xmlns:p="http://schemas.openxmlformats.org/presentationml/2006/main">
  <p:tag name="PA" val="v3.0.1"/>
</p:tagLst>
</file>

<file path=ppt/tags/tag45.xml><?xml version="1.0" encoding="utf-8"?>
<p:tagLst xmlns:p="http://schemas.openxmlformats.org/presentationml/2006/main">
  <p:tag name="PA" val="v3.0.1"/>
</p:tagLst>
</file>

<file path=ppt/tags/tag46.xml><?xml version="1.0" encoding="utf-8"?>
<p:tagLst xmlns:p="http://schemas.openxmlformats.org/presentationml/2006/main">
  <p:tag name="KSO_WM_UNIT_PLACING_PICTURE_USER_VIEWPORT" val="{&quot;height&quot;:2607.499212598425,&quot;width&quot;:12927.420472440945}"/>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 name="KSO_WM_UNIT_PLACING_PICTURE_USER_VIEWPORT" val="{&quot;height&quot;:9188,&quot;width&quot;:10440}"/>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MH" val="20180629183131"/>
  <p:tag name="MH_LIBRARY" val="GRAPHIC"/>
  <p:tag name="MH_TYPE" val="SubTitle"/>
  <p:tag name="MH_ORDER" val="1"/>
</p:tagLst>
</file>

<file path=ppt/tags/tag63.xml><?xml version="1.0" encoding="utf-8"?>
<p:tagLst xmlns:p="http://schemas.openxmlformats.org/presentationml/2006/main">
  <p:tag name="MH" val="20180629183131"/>
  <p:tag name="MH_LIBRARY" val="GRAPHIC"/>
  <p:tag name="MH_TYPE" val="Other"/>
  <p:tag name="MH_ORDER" val="1"/>
</p:tagLst>
</file>

<file path=ppt/tags/tag64.xml><?xml version="1.0" encoding="utf-8"?>
<p:tagLst xmlns:p="http://schemas.openxmlformats.org/presentationml/2006/main">
  <p:tag name="MH" val="20180629183131"/>
  <p:tag name="MH_LIBRARY" val="GRAPHIC"/>
  <p:tag name="MH_TYPE" val="SubTitle"/>
  <p:tag name="MH_ORDER" val="2"/>
</p:tagLst>
</file>

<file path=ppt/tags/tag65.xml><?xml version="1.0" encoding="utf-8"?>
<p:tagLst xmlns:p="http://schemas.openxmlformats.org/presentationml/2006/main">
  <p:tag name="MH" val="20180629183131"/>
  <p:tag name="MH_LIBRARY" val="GRAPHIC"/>
  <p:tag name="MH_TYPE" val="Other"/>
  <p:tag name="MH_ORDER" val="2"/>
</p:tagLst>
</file>

<file path=ppt/tags/tag66.xml><?xml version="1.0" encoding="utf-8"?>
<p:tagLst xmlns:p="http://schemas.openxmlformats.org/presentationml/2006/main">
  <p:tag name="MH" val="20180629183131"/>
  <p:tag name="MH_LIBRARY" val="GRAPHIC"/>
  <p:tag name="MH_TYPE" val="SubTitle"/>
  <p:tag name="MH_ORDER" val="3"/>
</p:tagLst>
</file>

<file path=ppt/tags/tag67.xml><?xml version="1.0" encoding="utf-8"?>
<p:tagLst xmlns:p="http://schemas.openxmlformats.org/presentationml/2006/main">
  <p:tag name="MH" val="20180629183131"/>
  <p:tag name="MH_LIBRARY" val="GRAPHIC"/>
  <p:tag name="MH_TYPE" val="Other"/>
  <p:tag name="MH_ORDER" val="3"/>
</p:tagLst>
</file>

<file path=ppt/tags/tag68.xml><?xml version="1.0" encoding="utf-8"?>
<p:tagLst xmlns:p="http://schemas.openxmlformats.org/presentationml/2006/main">
  <p:tag name="MH" val="20180629183131"/>
  <p:tag name="MH_LIBRARY" val="GRAPHIC"/>
  <p:tag name="MH_TYPE" val="SubTitle"/>
  <p:tag name="MH_ORDER" val="4"/>
</p:tagLst>
</file>

<file path=ppt/tags/tag69.xml><?xml version="1.0" encoding="utf-8"?>
<p:tagLst xmlns:p="http://schemas.openxmlformats.org/presentationml/2006/main">
  <p:tag name="MH" val="20180629183131"/>
  <p:tag name="MH_LIBRARY" val="GRAPHIC"/>
  <p:tag name="MH_TYPE" val="Other"/>
  <p:tag name="MH_ORDER" val="4"/>
</p:tagLst>
</file>

<file path=ppt/tags/tag70.xml><?xml version="1.0" encoding="utf-8"?>
<p:tagLst xmlns:p="http://schemas.openxmlformats.org/presentationml/2006/main">
  <p:tag name="MH" val="20180629183131"/>
  <p:tag name="MH_LIBRARY" val="GRAPHIC"/>
  <p:tag name="MH_TYPE" val="SubTitle"/>
  <p:tag name="MH_ORDER" val="5"/>
</p:tagLst>
</file>

<file path=ppt/tags/tag71.xml><?xml version="1.0" encoding="utf-8"?>
<p:tagLst xmlns:p="http://schemas.openxmlformats.org/presentationml/2006/main">
  <p:tag name="MH" val="20180629183131"/>
  <p:tag name="MH_LIBRARY" val="GRAPHIC"/>
  <p:tag name="MH_TYPE" val="Other"/>
  <p:tag name="MH_ORDER" val="5"/>
</p:tagLst>
</file>

<file path=ppt/tags/tag72.xml><?xml version="1.0" encoding="utf-8"?>
<p:tagLst xmlns:p="http://schemas.openxmlformats.org/presentationml/2006/main">
  <p:tag name="PA" val="v3.0.1"/>
</p:tagLst>
</file>

<file path=ppt/tags/tag73.xml><?xml version="1.0" encoding="utf-8"?>
<p:tagLst xmlns:p="http://schemas.openxmlformats.org/presentationml/2006/main">
  <p:tag name="TIMING" val="|3.1"/>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UNIT_TABLE_BEAUTIFY" val="smartTable{0d8b197f-a313-4560-878a-53ee5a2b46e6}"/>
  <p:tag name="TABLE_ENDDRAG_ORIGIN_RECT" val="786*71"/>
  <p:tag name="TABLE_ENDDRAG_RECT" val="69*199*786*71"/>
</p:tagLst>
</file>

<file path=ppt/tags/tag86.xml><?xml version="1.0" encoding="utf-8"?>
<p:tagLst xmlns:p="http://schemas.openxmlformats.org/presentationml/2006/main">
  <p:tag name="KSO_WM_UNIT_TABLE_BEAUTIFY" val="smartTable{0d8b197f-a313-4560-878a-53ee5a2b46e6}"/>
  <p:tag name="TABLE_ENDDRAG_ORIGIN_RECT" val="842*142"/>
  <p:tag name="TABLE_ENDDRAG_RECT" val="34*278*842*142"/>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UNIT_TABLE_BEAUTIFY" val="smartTable{44b0a3e6-3d69-4d56-aabb-e9c75312839e}"/>
  <p:tag name="TABLE_ENDDRAG_ORIGIN_RECT" val="787*347"/>
  <p:tag name="TABLE_ENDDRAG_RECT" val="80*136*787*347"/>
</p:tagLst>
</file>

<file path=ppt/tags/tag109.xml><?xml version="1.0" encoding="utf-8"?>
<p:tagLst xmlns:p="http://schemas.openxmlformats.org/presentationml/2006/main">
  <p:tag name="COMMONDATA" val="eyJoZGlkIjoiNmIzNmI5MTgyNDY4NzZhNDVjMmFjMTg4MWM0MzM1ZGIifQ=="/>
  <p:tag name="KSO_WPP_MARK_KEY" val="cc0d31b6-6db5-4c93-8d84-1f97be1ee09a"/>
</p:tagLst>
</file>

<file path=ppt/theme/theme1.xml><?xml version="1.0" encoding="utf-8"?>
<a:theme xmlns:a="http://schemas.openxmlformats.org/drawingml/2006/main" name="1_Office 主题​​">
  <a:themeElements>
    <a:clrScheme name="QQ12">
      <a:dk1>
        <a:sysClr val="windowText" lastClr="000000"/>
      </a:dk1>
      <a:lt1>
        <a:sysClr val="window" lastClr="FFFFFF"/>
      </a:lt1>
      <a:dk2>
        <a:srgbClr val="000000"/>
      </a:dk2>
      <a:lt2>
        <a:srgbClr val="F8F8F8"/>
      </a:lt2>
      <a:accent1>
        <a:srgbClr val="C00000"/>
      </a:accent1>
      <a:accent2>
        <a:srgbClr val="262626"/>
      </a:accent2>
      <a:accent3>
        <a:srgbClr val="3F3F3F"/>
      </a:accent3>
      <a:accent4>
        <a:srgbClr val="595959"/>
      </a:accent4>
      <a:accent5>
        <a:srgbClr val="7F7F7F"/>
      </a:accent5>
      <a:accent6>
        <a:srgbClr val="7F7F7F"/>
      </a:accent6>
      <a:hlink>
        <a:srgbClr val="A5A5A5"/>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顶峰">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rtlCol="0">
        <a:spAutoFit/>
      </a:bodyPr>
      <a:lstStyle>
        <a:defPPr>
          <a:defRPr lang="zh-CN" altLang="en-US"/>
        </a:defPPr>
      </a:lstStyle>
      <a:style>
        <a:lnRef idx="2">
          <a:schemeClr val="accent1"/>
        </a:lnRef>
        <a:fillRef idx="1">
          <a:schemeClr val="lt1"/>
        </a:fillRef>
        <a:effectRef idx="0">
          <a:schemeClr val="accent1"/>
        </a:effectRef>
        <a:fontRef idx="minor">
          <a:schemeClr val="dk1"/>
        </a:fontRef>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16797</Words>
  <Application>WPS 演示</Application>
  <PresentationFormat>宽屏</PresentationFormat>
  <Paragraphs>957</Paragraphs>
  <Slides>171</Slides>
  <Notes>19</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171</vt:i4>
      </vt:variant>
    </vt:vector>
  </HeadingPairs>
  <TitlesOfParts>
    <vt:vector size="201" baseType="lpstr">
      <vt:lpstr>Arial</vt:lpstr>
      <vt:lpstr>宋体</vt:lpstr>
      <vt:lpstr>Wingdings</vt:lpstr>
      <vt:lpstr>微软雅黑</vt:lpstr>
      <vt:lpstr>Tahoma</vt:lpstr>
      <vt:lpstr>Arial Unicode MS</vt:lpstr>
      <vt:lpstr>Broadway</vt:lpstr>
      <vt:lpstr>Calibri</vt:lpstr>
      <vt:lpstr>汉仪程行简</vt:lpstr>
      <vt:lpstr>黑体</vt:lpstr>
      <vt:lpstr>CKanHKS-Xbold</vt:lpstr>
      <vt:lpstr>Yu Gothic</vt:lpstr>
      <vt:lpstr>Aharoni</vt:lpstr>
      <vt:lpstr>Yu Gothic UI Semibold</vt:lpstr>
      <vt:lpstr>Arial Unicode MS</vt:lpstr>
      <vt:lpstr>Times New Roman</vt:lpstr>
      <vt:lpstr>PMingLiU</vt:lpstr>
      <vt:lpstr>PMingLiU-ExtB</vt:lpstr>
      <vt:lpstr>仿宋_GB2312</vt:lpstr>
      <vt:lpstr>仿宋</vt:lpstr>
      <vt:lpstr>楷体</vt:lpstr>
      <vt:lpstr>Brush Script Std</vt:lpstr>
      <vt:lpstr>Mongolian Baiti</vt:lpstr>
      <vt:lpstr>楷体_GB2312</vt:lpstr>
      <vt:lpstr>新宋体</vt:lpstr>
      <vt:lpstr>Lucida Sans Unicode</vt:lpstr>
      <vt:lpstr>华康雅宋体W9(P)</vt:lpstr>
      <vt:lpstr>PMingLiU</vt:lpstr>
      <vt:lpstr>Segoe Print</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薛慧博</dc:creator>
  <cp:lastModifiedBy>天马行空</cp:lastModifiedBy>
  <cp:revision>1793</cp:revision>
  <dcterms:created xsi:type="dcterms:W3CDTF">2017-01-30T05:12:00Z</dcterms:created>
  <dcterms:modified xsi:type="dcterms:W3CDTF">2023-04-06T02:41:43Z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B32DE9E3272149B3B07466D46716277E</vt:lpwstr>
  </property>
</Properties>
</file>